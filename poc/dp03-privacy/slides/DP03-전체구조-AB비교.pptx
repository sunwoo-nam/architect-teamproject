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11640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DP03 게이트웨이 구조 비교 — A안 모놀리식 vs B안 연합형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11640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모듈은 좌·우 같은 위치(회색)에 고정 · 차이는 가운데 ‘정규화 위치’(주황)에 집중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094476" y="841248"/>
            <a:ext cx="0" cy="5486400"/>
          </a:xfrm>
          <a:prstGeom prst="line">
            <a:avLst/>
          </a:prstGeom>
          <a:noFill/>
          <a:ln w="12700">
            <a:solidFill>
              <a:srgbClr val="D0D5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41248"/>
            <a:ext cx="182880" cy="18288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7589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A안 — Monolithic Gateway (단일 게이트웨이)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4023360" cy="3310128"/>
          </a:xfrm>
          <a:prstGeom prst="roundRect">
            <a:avLst>
              <a:gd name="adj" fmla="val 1381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392B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47472" y="1591056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온디바이스 신뢰경계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26464" y="1682496"/>
            <a:ext cx="1243584" cy="2596896"/>
          </a:xfrm>
          <a:prstGeom prst="roundRect">
            <a:avLst>
              <a:gd name="adj" fmla="val 3676"/>
            </a:avLst>
          </a:prstGeom>
          <a:solidFill>
            <a:srgbClr val="FFF6E9"/>
          </a:solidFill>
          <a:ln w="12700">
            <a:solidFill>
              <a:srgbClr val="E08A1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426464" y="42976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 지점: 정규화 위치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11430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3A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" y="1143000"/>
            <a:ext cx="96012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173736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1737360"/>
            <a:ext cx="96012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 감지)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269748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20040" y="2697480"/>
            <a:ext cx="96012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(가전 상태)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576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3657600"/>
            <a:ext cx="96012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(실행/조회)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472184" y="1737360"/>
            <a:ext cx="1143000" cy="2468880"/>
          </a:xfrm>
          <a:prstGeom prst="roundRect">
            <a:avLst>
              <a:gd name="adj" fmla="val 4800"/>
            </a:avLst>
          </a:prstGeom>
          <a:solidFill>
            <a:srgbClr val="FFE0B2"/>
          </a:solidFill>
          <a:ln w="15875">
            <a:solidFill>
              <a:srgbClr val="E08A1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472184" y="1737360"/>
            <a:ext cx="1143000" cy="246888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중앙 정규화기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분류 · 권한 · 어휘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단일 게이트웨이 ]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26080" y="173736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1737360"/>
            <a:ext cx="128016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빌더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(Outcome/요청)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926080" y="251460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926080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Agent (협상 두뇌)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ufun · 협상엔진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926080" y="3456432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926080" y="3456432"/>
            <a:ext cx="128016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(계획 작성)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926080" y="4224528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26080" y="4224528"/>
            <a:ext cx="128016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금고 (Vault)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425696" y="251460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ADDF3"/>
          </a:solidFill>
          <a:ln w="15875">
            <a:solidFill>
              <a:srgbClr val="9B6FB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425696" y="2514600"/>
            <a:ext cx="12801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 PPA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(외부)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425696" y="3438144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ADDF3"/>
          </a:solidFill>
          <a:ln w="15875">
            <a:solidFill>
              <a:srgbClr val="9B6FB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25696" y="3438144"/>
            <a:ext cx="12801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(외부)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91640" y="548640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EADDF3"/>
          </a:solidFill>
          <a:ln w="15875">
            <a:solidFill>
              <a:srgbClr val="9B6FB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691640" y="5486400"/>
            <a:ext cx="1463040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서비스 API (외부)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0100" y="1508760"/>
            <a:ext cx="0" cy="228600"/>
          </a:xfrm>
          <a:prstGeom prst="line">
            <a:avLst/>
          </a:prstGeom>
          <a:noFill/>
          <a:ln w="13970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280160" y="2011680"/>
            <a:ext cx="18288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1280160" y="2971800"/>
            <a:ext cx="18288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1280160" y="3931920"/>
            <a:ext cx="18288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 flipV="1">
            <a:off x="2615184" y="2011680"/>
            <a:ext cx="310896" cy="777240"/>
          </a:xfrm>
          <a:prstGeom prst="line">
            <a:avLst/>
          </a:prstGeom>
          <a:noFill/>
          <a:ln w="17780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566160" y="2286000"/>
            <a:ext cx="0" cy="22860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566160" y="3227832"/>
            <a:ext cx="0" cy="22860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 flipV="1">
            <a:off x="4206240" y="2798064"/>
            <a:ext cx="219456" cy="3657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triangle"/>
            <a:tailEnd type="triangle"/>
          </a:ln>
        </p:spPr>
      </p:sp>
      <p:sp>
        <p:nvSpPr>
          <p:cNvPr id="43" name="Shape 41"/>
          <p:cNvSpPr/>
          <p:nvPr/>
        </p:nvSpPr>
        <p:spPr>
          <a:xfrm flipV="1">
            <a:off x="4206240" y="3721608"/>
            <a:ext cx="219456" cy="9144"/>
          </a:xfrm>
          <a:prstGeom prst="line">
            <a:avLst/>
          </a:prstGeom>
          <a:noFill/>
          <a:ln w="15875">
            <a:solidFill>
              <a:srgbClr val="8A929C"/>
            </a:solidFill>
            <a:prstDash val="dash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 flipH="1" flipV="1">
            <a:off x="1280160" y="4069080"/>
            <a:ext cx="1645920" cy="429768"/>
          </a:xfrm>
          <a:prstGeom prst="line">
            <a:avLst/>
          </a:prstGeom>
          <a:noFill/>
          <a:ln w="13970">
            <a:solidFill>
              <a:srgbClr val="8A929C"/>
            </a:solidFill>
            <a:prstDash val="dash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914400" y="4206240"/>
            <a:ext cx="1005840" cy="1280160"/>
          </a:xfrm>
          <a:prstGeom prst="line">
            <a:avLst/>
          </a:prstGeom>
          <a:noFill/>
          <a:ln w="13970">
            <a:solidFill>
              <a:srgbClr val="8A929C"/>
            </a:solidFill>
            <a:prstDash val="dash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320040" y="6053328"/>
            <a:ext cx="5349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검증 지점 · 감사/교차일관성 용이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약점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PII 체류 구간 존재 · God Object 위험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473952" y="841248"/>
            <a:ext cx="182880" cy="182880"/>
          </a:xfrm>
          <a:prstGeom prst="ellipse">
            <a:avLst/>
          </a:prstGeom>
          <a:solidFill>
            <a:srgbClr val="E08A1E"/>
          </a:solidFill>
          <a:ln w="12700">
            <a:solidFill>
              <a:srgbClr val="E08A1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29984" y="758952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B안 — Federated Adapters (연합형 어댑터)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382512" y="1572768"/>
            <a:ext cx="4023360" cy="3310128"/>
          </a:xfrm>
          <a:prstGeom prst="roundRect">
            <a:avLst>
              <a:gd name="adj" fmla="val 1381"/>
            </a:avLst>
          </a:prstGeom>
          <a:solidFill>
            <a:srgbClr val="FFFFFF">
              <a:alpha val="0"/>
            </a:srgbClr>
          </a:solidFill>
          <a:ln w="15875">
            <a:solidFill>
              <a:srgbClr val="C0392B"/>
            </a:solidFill>
            <a:prstDash val="dash"/>
          </a:ln>
        </p:spPr>
      </p:sp>
      <p:sp>
        <p:nvSpPr>
          <p:cNvPr id="50" name="Text 48"/>
          <p:cNvSpPr/>
          <p:nvPr/>
        </p:nvSpPr>
        <p:spPr>
          <a:xfrm>
            <a:off x="6455664" y="1591056"/>
            <a:ext cx="17373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온디바이스 신뢰경계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534656" y="1682496"/>
            <a:ext cx="1243584" cy="2596896"/>
          </a:xfrm>
          <a:prstGeom prst="roundRect">
            <a:avLst>
              <a:gd name="adj" fmla="val 3676"/>
            </a:avLst>
          </a:prstGeom>
          <a:solidFill>
            <a:srgbClr val="FFF6E9"/>
          </a:solidFill>
          <a:ln w="12700">
            <a:solidFill>
              <a:srgbClr val="E08A1E"/>
            </a:solidFill>
            <a:prstDash val="dash"/>
          </a:ln>
        </p:spPr>
      </p:sp>
      <p:sp>
        <p:nvSpPr>
          <p:cNvPr id="52" name="Text 50"/>
          <p:cNvSpPr/>
          <p:nvPr/>
        </p:nvSpPr>
        <p:spPr>
          <a:xfrm>
            <a:off x="7534656" y="4297680"/>
            <a:ext cx="1243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 지점: 정규화 위치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428232" y="1143000"/>
            <a:ext cx="96012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5875">
            <a:solidFill>
              <a:srgbClr val="9AA3AD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6428232" y="1143000"/>
            <a:ext cx="960120" cy="36576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사용자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428232" y="173736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6428232" y="1737360"/>
            <a:ext cx="96012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(Intent 감지)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428232" y="269748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428232" y="2697480"/>
            <a:ext cx="96012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(가전 상태)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428232" y="3657600"/>
            <a:ext cx="96012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6428232" y="3657600"/>
            <a:ext cx="96012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(실행/조회)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580376" y="173736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FFE0B2"/>
          </a:solidFill>
          <a:ln w="15875">
            <a:solidFill>
              <a:srgbClr val="E08A1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7580376" y="1737360"/>
            <a:ext cx="114300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어댑터 1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(IDS 정규화)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580376" y="269748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FFE0B2"/>
          </a:solidFill>
          <a:ln w="15875">
            <a:solidFill>
              <a:srgbClr val="E08A1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64" name="Text 62"/>
          <p:cNvSpPr/>
          <p:nvPr/>
        </p:nvSpPr>
        <p:spPr>
          <a:xfrm>
            <a:off x="7580376" y="2697480"/>
            <a:ext cx="114300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어댑터 2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(DPA 정규화)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7580376" y="3657600"/>
            <a:ext cx="1143000" cy="548640"/>
          </a:xfrm>
          <a:prstGeom prst="roundRect">
            <a:avLst>
              <a:gd name="adj" fmla="val 10000"/>
            </a:avLst>
          </a:prstGeom>
          <a:solidFill>
            <a:srgbClr val="FFE0B2"/>
          </a:solidFill>
          <a:ln w="15875">
            <a:solidFill>
              <a:srgbClr val="E08A1E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7580376" y="3657600"/>
            <a:ext cx="114300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어댑터 3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5A3D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 정규화)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9034272" y="1737360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68" name="Text 66"/>
          <p:cNvSpPr/>
          <p:nvPr/>
        </p:nvSpPr>
        <p:spPr>
          <a:xfrm>
            <a:off x="9034272" y="1737360"/>
            <a:ext cx="128016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 빌더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(Outcome/요청)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9034272" y="2514600"/>
            <a:ext cx="1280160" cy="713232"/>
          </a:xfrm>
          <a:prstGeom prst="roundRect">
            <a:avLst>
              <a:gd name="adj" fmla="val 7692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9034272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Agent (협상 두뇌)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ufun · 협상엔진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9034272" y="3456432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9034272" y="3456432"/>
            <a:ext cx="128016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(계획 작성)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034272" y="4224528"/>
            <a:ext cx="1280160" cy="548640"/>
          </a:xfrm>
          <a:prstGeom prst="roundRect">
            <a:avLst>
              <a:gd name="adj" fmla="val 10000"/>
            </a:avLst>
          </a:prstGeom>
          <a:solidFill>
            <a:srgbClr val="ECEEF1"/>
          </a:solidFill>
          <a:ln w="15875">
            <a:solidFill>
              <a:srgbClr val="AEB6B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9034272" y="4224528"/>
            <a:ext cx="1280160" cy="54864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2C3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공유 Vault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10533888" y="2514600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ADDF3"/>
          </a:solidFill>
          <a:ln w="15875">
            <a:solidFill>
              <a:srgbClr val="9B6FB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10533888" y="2514600"/>
            <a:ext cx="12801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상대 PPA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(외부)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10533888" y="3438144"/>
            <a:ext cx="1280160" cy="566928"/>
          </a:xfrm>
          <a:prstGeom prst="roundRect">
            <a:avLst>
              <a:gd name="adj" fmla="val 9677"/>
            </a:avLst>
          </a:prstGeom>
          <a:solidFill>
            <a:srgbClr val="EADDF3"/>
          </a:solidFill>
          <a:ln w="15875">
            <a:solidFill>
              <a:srgbClr val="9B6FB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10533888" y="3438144"/>
            <a:ext cx="1280160" cy="56692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LLM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(외부)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7799832" y="5486400"/>
            <a:ext cx="1463040" cy="438912"/>
          </a:xfrm>
          <a:prstGeom prst="roundRect">
            <a:avLst>
              <a:gd name="adj" fmla="val 12500"/>
            </a:avLst>
          </a:prstGeom>
          <a:solidFill>
            <a:srgbClr val="EADDF3"/>
          </a:solidFill>
          <a:ln w="15875">
            <a:solidFill>
              <a:srgbClr val="9B6FB0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10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7799832" y="5486400"/>
            <a:ext cx="1463040" cy="43891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b="1" dirty="0">
                <a:solidFill>
                  <a:srgbClr val="3B2E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외부 서비스 API (외부)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908292" y="1508760"/>
            <a:ext cx="0" cy="228600"/>
          </a:xfrm>
          <a:prstGeom prst="line">
            <a:avLst/>
          </a:prstGeom>
          <a:noFill/>
          <a:ln w="13970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7388352" y="2011680"/>
            <a:ext cx="18288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7388352" y="2971800"/>
            <a:ext cx="18288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84" name="Shape 82"/>
          <p:cNvSpPr/>
          <p:nvPr/>
        </p:nvSpPr>
        <p:spPr>
          <a:xfrm>
            <a:off x="7388352" y="3931920"/>
            <a:ext cx="18288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headEnd type="none"/>
            <a:tailEnd type="triangle"/>
          </a:ln>
        </p:spPr>
      </p:sp>
      <p:sp>
        <p:nvSpPr>
          <p:cNvPr id="85" name="Shape 83"/>
          <p:cNvSpPr/>
          <p:nvPr/>
        </p:nvSpPr>
        <p:spPr>
          <a:xfrm>
            <a:off x="8723376" y="2011680"/>
            <a:ext cx="310896" cy="0"/>
          </a:xfrm>
          <a:prstGeom prst="line">
            <a:avLst/>
          </a:prstGeom>
          <a:noFill/>
          <a:ln w="16510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86" name="Shape 84"/>
          <p:cNvSpPr/>
          <p:nvPr/>
        </p:nvSpPr>
        <p:spPr>
          <a:xfrm flipV="1">
            <a:off x="8723376" y="2103120"/>
            <a:ext cx="310896" cy="868680"/>
          </a:xfrm>
          <a:prstGeom prst="line">
            <a:avLst/>
          </a:prstGeom>
          <a:noFill/>
          <a:ln w="16510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87" name="Shape 85"/>
          <p:cNvSpPr/>
          <p:nvPr/>
        </p:nvSpPr>
        <p:spPr>
          <a:xfrm flipV="1">
            <a:off x="8723376" y="2194560"/>
            <a:ext cx="310896" cy="1737360"/>
          </a:xfrm>
          <a:prstGeom prst="line">
            <a:avLst/>
          </a:prstGeom>
          <a:noFill/>
          <a:ln w="16510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88" name="Shape 86"/>
          <p:cNvSpPr/>
          <p:nvPr/>
        </p:nvSpPr>
        <p:spPr>
          <a:xfrm>
            <a:off x="9674352" y="2286000"/>
            <a:ext cx="0" cy="22860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89" name="Shape 87"/>
          <p:cNvSpPr/>
          <p:nvPr/>
        </p:nvSpPr>
        <p:spPr>
          <a:xfrm>
            <a:off x="9674352" y="3227832"/>
            <a:ext cx="0" cy="228600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none"/>
            <a:tailEnd type="triangle"/>
          </a:ln>
        </p:spPr>
      </p:sp>
      <p:sp>
        <p:nvSpPr>
          <p:cNvPr id="90" name="Shape 88"/>
          <p:cNvSpPr/>
          <p:nvPr/>
        </p:nvSpPr>
        <p:spPr>
          <a:xfrm flipV="1">
            <a:off x="10314432" y="2798064"/>
            <a:ext cx="219456" cy="36576"/>
          </a:xfrm>
          <a:prstGeom prst="line">
            <a:avLst/>
          </a:prstGeom>
          <a:noFill/>
          <a:ln w="15875">
            <a:solidFill>
              <a:srgbClr val="8A929C"/>
            </a:solidFill>
            <a:prstDash val="solid"/>
            <a:headEnd type="triangle"/>
            <a:tailEnd type="triangle"/>
          </a:ln>
        </p:spPr>
      </p:sp>
      <p:sp>
        <p:nvSpPr>
          <p:cNvPr id="91" name="Shape 89"/>
          <p:cNvSpPr/>
          <p:nvPr/>
        </p:nvSpPr>
        <p:spPr>
          <a:xfrm flipV="1">
            <a:off x="10314432" y="3721608"/>
            <a:ext cx="219456" cy="9144"/>
          </a:xfrm>
          <a:prstGeom prst="line">
            <a:avLst/>
          </a:prstGeom>
          <a:noFill/>
          <a:ln w="15875">
            <a:solidFill>
              <a:srgbClr val="8A929C"/>
            </a:solidFill>
            <a:prstDash val="dash"/>
            <a:headEnd type="none"/>
            <a:tailEnd type="triangle"/>
          </a:ln>
        </p:spPr>
      </p:sp>
      <p:sp>
        <p:nvSpPr>
          <p:cNvPr id="92" name="Shape 90"/>
          <p:cNvSpPr/>
          <p:nvPr/>
        </p:nvSpPr>
        <p:spPr>
          <a:xfrm flipH="1" flipV="1">
            <a:off x="7388352" y="4069080"/>
            <a:ext cx="1645920" cy="429768"/>
          </a:xfrm>
          <a:prstGeom prst="line">
            <a:avLst/>
          </a:prstGeom>
          <a:noFill/>
          <a:ln w="13970">
            <a:solidFill>
              <a:srgbClr val="8A929C"/>
            </a:solidFill>
            <a:prstDash val="dash"/>
            <a:headEnd type="none"/>
            <a:tailEnd type="triangle"/>
          </a:ln>
        </p:spPr>
      </p:sp>
      <p:sp>
        <p:nvSpPr>
          <p:cNvPr id="93" name="Shape 91"/>
          <p:cNvSpPr/>
          <p:nvPr/>
        </p:nvSpPr>
        <p:spPr>
          <a:xfrm>
            <a:off x="7022592" y="4206240"/>
            <a:ext cx="1005840" cy="1280160"/>
          </a:xfrm>
          <a:prstGeom prst="line">
            <a:avLst/>
          </a:prstGeom>
          <a:noFill/>
          <a:ln w="13970">
            <a:solidFill>
              <a:srgbClr val="8A929C"/>
            </a:solidFill>
            <a:prstDash val="dash"/>
            <a:headEnd type="none"/>
            <a:tailEnd type="triangle"/>
          </a:ln>
        </p:spPr>
      </p:sp>
      <p:sp>
        <p:nvSpPr>
          <p:cNvPr id="94" name="Text 92"/>
          <p:cNvSpPr/>
          <p:nvPr/>
        </p:nvSpPr>
        <p:spPr>
          <a:xfrm>
            <a:off x="6428232" y="6053328"/>
            <a:ext cx="534924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강점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발생 즉시 안전형 변환 · 독립적 확장 용이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약점  </a:t>
            </a:r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조율 복잡 · SDK 버전 파편화 리스크</a:t>
            </a:r>
            <a:endParaRPr lang="en-US" sz="1100" dirty="0"/>
          </a:p>
        </p:txBody>
      </p:sp>
      <p:sp>
        <p:nvSpPr>
          <p:cNvPr id="95" name="Shape 93"/>
          <p:cNvSpPr/>
          <p:nvPr/>
        </p:nvSpPr>
        <p:spPr>
          <a:xfrm>
            <a:off x="411480" y="6665976"/>
            <a:ext cx="274320" cy="0"/>
          </a:xfrm>
          <a:prstGeom prst="line">
            <a:avLst/>
          </a:prstGeom>
          <a:noFill/>
          <a:ln w="28575">
            <a:solidFill>
              <a:srgbClr val="8A929C"/>
            </a:solidFill>
            <a:prstDash val="solid"/>
            <a:tailEnd type="triangle"/>
          </a:ln>
        </p:spPr>
      </p:sp>
      <p:sp>
        <p:nvSpPr>
          <p:cNvPr id="96" name="Text 94"/>
          <p:cNvSpPr/>
          <p:nvPr/>
        </p:nvSpPr>
        <p:spPr>
          <a:xfrm>
            <a:off x="722376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흐름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1874520" y="6665976"/>
            <a:ext cx="27432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  <a:tailEnd type="triangle"/>
          </a:ln>
        </p:spPr>
      </p:sp>
      <p:sp>
        <p:nvSpPr>
          <p:cNvPr id="98" name="Text 96"/>
          <p:cNvSpPr/>
          <p:nvPr/>
        </p:nvSpPr>
        <p:spPr>
          <a:xfrm>
            <a:off x="2185416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PII 이동 (A)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3931920" y="6665976"/>
            <a:ext cx="274320" cy="0"/>
          </a:xfrm>
          <a:prstGeom prst="line">
            <a:avLst/>
          </a:prstGeom>
          <a:noFill/>
          <a:ln w="28575">
            <a:solidFill>
              <a:srgbClr val="2E7D32"/>
            </a:solidFill>
            <a:prstDash val="solid"/>
            <a:tailEnd type="triangle"/>
          </a:ln>
        </p:spPr>
      </p:sp>
      <p:sp>
        <p:nvSpPr>
          <p:cNvPr id="100" name="Text 98"/>
          <p:cNvSpPr/>
          <p:nvPr/>
        </p:nvSpPr>
        <p:spPr>
          <a:xfrm>
            <a:off x="4242816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즉시 안전형 (B)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5989320" y="6665976"/>
            <a:ext cx="274320" cy="0"/>
          </a:xfrm>
          <a:prstGeom prst="line">
            <a:avLst/>
          </a:prstGeom>
          <a:noFill/>
          <a:ln w="28575">
            <a:solidFill>
              <a:srgbClr val="8A929C"/>
            </a:solidFill>
            <a:prstDash val="dash"/>
            <a:tailEnd type="triangle"/>
          </a:ln>
        </p:spPr>
      </p:sp>
      <p:sp>
        <p:nvSpPr>
          <p:cNvPr id="102" name="Text 100"/>
          <p:cNvSpPr/>
          <p:nvPr/>
        </p:nvSpPr>
        <p:spPr>
          <a:xfrm>
            <a:off x="6300216" y="65836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점선: PII 재주입/실행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635240" y="65836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박스 색: 회색=공통 · 주황=차이(정규화) · 보라=신뢰경계 밖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DP03 게이트웨이 구조 비교</dc:title>
  <dc:subject>PptxGenJS Presentation</dc:subject>
  <dc:creator>architect-teamproject</dc:creator>
  <cp:lastModifiedBy>architect-teamproject</cp:lastModifiedBy>
  <cp:revision>1</cp:revision>
  <dcterms:created xsi:type="dcterms:W3CDTF">2026-06-26T23:14:06Z</dcterms:created>
  <dcterms:modified xsi:type="dcterms:W3CDTF">2026-06-26T23:14:06Z</dcterms:modified>
</cp:coreProperties>
</file>