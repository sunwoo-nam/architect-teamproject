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협상 메시지 구조 설계 방안 (배경)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525512" y="274320"/>
            <a:ext cx="960120" cy="310896"/>
          </a:xfrm>
          <a:prstGeom prst="chevron">
            <a:avLst/>
          </a:prstGeom>
          <a:solidFill>
            <a:srgbClr val="9AA0A6"/>
          </a:solidFill>
          <a:ln w="6350">
            <a:solidFill>
              <a:srgbClr val="9AA0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 소개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75904" y="274320"/>
            <a:ext cx="960120" cy="310896"/>
          </a:xfrm>
          <a:prstGeom prst="chevron">
            <a:avLst/>
          </a:prstGeom>
          <a:solidFill>
            <a:srgbClr val="9AA0A6"/>
          </a:solidFill>
          <a:ln w="6350">
            <a:solidFill>
              <a:srgbClr val="9AA0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분석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9226296" y="274320"/>
            <a:ext cx="960120" cy="310896"/>
          </a:xfrm>
          <a:prstGeom prst="chevron">
            <a:avLst/>
          </a:prstGeom>
          <a:solidFill>
            <a:srgbClr val="2E9BD6"/>
          </a:solidFill>
          <a:ln w="6350">
            <a:solidFill>
              <a:srgbClr val="2E9B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076688" y="274320"/>
            <a:ext cx="960120" cy="310896"/>
          </a:xfrm>
          <a:prstGeom prst="chevron">
            <a:avLst/>
          </a:prstGeom>
          <a:solidFill>
            <a:srgbClr val="9AA0A6"/>
          </a:solidFill>
          <a:ln w="6350">
            <a:solidFill>
              <a:srgbClr val="9AA0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구현·검증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274320"/>
            <a:ext cx="960120" cy="310896"/>
          </a:xfrm>
          <a:prstGeom prst="chevron">
            <a:avLst/>
          </a:prstGeom>
          <a:solidFill>
            <a:srgbClr val="9AA0A6"/>
          </a:solidFill>
          <a:ln w="6350">
            <a:solidFill>
              <a:srgbClr val="9AA0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114300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53328" y="914400"/>
            <a:ext cx="0" cy="4937760"/>
          </a:xfrm>
          <a:prstGeom prst="line">
            <a:avLst/>
          </a:prstGeom>
          <a:noFill/>
          <a:ln w="12700">
            <a:solidFill>
              <a:srgbClr val="E2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9144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협상하려면 개인정보를 담은 정보 교환이 불가피하다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1371600"/>
            <a:ext cx="5257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사용자를 대신한 협상(일정·장소·예약 등)은 사용자의 선호·제약·상황이 반영돼야 성립한다. 협상 메시지는 태생적으로 개인정보에 맞닿아 있다.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2240280"/>
            <a:ext cx="2286000" cy="960120"/>
          </a:xfrm>
          <a:prstGeom prst="roundRect">
            <a:avLst>
              <a:gd name="adj" fmla="val 2857"/>
            </a:avLst>
          </a:prstGeom>
          <a:solidFill>
            <a:srgbClr val="EAF2FB"/>
          </a:solidFill>
          <a:ln w="12700">
            <a:solidFill>
              <a:srgbClr val="6C8E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204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기기 내 원본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204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토요일 14–15시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2045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강남 ○○의원 예약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971800" y="2715768"/>
            <a:ext cx="548640" cy="0"/>
          </a:xfrm>
          <a:prstGeom prst="line">
            <a:avLst/>
          </a:prstGeom>
          <a:noFill/>
          <a:ln w="19050">
            <a:solidFill>
              <a:srgbClr val="6C8EBF"/>
            </a:solidFill>
            <a:prstDash val="solid"/>
            <a:headEnd type="none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3566160" y="2240280"/>
            <a:ext cx="2194560" cy="960120"/>
          </a:xfrm>
          <a:prstGeom prst="roundRect">
            <a:avLst>
              <a:gd name="adj" fmla="val 2857"/>
            </a:avLst>
          </a:prstGeom>
          <a:solidFill>
            <a:srgbClr val="E7F4EA"/>
          </a:solidFill>
          <a:ln w="12700">
            <a:solidFill>
              <a:srgbClr val="82B366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협상에 필요한 형태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토요일 저녁 가능</a:t>
            </a:r>
            <a:endParaRPr lang="en-US" sz="8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강남 인근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640080" y="3291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50" i="1" dirty="0">
                <a:solidFill>
                  <a:srgbClr val="7A7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PII·정확 정보는 빼고, 협상에 필요한 형태로만 노출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548640" y="434340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메시지에 무엇을·얼마나 싣느냐가 개인정보 노출 수준을 결정한다.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263640" y="91440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협상은 NegMAS로 — 고정된 선택지 위에서 offer만 주고받는다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09360" y="1371600"/>
            <a:ext cx="5440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참여자는 고정된 선택지 공간(OutcomeSpace) 위에서 하나의 안(offer)을 제안하고, 상대는 수락 또는 거절만 한다.</a:t>
            </a:r>
            <a:endParaRPr lang="en-US" sz="950" dirty="0"/>
          </a:p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선호·유보값(효용함수)은 단말 내부에만 두고 상대에게 보내지 않는다.</a:t>
            </a:r>
            <a:endParaRPr lang="en-US" sz="950" dirty="0"/>
          </a:p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밖으로 나가는 건 제안·수락·거절 신호뿐 — 사유·원문·PII는 없다.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309360" y="2743200"/>
            <a:ext cx="5394960" cy="1051560"/>
          </a:xfrm>
          <a:prstGeom prst="roundRect">
            <a:avLst>
              <a:gd name="adj" fmla="val 2609"/>
            </a:avLst>
          </a:prstGeom>
          <a:solidFill>
            <a:srgbClr val="F7F7F2"/>
          </a:solidFill>
          <a:ln w="12700">
            <a:solidFill>
              <a:srgbClr val="B4B2A9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900" b="1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OutcomeSpace 예</a:t>
            </a:r>
            <a:endParaRPr lang="en-US" sz="9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시간대 {평일저녁 · 토요일점심 · 일요일저녁}</a:t>
            </a:r>
            <a:endParaRPr lang="en-US" sz="90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장소 {집근처 · 중간 · 회사근처}    예산 {낮음 · 중간 · 높음}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309360" y="3913632"/>
            <a:ext cx="5440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offer 예:  (토요일점심, 중간, 중간) 제안  →  상대 수락 또는 거절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6263640" y="4343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구조화된 offer만으로 협상은 성립한다. 남는 질문은 여기에 무엇을 더 실을지다.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144768"/>
            <a:ext cx="11247120" cy="502920"/>
          </a:xfrm>
          <a:prstGeom prst="rect">
            <a:avLst/>
          </a:prstGeom>
          <a:solidFill>
            <a:srgbClr val="FBE9E7"/>
          </a:solidFill>
          <a:ln w="12700">
            <a:solidFill>
              <a:srgbClr val="E6A19B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9A2A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Challenge:  개인정보 노출은 최소로 지키면서, 협상 수렴은 충분히 빠르게 하는 A2A 메시지 구조가 필요하다.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A2A 협상 메시지 구조 설계 방안 (기본 아키텍처)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525512" y="274320"/>
            <a:ext cx="960120" cy="310896"/>
          </a:xfrm>
          <a:prstGeom prst="chevron">
            <a:avLst/>
          </a:prstGeom>
          <a:solidFill>
            <a:srgbClr val="9AA0A6"/>
          </a:solidFill>
          <a:ln w="6350">
            <a:solidFill>
              <a:srgbClr val="9AA0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과제 소개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375904" y="274320"/>
            <a:ext cx="960120" cy="310896"/>
          </a:xfrm>
          <a:prstGeom prst="chevron">
            <a:avLst/>
          </a:prstGeom>
          <a:solidFill>
            <a:srgbClr val="9AA0A6"/>
          </a:solidFill>
          <a:ln w="6350">
            <a:solidFill>
              <a:srgbClr val="9AA0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요구사항 분석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9226296" y="274320"/>
            <a:ext cx="960120" cy="310896"/>
          </a:xfrm>
          <a:prstGeom prst="chevron">
            <a:avLst/>
          </a:prstGeom>
          <a:solidFill>
            <a:srgbClr val="2E9BD6"/>
          </a:solidFill>
          <a:ln w="6350">
            <a:solidFill>
              <a:srgbClr val="2E9BD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10076688" y="274320"/>
            <a:ext cx="960120" cy="310896"/>
          </a:xfrm>
          <a:prstGeom prst="chevron">
            <a:avLst/>
          </a:prstGeom>
          <a:solidFill>
            <a:srgbClr val="9AA0A6"/>
          </a:solidFill>
          <a:ln w="6350">
            <a:solidFill>
              <a:srgbClr val="9AA0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구현·검증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0927080" y="274320"/>
            <a:ext cx="960120" cy="310896"/>
          </a:xfrm>
          <a:prstGeom prst="chevron">
            <a:avLst/>
          </a:prstGeom>
          <a:solidFill>
            <a:srgbClr val="9AA0A6"/>
          </a:solidFill>
          <a:ln w="6350">
            <a:solidFill>
              <a:srgbClr val="9AA0A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65760" y="749808"/>
            <a:ext cx="1143000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868680"/>
            <a:ext cx="11521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협상에 필요한 정보는 단말 내부에서 안전 형태로 가공된 뒤, NegMAS로 전달된다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98280" y="1645920"/>
            <a:ext cx="2834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원본 정보(의도·툴 결과·기기 상태)는 단말 내부에서 정규화되어 안전 사실값이 된다 — 사유·PII·원문은 배제.</a:t>
            </a:r>
            <a:endParaRPr lang="en-US" sz="850" dirty="0"/>
          </a:p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 사실값으로 세션 OutcomeSpace를 구성하고 협상 시작 시 고정(freeze).</a:t>
            </a:r>
            <a:endParaRPr lang="en-US" sz="850" dirty="0"/>
          </a:p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효용함수(ufun)는 단말 내부 보관·미전송. PII는 내부 금고에 두고 실행 시에만 복원.</a:t>
            </a:r>
            <a:endParaRPr lang="en-US" sz="850" dirty="0"/>
          </a:p>
          <a:p>
            <a:pPr algn="l" marL="342900" indent="-342900">
              <a:lnSpc>
                <a:spcPct val="105000"/>
              </a:lnSpc>
              <a:buSzPct val="100000"/>
              <a:buChar char="•"/>
            </a:pPr>
            <a:r>
              <a:rPr lang="en-US" sz="8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NegMAS는 고정된 OutcomeSpace 위에서 유효한 offer만 전송.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9098280" y="5074920"/>
            <a:ext cx="2834640" cy="960120"/>
          </a:xfrm>
          <a:prstGeom prst="roundRect">
            <a:avLst>
              <a:gd name="adj" fmla="val 2857"/>
            </a:avLst>
          </a:prstGeom>
          <a:solidFill>
            <a:srgbClr val="F1EFE8"/>
          </a:solidFill>
          <a:ln w="12700">
            <a:solidFill>
              <a:srgbClr val="B4B2A9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850" b="1" dirty="0">
                <a:solidFill>
                  <a:srgbClr val="4444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밖으로 나가는 데이터 예</a:t>
            </a:r>
            <a:endParaRPr lang="en-US" sz="8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SAOResponse(REJECT_OFFER,</a:t>
            </a:r>
            <a:endParaRPr lang="en-US" sz="850" dirty="0"/>
          </a:p>
          <a:p>
            <a:pPr algn="l" indent="0" marL="0">
              <a:lnSpc>
                <a:spcPct val="95000"/>
              </a:lnSpc>
              <a:buNone/>
            </a:pPr>
            <a:r>
              <a:rPr lang="en-US" sz="800" dirty="0">
                <a:solidFill>
                  <a:srgbClr val="5F5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(시간대, 장소, 예산))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710842" y="1554480"/>
            <a:ext cx="5371186" cy="4924044"/>
          </a:xfrm>
          <a:prstGeom prst="rect">
            <a:avLst/>
          </a:prstGeom>
          <a:solidFill>
            <a:srgbClr val="FFFFFF"/>
          </a:solidFill>
          <a:ln w="15875">
            <a:solidFill>
              <a:srgbClr val="B854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10842" y="1554480"/>
            <a:ext cx="5371186" cy="205740"/>
          </a:xfrm>
          <a:prstGeom prst="rect">
            <a:avLst/>
          </a:prstGeom>
          <a:solidFill>
            <a:srgbClr val="F8CECC"/>
          </a:solidFill>
          <a:ln w="12700">
            <a:solidFill>
              <a:srgbClr val="B85450"/>
            </a:solidFill>
            <a:prstDash val="solid"/>
          </a:ln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온디바이스 신뢰경계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978762" y="2896819"/>
            <a:ext cx="1611173" cy="3491179"/>
          </a:xfrm>
          <a:prstGeom prst="rect">
            <a:avLst/>
          </a:prstGeom>
          <a:solidFill>
            <a:srgbClr val="FFFFFF"/>
          </a:solidFill>
          <a:ln w="15875">
            <a:solidFill>
              <a:srgbClr val="82B3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78762" y="2896819"/>
            <a:ext cx="1611173" cy="205740"/>
          </a:xfrm>
          <a:prstGeom prst="rect">
            <a:avLst/>
          </a:prstGeom>
          <a:solidFill>
            <a:srgbClr val="D5E8D4"/>
          </a:solidFill>
          <a:ln w="12700">
            <a:solidFill>
              <a:srgbClr val="82B366"/>
            </a:solidFill>
            <a:prstDash val="solid"/>
          </a:ln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단일 프라이버시 게이트웨이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664354" y="2001622"/>
            <a:ext cx="2059229" cy="2059229"/>
          </a:xfrm>
          <a:prstGeom prst="rect">
            <a:avLst/>
          </a:prstGeom>
          <a:solidFill>
            <a:srgbClr val="FFFFFF"/>
          </a:solidFill>
          <a:ln w="15875">
            <a:solidFill>
              <a:srgbClr val="D79B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4354" y="2001622"/>
            <a:ext cx="2059229" cy="205740"/>
          </a:xfrm>
          <a:prstGeom prst="rect">
            <a:avLst/>
          </a:prstGeom>
          <a:solidFill>
            <a:srgbClr val="FFE6CC"/>
          </a:solidFill>
          <a:ln w="12700">
            <a:solidFill>
              <a:srgbClr val="D79B00"/>
            </a:solidFill>
            <a:prstDash val="solid"/>
          </a:ln>
        </p:spPr>
        <p:txBody>
          <a:bodyPr wrap="square" lIns="12700" tIns="12700" rIns="12700" bIns="127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 Agent (협상 두뇌)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978762" y="2001622"/>
            <a:ext cx="1253642" cy="536753"/>
          </a:xfrm>
          <a:prstGeom prst="roundRect">
            <a:avLst>
              <a:gd name="adj" fmla="val 5111"/>
            </a:avLst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(Intent 감지)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157984" y="3210458"/>
            <a:ext cx="1253642" cy="491947"/>
          </a:xfrm>
          <a:prstGeom prst="can">
            <a:avLst/>
          </a:prstGeom>
          <a:solidFill>
            <a:srgbClr val="E2F0D9"/>
          </a:solidFill>
          <a:ln w="12700">
            <a:solidFill>
              <a:srgbClr val="82B366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Registry</a:t>
            </a:r>
            <a:endParaRPr lang="en-US" sz="70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(승인 issue/value)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157984" y="3881628"/>
            <a:ext cx="1253642" cy="536753"/>
          </a:xfrm>
          <a:prstGeom prst="roundRect">
            <a:avLst>
              <a:gd name="adj" fmla="val 5111"/>
            </a:avLst>
          </a:prstGeom>
          <a:solidFill>
            <a:srgbClr val="CDEB8B"/>
          </a:solidFill>
          <a:ln w="12700">
            <a:solidFill>
              <a:srgbClr val="36393D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정규화기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(분류/권한/어휘)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2157984" y="4643323"/>
            <a:ext cx="1253642" cy="536753"/>
          </a:xfrm>
          <a:prstGeom prst="roundRect">
            <a:avLst>
              <a:gd name="adj" fmla="val 5111"/>
            </a:avLst>
          </a:prstGeom>
          <a:solidFill>
            <a:srgbClr val="CDEB8B"/>
          </a:solidFill>
          <a:ln w="12700">
            <a:solidFill>
              <a:srgbClr val="36393D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 빌더</a:t>
            </a:r>
            <a:endParaRPr lang="en-US" sz="7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6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(OutcomeSpace/요청)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247595" y="5448910"/>
            <a:ext cx="1074420" cy="581558"/>
          </a:xfrm>
          <a:prstGeom prst="can">
            <a:avLst/>
          </a:prstGeom>
          <a:solidFill>
            <a:srgbClr val="FFCC99"/>
          </a:solidFill>
          <a:ln w="12700">
            <a:solidFill>
              <a:srgbClr val="36393D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PII 금고 (Vault)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022799" y="2360066"/>
            <a:ext cx="1342339" cy="536753"/>
          </a:xfrm>
          <a:prstGeom prst="can">
            <a:avLst/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ufun (선호/유보값)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977994" y="3255264"/>
            <a:ext cx="1431950" cy="536753"/>
          </a:xfrm>
          <a:prstGeom prst="roundRect">
            <a:avLst>
              <a:gd name="adj" fmla="val 5111"/>
            </a:avLst>
          </a:prstGeom>
          <a:solidFill>
            <a:srgbClr val="FFF2CC"/>
          </a:solidFill>
          <a:ln w="12700">
            <a:solidFill>
              <a:srgbClr val="D6B656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협상 엔진 (NegMAS)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4664354" y="4329684"/>
            <a:ext cx="2059229" cy="536753"/>
          </a:xfrm>
          <a:prstGeom prst="roundRect">
            <a:avLst>
              <a:gd name="adj" fmla="val 5111"/>
            </a:avLst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Orchestrator (계획 작성)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664354" y="5404104"/>
            <a:ext cx="2059229" cy="536753"/>
          </a:xfrm>
          <a:prstGeom prst="roundRect">
            <a:avLst>
              <a:gd name="adj" fmla="val 5111"/>
            </a:avLst>
          </a:prstGeom>
          <a:solidFill>
            <a:srgbClr val="DAE8FC"/>
          </a:solidFill>
          <a:ln w="12700">
            <a:solidFill>
              <a:srgbClr val="6C8E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Sub-Agent (실행/조회)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57200" y="2001622"/>
            <a:ext cx="895198" cy="536753"/>
          </a:xfrm>
          <a:prstGeom prst="ellipse">
            <a:avLst/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7200" y="5404104"/>
            <a:ext cx="895198" cy="536753"/>
          </a:xfrm>
          <a:prstGeom prst="roundRect">
            <a:avLst>
              <a:gd name="adj" fmla="val 5111"/>
            </a:avLst>
          </a:prstGeom>
          <a:solidFill>
            <a:srgbClr val="F5F5F5"/>
          </a:solidFill>
          <a:ln w="12700">
            <a:solidFill>
              <a:srgbClr val="666666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DPA (가전)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7887614" y="3165653"/>
            <a:ext cx="1074420" cy="536753"/>
          </a:xfrm>
          <a:prstGeom prst="roundRect">
            <a:avLst>
              <a:gd name="adj" fmla="val 5111"/>
            </a:avLst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상대 PPA (외부)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7887614" y="4329684"/>
            <a:ext cx="1074420" cy="536753"/>
          </a:xfrm>
          <a:prstGeom prst="roundRect">
            <a:avLst>
              <a:gd name="adj" fmla="val 5111"/>
            </a:avLst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LLM (외부)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7887614" y="5404104"/>
            <a:ext cx="1074420" cy="626364"/>
          </a:xfrm>
          <a:prstGeom prst="can">
            <a:avLst/>
          </a:prstGeom>
          <a:solidFill>
            <a:srgbClr val="E1D5E7"/>
          </a:solidFill>
          <a:ln w="12700">
            <a:solidFill>
              <a:srgbClr val="9673A6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7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외부 서비스 API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352398" y="2270455"/>
            <a:ext cx="626364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2606040" y="2539289"/>
            <a:ext cx="178308" cy="1342339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1352398" y="5672023"/>
            <a:ext cx="805586" cy="-1521562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664354" y="5672023"/>
            <a:ext cx="-1252728" cy="-1521562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2784348" y="3703320"/>
            <a:ext cx="0" cy="178308"/>
          </a:xfrm>
          <a:prstGeom prst="line">
            <a:avLst/>
          </a:prstGeom>
          <a:noFill/>
          <a:ln w="12700">
            <a:solidFill>
              <a:srgbClr val="82B366"/>
            </a:solidFill>
            <a:prstDash val="dash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784348" y="3703320"/>
            <a:ext cx="0" cy="940003"/>
          </a:xfrm>
          <a:prstGeom prst="line">
            <a:avLst/>
          </a:prstGeom>
          <a:noFill/>
          <a:ln w="12700">
            <a:solidFill>
              <a:srgbClr val="82B366"/>
            </a:solidFill>
            <a:prstDash val="dash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2784348" y="4419295"/>
            <a:ext cx="0" cy="224028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784348" y="4419295"/>
            <a:ext cx="0" cy="1029614"/>
          </a:xfrm>
          <a:prstGeom prst="line">
            <a:avLst/>
          </a:prstGeom>
          <a:noFill/>
          <a:ln w="12700">
            <a:solidFill>
              <a:srgbClr val="888888"/>
            </a:solidFill>
            <a:prstDash val="dash"/>
            <a:headEnd type="none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3411626" y="4150462"/>
            <a:ext cx="1611173" cy="-1521562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411626" y="4911242"/>
            <a:ext cx="1566367" cy="-1387145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triangl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411626" y="4911242"/>
            <a:ext cx="1252728" cy="-312725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693969" y="2896819"/>
            <a:ext cx="0" cy="358445"/>
          </a:xfrm>
          <a:prstGeom prst="line">
            <a:avLst/>
          </a:prstGeom>
          <a:noFill/>
          <a:ln w="12700">
            <a:solidFill>
              <a:srgbClr val="D6B656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693969" y="4866437"/>
            <a:ext cx="0" cy="537667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276442" y="3792017"/>
            <a:ext cx="581558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  <a:tailEnd type="none"/>
          </a:ln>
        </p:spPr>
      </p:sp>
      <p:sp>
        <p:nvSpPr>
          <p:cNvPr id="46" name="Shape 44"/>
          <p:cNvSpPr/>
          <p:nvPr/>
        </p:nvSpPr>
        <p:spPr>
          <a:xfrm>
            <a:off x="6858000" y="3792017"/>
            <a:ext cx="0" cy="1880006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  <a:tailEnd type="none"/>
          </a:ln>
        </p:spPr>
      </p:sp>
      <p:sp>
        <p:nvSpPr>
          <p:cNvPr id="47" name="Shape 45"/>
          <p:cNvSpPr/>
          <p:nvPr/>
        </p:nvSpPr>
        <p:spPr>
          <a:xfrm>
            <a:off x="6858000" y="5672023"/>
            <a:ext cx="-134417" cy="0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none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3322015" y="5739689"/>
            <a:ext cx="1342339" cy="-67666"/>
          </a:xfrm>
          <a:prstGeom prst="line">
            <a:avLst/>
          </a:prstGeom>
          <a:noFill/>
          <a:ln w="12700">
            <a:solidFill>
              <a:srgbClr val="888888"/>
            </a:solidFill>
            <a:prstDash val="dash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409944" y="3524098"/>
            <a:ext cx="1477670" cy="-89611"/>
          </a:xfrm>
          <a:prstGeom prst="line">
            <a:avLst/>
          </a:prstGeom>
          <a:noFill/>
          <a:ln w="12700">
            <a:solidFill>
              <a:srgbClr val="555555"/>
            </a:solidFill>
            <a:prstDash val="solid"/>
            <a:headEnd type="triangle"/>
            <a:tailEnd type="triangle"/>
          </a:ln>
        </p:spPr>
      </p:sp>
      <p:sp>
        <p:nvSpPr>
          <p:cNvPr id="50" name="Text 48"/>
          <p:cNvSpPr/>
          <p:nvPr/>
        </p:nvSpPr>
        <p:spPr>
          <a:xfrm>
            <a:off x="6508699" y="3351276"/>
            <a:ext cx="12801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오퍼 (OutcomeSpace 유효 값)</a:t>
            </a:r>
            <a:endParaRPr lang="en-US" sz="650" dirty="0"/>
          </a:p>
        </p:txBody>
      </p:sp>
      <p:sp>
        <p:nvSpPr>
          <p:cNvPr id="51" name="Shape 49"/>
          <p:cNvSpPr/>
          <p:nvPr/>
        </p:nvSpPr>
        <p:spPr>
          <a:xfrm>
            <a:off x="6723583" y="4598518"/>
            <a:ext cx="1164031" cy="0"/>
          </a:xfrm>
          <a:prstGeom prst="line">
            <a:avLst/>
          </a:prstGeom>
          <a:noFill/>
          <a:ln w="12700">
            <a:solidFill>
              <a:srgbClr val="888888"/>
            </a:solidFill>
            <a:prstDash val="dash"/>
            <a:headEnd type="triangle"/>
            <a:tailEnd type="triangle"/>
          </a:ln>
        </p:spPr>
      </p:sp>
      <p:sp>
        <p:nvSpPr>
          <p:cNvPr id="52" name="Text 50"/>
          <p:cNvSpPr/>
          <p:nvPr/>
        </p:nvSpPr>
        <p:spPr>
          <a:xfrm>
            <a:off x="6665519" y="4470502"/>
            <a:ext cx="1280160" cy="256032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구조화 계획 요청</a:t>
            </a:r>
            <a:endParaRPr lang="en-US" sz="650" dirty="0"/>
          </a:p>
        </p:txBody>
      </p:sp>
      <p:sp>
        <p:nvSpPr>
          <p:cNvPr id="53" name="Shape 51"/>
          <p:cNvSpPr/>
          <p:nvPr/>
        </p:nvSpPr>
        <p:spPr>
          <a:xfrm>
            <a:off x="6723583" y="5672023"/>
            <a:ext cx="1164031" cy="44806"/>
          </a:xfrm>
          <a:prstGeom prst="line">
            <a:avLst/>
          </a:prstGeom>
          <a:noFill/>
          <a:ln w="12700">
            <a:solidFill>
              <a:srgbClr val="888888"/>
            </a:solidFill>
            <a:prstDash val="dash"/>
            <a:headEnd type="triangle"/>
            <a:tailEnd type="triangle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2026-07-04T12:44:32Z</dcterms:created>
  <dcterms:modified xsi:type="dcterms:W3CDTF">2026-07-04T12:44:32Z</dcterms:modified>
</cp:coreProperties>
</file>