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01854-891D-DDCE-FF1C-B5EB00B8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D5A4D6-EDED-D1C2-117F-009A21332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38362-D921-683D-1AB7-C8688D1E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134FB7-A37D-21CA-3AA9-4C5B2904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86224-105F-234C-2B60-BAF0558E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77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26C40-2BB5-0BD1-BBB7-4C321CC8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DC992B-523D-7824-95E6-F87E0BB47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09527-A9D9-1DC2-CA9B-95BD865D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150CA-01B8-4A7B-5E18-7453FCC3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F36F83-2EB4-F58B-111B-804EAB4A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47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60A7B-AB3B-A7C7-171B-BF4CC6F4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5A9BC-FB8F-5562-4DEE-9435157B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6C1BB4-C15B-56C6-A91D-14555A0D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FE5CB-E5E0-BC21-C45E-F05180C9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896E1-9913-5545-088D-FD4C5E6A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14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B68B-E98A-3A6C-8007-2B5C84D0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878D1-6408-D38F-E98C-3AE49D250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D0F5E2-5482-9CDD-1923-E24CB81C5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9D3F95-049D-1919-307C-340941C7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2873C3-1995-DA0B-B750-ED9497FE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50D88F-B922-3FD9-74BA-C00CA25B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50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09442-2644-CAAE-E104-AF11CB93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1D028D-F985-CBB8-AEA2-EF4FB9B43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87D48-758F-FEA8-B4F6-297E407E0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7A5265-A57F-E4A4-7819-1F4E9D556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3A2936-90A9-2EFC-A137-2C9D3771B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EEC736-F3C1-BA50-A36E-9C168B64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88432C-D20B-77FF-BDEC-ADDC9A58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B11248-204E-897A-5567-426652FF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85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E542C-F184-D01C-CBB6-72E4F557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AF0573-0819-FCE4-D780-813DA338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332859-8071-5779-F8CA-B521B159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C8A11C-9149-0B20-84B6-24CBA355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34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60D948-FAFA-0CFF-572B-5110670F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885C16-8D43-9B63-7BFC-AEA1091F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B79879-A313-5DB1-5D0C-D8823594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AC430-CC97-4763-CC44-187E4E72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55670D-CD32-5D60-36E2-BEDB69389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EB21E5-E16A-CB66-A3AB-656DDD6DE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DF7E64-69D7-5603-0F33-70301B4F2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F09963-DD75-D639-0379-EF4C1C50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1AF29A-A93A-E009-F754-7CAEF600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95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9B9DA-57A3-884C-BE39-CF945753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F6A84A-D8C0-9F5B-2864-F59BB2D5FE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DC34F9-3F21-8FE8-0E28-3120079C9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A82E5-CB97-C438-9AB0-D76CB6D9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BD3F1C-25C8-42F4-5790-E2BED3A4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4D4AE9-852D-731E-A056-4E727B77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1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70A3F-004B-6F4F-E857-B4A43E37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FBE253-F2F0-D339-E40D-37DF44C1B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69A669-ACAA-7C3F-4142-0CBC8479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E443C-ACD6-F089-A1A2-D9269482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134BE6-5B22-B229-CAA4-B79AF4D5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7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3B18F8-22FF-45E3-5F77-CBB356F53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A4C7CC-D523-88F1-133C-FFC1083BD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7C89B-4580-D908-F159-31209A377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0BCB3-A4FD-1CCC-36FD-34AD2E4C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44D4B2-6A33-C147-151D-36445462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76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FE902D-E014-DDD8-1B33-53B600DC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C208E4-2F8E-5A8C-47A2-98295ECD7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5DF097-B472-FA05-3B51-C9B2CD034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654D4-E3AF-4790-BB34-BB79F024956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2F62F-3F1D-007C-A82E-EA2F0B4BB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B0CB4-9FE9-F0D1-777C-A1637EB98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100EF-2B72-4551-A2E1-9315907372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43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30EA8F8-0AEA-1140-4D35-F2D7E9D2766B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DP03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자원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PoC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결과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모델 크기 ↔ 메모리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속도 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(CPU·Q4 </a:t>
            </a:r>
            <a:r>
              <a:rPr lang="ko-KR" altLang="en-US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예비</a:t>
            </a:r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BC569-D2D8-15B7-E14B-8F0E8B3C8461}"/>
              </a:ext>
            </a:extLst>
          </p:cNvPr>
          <p:cNvSpPr txBox="1"/>
          <p:nvPr/>
        </p:nvSpPr>
        <p:spPr>
          <a:xfrm>
            <a:off x="152400" y="558800"/>
            <a:ext cx="584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① 측정 데이터 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(4-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모델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1F3864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242C9A7-8347-DE3C-076B-35CC64A66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46526"/>
              </p:ext>
            </p:extLst>
          </p:nvPr>
        </p:nvGraphicFramePr>
        <p:xfrm>
          <a:off x="152400" y="762000"/>
          <a:ext cx="59182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748384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8300036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5344634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6818121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72705353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맑은 고딕" panose="020B0503020000020004" pitchFamily="50" charset="-127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peakRSS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tok/s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TTFT(warm)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swap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1434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Qwen2.5-0.5B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~0.5GB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50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~20ms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~0.9s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57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Qwen2.5-1.5B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~1.1GB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24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~41ms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~2.1s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4899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Gemma-2-2B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~1.9GB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14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~72ms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~3.9s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4336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Qwen2.5-7B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~4.3GB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~187ms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맑은 고딕" panose="020B0503020000020004" pitchFamily="50" charset="-127"/>
                        </a:rPr>
                        <a:t>~9.5s</a:t>
                      </a:r>
                      <a:endParaRPr lang="ko-KR" altLang="en-US" sz="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7954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881514-1AA5-5740-91DF-B30376B3B5C4}"/>
              </a:ext>
            </a:extLst>
          </p:cNvPr>
          <p:cNvSpPr txBox="1"/>
          <p:nvPr/>
        </p:nvSpPr>
        <p:spPr>
          <a:xfrm>
            <a:off x="152400" y="2362200"/>
            <a:ext cx="59182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환경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: llama.cpp(CPU)·Q4_K_M·n_ctx 2048·prompt 128/gen 32·</a:t>
            </a:r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합성 프롬프트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길이만 통제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)</a:t>
            </a:r>
            <a:endParaRPr lang="ko-KR" altLang="en-US" sz="750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4774E-2870-6D06-9345-5998EE23FABC}"/>
              </a:ext>
            </a:extLst>
          </p:cNvPr>
          <p:cNvSpPr txBox="1"/>
          <p:nvPr/>
        </p:nvSpPr>
        <p:spPr>
          <a:xfrm>
            <a:off x="152400" y="2667000"/>
            <a:ext cx="584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② 모델 크기 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티어 매핑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58B6746-F3C8-8361-B07B-025057D4BFB1}"/>
              </a:ext>
            </a:extLst>
          </p:cNvPr>
          <p:cNvSpPr/>
          <p:nvPr/>
        </p:nvSpPr>
        <p:spPr>
          <a:xfrm>
            <a:off x="152400" y="2895600"/>
            <a:ext cx="1828800" cy="7366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F73EC-F26A-F548-854C-41B20C7CCAA9}"/>
              </a:ext>
            </a:extLst>
          </p:cNvPr>
          <p:cNvSpPr txBox="1"/>
          <p:nvPr/>
        </p:nvSpPr>
        <p:spPr>
          <a:xfrm>
            <a:off x="152400" y="2933700"/>
            <a:ext cx="1828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툴 호출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3C36D-3CDA-CADE-5B93-954BED8D8B77}"/>
              </a:ext>
            </a:extLst>
          </p:cNvPr>
          <p:cNvSpPr txBox="1"/>
          <p:nvPr/>
        </p:nvSpPr>
        <p:spPr>
          <a:xfrm>
            <a:off x="152400" y="3098800"/>
            <a:ext cx="182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0.5B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99681-BBC1-9658-11B0-9F61E2C8C055}"/>
              </a:ext>
            </a:extLst>
          </p:cNvPr>
          <p:cNvSpPr txBox="1"/>
          <p:nvPr/>
        </p:nvSpPr>
        <p:spPr>
          <a:xfrm>
            <a:off x="152400" y="3429000"/>
            <a:ext cx="1828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750">
                <a:solidFill>
                  <a:srgbClr val="FFFFFF"/>
                </a:solidFill>
                <a:latin typeface="맑은 고딕" panose="020B0503020000020004" pitchFamily="50" charset="-127"/>
              </a:rPr>
              <a:t>~0.5GB·50tok/s</a:t>
            </a:r>
            <a:endParaRPr lang="ko-KR" altLang="en-US" sz="75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FEBFAA2-E885-5AD8-6386-6173B668A571}"/>
              </a:ext>
            </a:extLst>
          </p:cNvPr>
          <p:cNvSpPr/>
          <p:nvPr/>
        </p:nvSpPr>
        <p:spPr>
          <a:xfrm>
            <a:off x="2082800" y="2895600"/>
            <a:ext cx="1828800" cy="7366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9A3FF-4A62-8953-29CC-3EE0B73AC6C6}"/>
              </a:ext>
            </a:extLst>
          </p:cNvPr>
          <p:cNvSpPr txBox="1"/>
          <p:nvPr/>
        </p:nvSpPr>
        <p:spPr>
          <a:xfrm>
            <a:off x="2082800" y="2933700"/>
            <a:ext cx="1828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판정</a:t>
            </a:r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요약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01A14-49BE-C1B0-81E0-B642D495063B}"/>
              </a:ext>
            </a:extLst>
          </p:cNvPr>
          <p:cNvSpPr txBox="1"/>
          <p:nvPr/>
        </p:nvSpPr>
        <p:spPr>
          <a:xfrm>
            <a:off x="2082800" y="3098800"/>
            <a:ext cx="182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1.5B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3D051-DD62-A897-B37A-4F6441F8DD39}"/>
              </a:ext>
            </a:extLst>
          </p:cNvPr>
          <p:cNvSpPr txBox="1"/>
          <p:nvPr/>
        </p:nvSpPr>
        <p:spPr>
          <a:xfrm>
            <a:off x="2082800" y="3429000"/>
            <a:ext cx="1828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750">
                <a:solidFill>
                  <a:srgbClr val="FFFFFF"/>
                </a:solidFill>
                <a:latin typeface="맑은 고딕" panose="020B0503020000020004" pitchFamily="50" charset="-127"/>
              </a:rPr>
              <a:t>~1.1GB·24tok/s</a:t>
            </a:r>
            <a:endParaRPr lang="ko-KR" altLang="en-US" sz="75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B5F9A6-A4E7-5102-E88B-997D3C570216}"/>
              </a:ext>
            </a:extLst>
          </p:cNvPr>
          <p:cNvSpPr/>
          <p:nvPr/>
        </p:nvSpPr>
        <p:spPr>
          <a:xfrm>
            <a:off x="4013200" y="2895600"/>
            <a:ext cx="1828800" cy="7366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E77616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09C4FD-8DCB-9CCE-74A6-C2ED3350DB37}"/>
              </a:ext>
            </a:extLst>
          </p:cNvPr>
          <p:cNvSpPr txBox="1"/>
          <p:nvPr/>
        </p:nvSpPr>
        <p:spPr>
          <a:xfrm>
            <a:off x="4013200" y="2933700"/>
            <a:ext cx="1828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협상 </a:t>
            </a:r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</a:rPr>
              <a:t>상한</a:t>
            </a:r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0D1120-37B8-CA91-E6F2-09FB374B1872}"/>
              </a:ext>
            </a:extLst>
          </p:cNvPr>
          <p:cNvSpPr txBox="1"/>
          <p:nvPr/>
        </p:nvSpPr>
        <p:spPr>
          <a:xfrm>
            <a:off x="4013200" y="3098800"/>
            <a:ext cx="182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</a:rPr>
              <a:t>2B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686BA-1871-EED6-1766-285106CE93EA}"/>
              </a:ext>
            </a:extLst>
          </p:cNvPr>
          <p:cNvSpPr txBox="1"/>
          <p:nvPr/>
        </p:nvSpPr>
        <p:spPr>
          <a:xfrm>
            <a:off x="4013200" y="3429000"/>
            <a:ext cx="1828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750">
                <a:solidFill>
                  <a:srgbClr val="FFFFFF"/>
                </a:solidFill>
                <a:latin typeface="맑은 고딕" panose="020B0503020000020004" pitchFamily="50" charset="-127"/>
              </a:rPr>
              <a:t>~1.9GB·14tok/s</a:t>
            </a:r>
            <a:endParaRPr lang="ko-KR" altLang="en-US" sz="75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CF5E1-E56A-6BBA-DDBF-137666319F41}"/>
              </a:ext>
            </a:extLst>
          </p:cNvPr>
          <p:cNvSpPr txBox="1"/>
          <p:nvPr/>
        </p:nvSpPr>
        <p:spPr>
          <a:xfrm>
            <a:off x="152400" y="3683000"/>
            <a:ext cx="5918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※ 7B(4B+)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~4.3GB 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예산 초과 → 온디바이스 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MAF 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단독 적재 불가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ACC69D-A52B-013D-B724-C53F918B70C3}"/>
              </a:ext>
            </a:extLst>
          </p:cNvPr>
          <p:cNvSpPr txBox="1"/>
          <p:nvPr/>
        </p:nvSpPr>
        <p:spPr>
          <a:xfrm>
            <a:off x="152400" y="3911600"/>
            <a:ext cx="5918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⑤ 별점 기준 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— ★ 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개수의 의미 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수치 구간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근거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1F3864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C45E6F9-E572-073C-F0BF-69D04F43C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550622"/>
              </p:ext>
            </p:extLst>
          </p:nvPr>
        </p:nvGraphicFramePr>
        <p:xfrm>
          <a:off x="152400" y="4114800"/>
          <a:ext cx="591820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0401427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00741488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47277652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412363172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702108495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평가축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★★★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690876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M1 </a:t>
                      </a:r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피크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(GB)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≤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1.0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1.0–2.0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&gt;2.0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예산 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2GB </a:t>
                      </a:r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501958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M2 </a:t>
                      </a:r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평균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(GB)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≤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1.0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1.0–2.0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&gt;2.0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같은 예산 스케일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82635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전환지연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전환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&lt;1s(</a:t>
                      </a:r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어댑터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수초</a:t>
                      </a:r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(GB swap)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soft-realtime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45013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M4b </a:t>
                      </a:r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≥30tok/s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10–30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>
                          <a:latin typeface="맑은 고딕" panose="020B0503020000020004" pitchFamily="50" charset="-127"/>
                        </a:rPr>
                        <a:t>&lt;10</a:t>
                      </a:r>
                      <a:endParaRPr lang="ko-KR" altLang="en-US" sz="75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맑은 고딕" panose="020B0503020000020004" pitchFamily="50" charset="-127"/>
                        </a:rPr>
                        <a:t>유의미 가속선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20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8A6BAC3-01D8-5D06-8917-4D6669325A88}"/>
              </a:ext>
            </a:extLst>
          </p:cNvPr>
          <p:cNvSpPr txBox="1"/>
          <p:nvPr/>
        </p:nvSpPr>
        <p:spPr>
          <a:xfrm>
            <a:off x="152400" y="5715000"/>
            <a:ext cx="59182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※ M3 </a:t>
            </a:r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품질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·M5 </a:t>
            </a:r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복잡도 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= PoC</a:t>
            </a:r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로 기준 불가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50">
                <a:solidFill>
                  <a:srgbClr val="5F6E82"/>
                </a:solidFill>
                <a:latin typeface="맑은 고딕" panose="020B0503020000020004" pitchFamily="50" charset="-127"/>
              </a:rPr>
              <a:t>별도 정확도 </a:t>
            </a:r>
            <a:r>
              <a:rPr lang="en-US" altLang="ko-KR" sz="750">
                <a:solidFill>
                  <a:srgbClr val="5F6E82"/>
                </a:solidFill>
                <a:latin typeface="맑은 고딕" panose="020B0503020000020004" pitchFamily="50" charset="-127"/>
              </a:rPr>
              <a:t>PoC)</a:t>
            </a:r>
            <a:endParaRPr lang="ko-KR" altLang="en-US" sz="750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3BE888-7808-41C5-FCBB-4E381FE53083}"/>
              </a:ext>
            </a:extLst>
          </p:cNvPr>
          <p:cNvSpPr txBox="1"/>
          <p:nvPr/>
        </p:nvSpPr>
        <p:spPr>
          <a:xfrm>
            <a:off x="6172200" y="558800"/>
            <a:ext cx="5867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③ peakRSS (GB) — MAF 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예산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(~2GB) 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대비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635AA73-896E-7EEA-9D0A-90109B2B9EA3}"/>
              </a:ext>
            </a:extLst>
          </p:cNvPr>
          <p:cNvCxnSpPr/>
          <p:nvPr/>
        </p:nvCxnSpPr>
        <p:spPr>
          <a:xfrm>
            <a:off x="6350000" y="1955800"/>
            <a:ext cx="5486400" cy="0"/>
          </a:xfrm>
          <a:prstGeom prst="line">
            <a:avLst/>
          </a:prstGeom>
          <a:ln w="15875">
            <a:solidFill>
              <a:srgbClr val="E7761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7D7F44-9ABD-233D-CE78-91045D21A969}"/>
              </a:ext>
            </a:extLst>
          </p:cNvPr>
          <p:cNvSpPr txBox="1"/>
          <p:nvPr/>
        </p:nvSpPr>
        <p:spPr>
          <a:xfrm>
            <a:off x="6375400" y="1790700"/>
            <a:ext cx="152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700" b="1">
                <a:solidFill>
                  <a:srgbClr val="E77616"/>
                </a:solidFill>
                <a:latin typeface="맑은 고딕" panose="020B0503020000020004" pitchFamily="50" charset="-127"/>
              </a:rPr>
              <a:t>▼ 예산 </a:t>
            </a:r>
            <a:r>
              <a:rPr lang="en-US" altLang="ko-KR" sz="700" b="1">
                <a:solidFill>
                  <a:srgbClr val="E77616"/>
                </a:solidFill>
                <a:latin typeface="맑은 고딕" panose="020B0503020000020004" pitchFamily="50" charset="-127"/>
              </a:rPr>
              <a:t>~2GB</a:t>
            </a:r>
            <a:endParaRPr lang="ko-KR" altLang="en-US" sz="700" b="1">
              <a:solidFill>
                <a:srgbClr val="E776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A8580E3-D030-7CF8-0FDD-1D345F0BEEF7}"/>
              </a:ext>
            </a:extLst>
          </p:cNvPr>
          <p:cNvSpPr/>
          <p:nvPr/>
        </p:nvSpPr>
        <p:spPr>
          <a:xfrm>
            <a:off x="6680200" y="2489200"/>
            <a:ext cx="711200" cy="1778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26BD50-BC9E-B022-75DB-73318CC4D3FE}"/>
              </a:ext>
            </a:extLst>
          </p:cNvPr>
          <p:cNvSpPr txBox="1"/>
          <p:nvPr/>
        </p:nvSpPr>
        <p:spPr>
          <a:xfrm>
            <a:off x="6451600" y="22860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0.5GB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9FBE91-C5A7-6DE3-2B15-E77C5295CD8A}"/>
              </a:ext>
            </a:extLst>
          </p:cNvPr>
          <p:cNvSpPr txBox="1"/>
          <p:nvPr/>
        </p:nvSpPr>
        <p:spPr>
          <a:xfrm>
            <a:off x="6451600" y="27051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0.5B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3B02B0F-74BA-D4AB-6AFC-BB9C732E49D0}"/>
              </a:ext>
            </a:extLst>
          </p:cNvPr>
          <p:cNvSpPr/>
          <p:nvPr/>
        </p:nvSpPr>
        <p:spPr>
          <a:xfrm>
            <a:off x="8051800" y="2275840"/>
            <a:ext cx="711200" cy="39116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A6EA25-EE3A-EF1C-41D2-31F533FFBA99}"/>
              </a:ext>
            </a:extLst>
          </p:cNvPr>
          <p:cNvSpPr txBox="1"/>
          <p:nvPr/>
        </p:nvSpPr>
        <p:spPr>
          <a:xfrm>
            <a:off x="7823200" y="207264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1.1GB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F4770B-5380-AD5D-CC74-29CE57EB8065}"/>
              </a:ext>
            </a:extLst>
          </p:cNvPr>
          <p:cNvSpPr txBox="1"/>
          <p:nvPr/>
        </p:nvSpPr>
        <p:spPr>
          <a:xfrm>
            <a:off x="7823200" y="27051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1.5B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20B68C7-C066-03FA-FF33-DF7A8509B557}"/>
              </a:ext>
            </a:extLst>
          </p:cNvPr>
          <p:cNvSpPr/>
          <p:nvPr/>
        </p:nvSpPr>
        <p:spPr>
          <a:xfrm>
            <a:off x="9423400" y="1991360"/>
            <a:ext cx="711200" cy="67564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E77616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12993D-A83B-5B3C-7725-A13011838470}"/>
              </a:ext>
            </a:extLst>
          </p:cNvPr>
          <p:cNvSpPr txBox="1"/>
          <p:nvPr/>
        </p:nvSpPr>
        <p:spPr>
          <a:xfrm>
            <a:off x="9194800" y="178816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1.9GB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DDEE5C-89AA-6B97-7080-40E02E5CC376}"/>
              </a:ext>
            </a:extLst>
          </p:cNvPr>
          <p:cNvSpPr txBox="1"/>
          <p:nvPr/>
        </p:nvSpPr>
        <p:spPr>
          <a:xfrm>
            <a:off x="9194800" y="27051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2B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0C6828A-C9CA-0DB7-D4B5-9B9D3581219F}"/>
              </a:ext>
            </a:extLst>
          </p:cNvPr>
          <p:cNvSpPr/>
          <p:nvPr/>
        </p:nvSpPr>
        <p:spPr>
          <a:xfrm>
            <a:off x="10795000" y="1137920"/>
            <a:ext cx="711200" cy="152908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DB483C"/>
              </a:gs>
              <a:gs pos="100000">
                <a:srgbClr val="BC3028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AD5F4B-37E3-5E89-59B1-7629ECB72BE8}"/>
              </a:ext>
            </a:extLst>
          </p:cNvPr>
          <p:cNvSpPr txBox="1"/>
          <p:nvPr/>
        </p:nvSpPr>
        <p:spPr>
          <a:xfrm>
            <a:off x="10566400" y="93472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4.3GB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5A8418-1FCA-6F97-39D2-92A2A2C3B264}"/>
              </a:ext>
            </a:extLst>
          </p:cNvPr>
          <p:cNvSpPr txBox="1"/>
          <p:nvPr/>
        </p:nvSpPr>
        <p:spPr>
          <a:xfrm>
            <a:off x="10566400" y="27051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7B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7C74D64-3ECD-FFCC-741C-9221DFAB6480}"/>
              </a:ext>
            </a:extLst>
          </p:cNvPr>
          <p:cNvCxnSpPr/>
          <p:nvPr/>
        </p:nvCxnSpPr>
        <p:spPr>
          <a:xfrm>
            <a:off x="6350000" y="2667000"/>
            <a:ext cx="5486400" cy="0"/>
          </a:xfrm>
          <a:prstGeom prst="line">
            <a:avLst/>
          </a:prstGeom>
          <a:ln w="12700">
            <a:solidFill>
              <a:srgbClr val="96A5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A171FB-4A27-8800-2D29-8E61F746C62C}"/>
              </a:ext>
            </a:extLst>
          </p:cNvPr>
          <p:cNvSpPr txBox="1"/>
          <p:nvPr/>
        </p:nvSpPr>
        <p:spPr>
          <a:xfrm>
            <a:off x="6172200" y="2946400"/>
            <a:ext cx="5867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④ 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decode 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속도 </a:t>
            </a:r>
            <a:r>
              <a:rPr lang="en-US" altLang="ko-KR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(tok/s) — </a:t>
            </a:r>
            <a:r>
              <a:rPr lang="ko-KR" altLang="en-US" sz="1100" b="1">
                <a:solidFill>
                  <a:srgbClr val="1F3864"/>
                </a:solidFill>
                <a:latin typeface="맑은 고딕" panose="020B0503020000020004" pitchFamily="50" charset="-127"/>
              </a:rPr>
              <a:t>클수록 느려짐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781C013-AC1B-492D-3B11-46030E70FECF}"/>
              </a:ext>
            </a:extLst>
          </p:cNvPr>
          <p:cNvSpPr/>
          <p:nvPr/>
        </p:nvSpPr>
        <p:spPr>
          <a:xfrm>
            <a:off x="6680200" y="3405414"/>
            <a:ext cx="711200" cy="1496786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2F890D-2DD1-381E-2F61-FA5384723D0F}"/>
              </a:ext>
            </a:extLst>
          </p:cNvPr>
          <p:cNvSpPr txBox="1"/>
          <p:nvPr/>
        </p:nvSpPr>
        <p:spPr>
          <a:xfrm>
            <a:off x="6451600" y="3202214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50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584D2D-1098-63B9-C994-C7104100CE91}"/>
              </a:ext>
            </a:extLst>
          </p:cNvPr>
          <p:cNvSpPr txBox="1"/>
          <p:nvPr/>
        </p:nvSpPr>
        <p:spPr>
          <a:xfrm>
            <a:off x="6451600" y="49403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0.5B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186600F-AE3A-13CF-81BD-E746A4C30040}"/>
              </a:ext>
            </a:extLst>
          </p:cNvPr>
          <p:cNvSpPr/>
          <p:nvPr/>
        </p:nvSpPr>
        <p:spPr>
          <a:xfrm>
            <a:off x="8051800" y="4183743"/>
            <a:ext cx="711200" cy="718457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174776-CA4D-B74F-FCE6-0713C8BDA231}"/>
              </a:ext>
            </a:extLst>
          </p:cNvPr>
          <p:cNvSpPr txBox="1"/>
          <p:nvPr/>
        </p:nvSpPr>
        <p:spPr>
          <a:xfrm>
            <a:off x="7823200" y="3980543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24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3C3738-6DD1-3FAF-9AE7-1BEEE3E2BD8D}"/>
              </a:ext>
            </a:extLst>
          </p:cNvPr>
          <p:cNvSpPr txBox="1"/>
          <p:nvPr/>
        </p:nvSpPr>
        <p:spPr>
          <a:xfrm>
            <a:off x="7823200" y="49403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1.5B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EEF880-EC99-6E87-2208-84A05A662DD3}"/>
              </a:ext>
            </a:extLst>
          </p:cNvPr>
          <p:cNvSpPr/>
          <p:nvPr/>
        </p:nvSpPr>
        <p:spPr>
          <a:xfrm>
            <a:off x="9423400" y="4483100"/>
            <a:ext cx="711200" cy="4191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E77616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66FF5E-0385-9895-00E1-AA2190AA44D1}"/>
              </a:ext>
            </a:extLst>
          </p:cNvPr>
          <p:cNvSpPr txBox="1"/>
          <p:nvPr/>
        </p:nvSpPr>
        <p:spPr>
          <a:xfrm>
            <a:off x="9194800" y="42799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14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9DA59A-1999-B034-743B-894EC71AA589}"/>
              </a:ext>
            </a:extLst>
          </p:cNvPr>
          <p:cNvSpPr txBox="1"/>
          <p:nvPr/>
        </p:nvSpPr>
        <p:spPr>
          <a:xfrm>
            <a:off x="9194800" y="49403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2B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15DFA51-CA7F-8B53-ADA3-A50DA1524129}"/>
              </a:ext>
            </a:extLst>
          </p:cNvPr>
          <p:cNvSpPr/>
          <p:nvPr/>
        </p:nvSpPr>
        <p:spPr>
          <a:xfrm>
            <a:off x="10795000" y="4722586"/>
            <a:ext cx="711200" cy="179614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DB483C"/>
              </a:gs>
              <a:gs pos="100000">
                <a:srgbClr val="BC3028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CB0C43-F0AC-D304-3BD9-C5D311CA3143}"/>
              </a:ext>
            </a:extLst>
          </p:cNvPr>
          <p:cNvSpPr txBox="1"/>
          <p:nvPr/>
        </p:nvSpPr>
        <p:spPr>
          <a:xfrm>
            <a:off x="10566400" y="4519386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1E3A5F"/>
                </a:solidFill>
                <a:latin typeface="맑은 고딕" panose="020B0503020000020004" pitchFamily="50" charset="-127"/>
              </a:rPr>
              <a:t>6</a:t>
            </a:r>
            <a:endParaRPr lang="ko-KR" altLang="en-US" sz="800" b="1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6DA97C-535D-E434-BDFD-5F761F50B6F6}"/>
              </a:ext>
            </a:extLst>
          </p:cNvPr>
          <p:cNvSpPr txBox="1"/>
          <p:nvPr/>
        </p:nvSpPr>
        <p:spPr>
          <a:xfrm>
            <a:off x="10566400" y="4940300"/>
            <a:ext cx="1168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5F6E82"/>
                </a:solidFill>
                <a:latin typeface="맑은 고딕" panose="020B0503020000020004" pitchFamily="50" charset="-127"/>
              </a:rPr>
              <a:t>7B</a:t>
            </a:r>
            <a:endParaRPr lang="ko-KR" altLang="en-US" sz="800" b="1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DE08CD5-8128-C890-3F69-0F2C1EB15207}"/>
              </a:ext>
            </a:extLst>
          </p:cNvPr>
          <p:cNvCxnSpPr/>
          <p:nvPr/>
        </p:nvCxnSpPr>
        <p:spPr>
          <a:xfrm>
            <a:off x="6350000" y="4902200"/>
            <a:ext cx="5486400" cy="0"/>
          </a:xfrm>
          <a:prstGeom prst="line">
            <a:avLst/>
          </a:prstGeom>
          <a:ln w="12700">
            <a:solidFill>
              <a:srgbClr val="96A5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D82F73B-5281-E689-E60B-23CA18A508EF}"/>
              </a:ext>
            </a:extLst>
          </p:cNvPr>
          <p:cNvSpPr/>
          <p:nvPr/>
        </p:nvSpPr>
        <p:spPr>
          <a:xfrm>
            <a:off x="6172200" y="5207000"/>
            <a:ext cx="5867400" cy="762000"/>
          </a:xfrm>
          <a:prstGeom prst="roundRect">
            <a:avLst>
              <a:gd name="adj" fmla="val 8000"/>
            </a:avLst>
          </a:prstGeom>
          <a:solidFill>
            <a:srgbClr val="FEF7E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63E141-7606-26CC-7BBA-C79F39D049B3}"/>
              </a:ext>
            </a:extLst>
          </p:cNvPr>
          <p:cNvSpPr txBox="1"/>
          <p:nvPr/>
        </p:nvSpPr>
        <p:spPr>
          <a:xfrm>
            <a:off x="6324600" y="5257800"/>
            <a:ext cx="558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E77616"/>
                </a:solidFill>
                <a:latin typeface="맑은 고딕" panose="020B0503020000020004" pitchFamily="50" charset="-127"/>
              </a:rPr>
              <a:t>결론 </a:t>
            </a:r>
            <a:r>
              <a:rPr lang="en-US" altLang="ko-KR" sz="1000" b="1">
                <a:solidFill>
                  <a:srgbClr val="E7761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000" b="1">
                <a:solidFill>
                  <a:srgbClr val="E77616"/>
                </a:solidFill>
                <a:latin typeface="맑은 고딕" panose="020B0503020000020004" pitchFamily="50" charset="-127"/>
              </a:rPr>
              <a:t>권장</a:t>
            </a:r>
            <a:r>
              <a:rPr lang="en-US" altLang="ko-KR" sz="1000" b="1">
                <a:solidFill>
                  <a:srgbClr val="E77616"/>
                </a:solidFill>
                <a:latin typeface="맑은 고딕" panose="020B0503020000020004" pitchFamily="50" charset="-127"/>
              </a:rPr>
              <a:t>: B (</a:t>
            </a:r>
            <a:r>
              <a:rPr lang="ko-KR" altLang="en-US" sz="1000" b="1">
                <a:solidFill>
                  <a:srgbClr val="E77616"/>
                </a:solidFill>
                <a:latin typeface="맑은 고딕" panose="020B0503020000020004" pitchFamily="50" charset="-127"/>
              </a:rPr>
              <a:t>단일 범용 상주</a:t>
            </a:r>
            <a:r>
              <a:rPr lang="en-US" altLang="ko-KR" sz="1000" b="1">
                <a:solidFill>
                  <a:srgbClr val="E77616"/>
                </a:solidFill>
                <a:latin typeface="맑은 고딕" panose="020B0503020000020004" pitchFamily="50" charset="-127"/>
              </a:rPr>
              <a:t>)</a:t>
            </a:r>
            <a:endParaRPr lang="ko-KR" altLang="en-US" sz="1000" b="1">
              <a:solidFill>
                <a:srgbClr val="E776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1B4DE5-70F3-4265-3ADD-4F2C8AA18F42}"/>
              </a:ext>
            </a:extLst>
          </p:cNvPr>
          <p:cNvSpPr txBox="1"/>
          <p:nvPr/>
        </p:nvSpPr>
        <p:spPr>
          <a:xfrm>
            <a:off x="6324600" y="5461000"/>
            <a:ext cx="5588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50">
                <a:solidFill>
                  <a:srgbClr val="1E3A5F"/>
                </a:solidFill>
                <a:latin typeface="맑은 고딕" panose="020B0503020000020004" pitchFamily="50" charset="-127"/>
              </a:rPr>
              <a:t>7B </a:t>
            </a:r>
            <a:r>
              <a:rPr lang="ko-KR" altLang="en-US" sz="850">
                <a:solidFill>
                  <a:srgbClr val="1E3A5F"/>
                </a:solidFill>
                <a:latin typeface="맑은 고딕" panose="020B0503020000020004" pitchFamily="50" charset="-127"/>
              </a:rPr>
              <a:t>불가 </a:t>
            </a:r>
            <a:r>
              <a:rPr lang="en-US" altLang="ko-KR" sz="850">
                <a:solidFill>
                  <a:srgbClr val="1E3A5F"/>
                </a:solidFill>
                <a:latin typeface="맑은 고딕" panose="020B0503020000020004" pitchFamily="50" charset="-127"/>
              </a:rPr>
              <a:t>/ 2B=</a:t>
            </a:r>
            <a:r>
              <a:rPr lang="ko-KR" altLang="en-US" sz="850">
                <a:solidFill>
                  <a:srgbClr val="1E3A5F"/>
                </a:solidFill>
                <a:latin typeface="맑은 고딕" panose="020B0503020000020004" pitchFamily="50" charset="-127"/>
              </a:rPr>
              <a:t>상한 </a:t>
            </a:r>
            <a:r>
              <a:rPr lang="en-US" altLang="ko-KR" sz="850">
                <a:solidFill>
                  <a:srgbClr val="1E3A5F"/>
                </a:solidFill>
                <a:latin typeface="맑은 고딕" panose="020B0503020000020004" pitchFamily="50" charset="-127"/>
              </a:rPr>
              <a:t>/ 1.5B=</a:t>
            </a:r>
            <a:r>
              <a:rPr lang="ko-KR" altLang="en-US" sz="850">
                <a:solidFill>
                  <a:srgbClr val="1E3A5F"/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850">
                <a:solidFill>
                  <a:srgbClr val="1E3A5F"/>
                </a:solidFill>
                <a:latin typeface="맑은 고딕" panose="020B0503020000020004" pitchFamily="50" charset="-127"/>
              </a:rPr>
              <a:t>/ 0.5B=</a:t>
            </a:r>
            <a:r>
              <a:rPr lang="ko-KR" altLang="en-US" sz="850">
                <a:solidFill>
                  <a:srgbClr val="1E3A5F"/>
                </a:solidFill>
                <a:latin typeface="맑은 고딕" panose="020B0503020000020004" pitchFamily="50" charset="-127"/>
              </a:rPr>
              <a:t>툴</a:t>
            </a:r>
            <a:r>
              <a:rPr lang="en-US" altLang="ko-KR" sz="850">
                <a:solidFill>
                  <a:srgbClr val="1E3A5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50">
                <a:solidFill>
                  <a:srgbClr val="1E3A5F"/>
                </a:solidFill>
                <a:latin typeface="맑은 고딕" panose="020B0503020000020004" pitchFamily="50" charset="-127"/>
              </a:rPr>
              <a:t>품질 부족 시 </a:t>
            </a:r>
            <a:r>
              <a:rPr lang="en-US" altLang="ko-KR" sz="850">
                <a:solidFill>
                  <a:srgbClr val="1E3A5F"/>
                </a:solidFill>
                <a:latin typeface="맑은 고딕" panose="020B0503020000020004" pitchFamily="50" charset="-127"/>
              </a:rPr>
              <a:t>LoRA→A.</a:t>
            </a:r>
            <a:endParaRPr lang="ko-KR" altLang="en-US" sz="850">
              <a:solidFill>
                <a:srgbClr val="1E3A5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FF95A9-4B21-3D98-7209-890EC735D555}"/>
              </a:ext>
            </a:extLst>
          </p:cNvPr>
          <p:cNvSpPr txBox="1"/>
          <p:nvPr/>
        </p:nvSpPr>
        <p:spPr>
          <a:xfrm>
            <a:off x="6324600" y="5664200"/>
            <a:ext cx="558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800">
                <a:solidFill>
                  <a:srgbClr val="5F6E82"/>
                </a:solidFill>
                <a:latin typeface="맑은 고딕" panose="020B0503020000020004" pitchFamily="50" charset="-127"/>
              </a:rPr>
              <a:t>동시상주 </a:t>
            </a:r>
            <a:r>
              <a:rPr lang="en-US" altLang="ko-KR" sz="800">
                <a:solidFill>
                  <a:srgbClr val="5F6E82"/>
                </a:solidFill>
                <a:latin typeface="맑은 고딕" panose="020B0503020000020004" pitchFamily="50" charset="-127"/>
              </a:rPr>
              <a:t>IDS0.5B+MAF2B≈2.4GB(</a:t>
            </a:r>
            <a:r>
              <a:rPr lang="ko-KR" altLang="en-US" sz="800">
                <a:solidFill>
                  <a:srgbClr val="5F6E82"/>
                </a:solidFill>
                <a:latin typeface="맑은 고딕" panose="020B0503020000020004" pitchFamily="50" charset="-127"/>
              </a:rPr>
              <a:t>빠듯</a:t>
            </a:r>
            <a:r>
              <a:rPr lang="en-US" altLang="ko-KR" sz="800">
                <a:solidFill>
                  <a:srgbClr val="5F6E82"/>
                </a:solidFill>
                <a:latin typeface="맑은 고딕" panose="020B0503020000020004" pitchFamily="50" charset="-127"/>
              </a:rPr>
              <a:t>) · MAF 1.5B</a:t>
            </a:r>
            <a:r>
              <a:rPr lang="ko-KR" altLang="en-US" sz="800">
                <a:solidFill>
                  <a:srgbClr val="5F6E82"/>
                </a:solidFill>
                <a:latin typeface="맑은 고딕" panose="020B0503020000020004" pitchFamily="50" charset="-127"/>
              </a:rPr>
              <a:t>면 </a:t>
            </a:r>
            <a:r>
              <a:rPr lang="en-US" altLang="ko-KR" sz="800">
                <a:solidFill>
                  <a:srgbClr val="5F6E82"/>
                </a:solidFill>
                <a:latin typeface="맑은 고딕" panose="020B0503020000020004" pitchFamily="50" charset="-127"/>
              </a:rPr>
              <a:t>~1.6GB(</a:t>
            </a:r>
            <a:r>
              <a:rPr lang="ko-KR" altLang="en-US" sz="800">
                <a:solidFill>
                  <a:srgbClr val="5F6E82"/>
                </a:solidFill>
                <a:latin typeface="맑은 고딕" panose="020B0503020000020004" pitchFamily="50" charset="-127"/>
              </a:rPr>
              <a:t>여유</a:t>
            </a:r>
            <a:r>
              <a:rPr lang="en-US" altLang="ko-KR" sz="800">
                <a:solidFill>
                  <a:srgbClr val="5F6E82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>
              <a:solidFill>
                <a:srgbClr val="5F6E8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6918E72-9448-ACB8-6118-7E016CE62BF9}"/>
              </a:ext>
            </a:extLst>
          </p:cNvPr>
          <p:cNvSpPr/>
          <p:nvPr/>
        </p:nvSpPr>
        <p:spPr>
          <a:xfrm>
            <a:off x="6172200" y="6045200"/>
            <a:ext cx="5867400" cy="482600"/>
          </a:xfrm>
          <a:prstGeom prst="roundRect">
            <a:avLst>
              <a:gd name="adj" fmla="val 12000"/>
            </a:avLst>
          </a:prstGeom>
          <a:solidFill>
            <a:srgbClr val="FAF0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B5799D-BAA1-09CF-34BB-E7D7222044B9}"/>
              </a:ext>
            </a:extLst>
          </p:cNvPr>
          <p:cNvSpPr txBox="1"/>
          <p:nvPr/>
        </p:nvSpPr>
        <p:spPr>
          <a:xfrm>
            <a:off x="6299200" y="6121400"/>
            <a:ext cx="5638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⚠ 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CPU·Q4 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예비값 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— NPU 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절대치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실제 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fit 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아님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. peakRSS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만 신뢰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(mmap), M3·M5 </a:t>
            </a:r>
            <a:r>
              <a:rPr lang="ko-KR" altLang="en-US" sz="800" b="1">
                <a:solidFill>
                  <a:srgbClr val="BC3028"/>
                </a:solidFill>
                <a:latin typeface="맑은 고딕" panose="020B0503020000020004" pitchFamily="50" charset="-127"/>
              </a:rPr>
              <a:t>미측정</a:t>
            </a:r>
            <a:r>
              <a:rPr lang="en-US" altLang="ko-KR" sz="800" b="1">
                <a:solidFill>
                  <a:srgbClr val="BC3028"/>
                </a:solidFill>
                <a:latin typeface="맑은 고딕" panose="020B0503020000020004" pitchFamily="50" charset="-127"/>
              </a:rPr>
              <a:t>.</a:t>
            </a:r>
            <a:endParaRPr lang="ko-KR" altLang="en-US" sz="800" b="1">
              <a:solidFill>
                <a:srgbClr val="BC302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23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사용자 지정</PresentationFormat>
  <Paragraphs>89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Sunwoo Nam</dc:creator>
  <cp:lastModifiedBy>Sunwoo Nam</cp:lastModifiedBy>
  <cp:revision>1</cp:revision>
  <dcterms:created xsi:type="dcterms:W3CDTF">2026-06-26T09:28:52Z</dcterms:created>
  <dcterms:modified xsi:type="dcterms:W3CDTF">2026-06-26T09:28:52Z</dcterms:modified>
</cp:coreProperties>
</file>