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8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E93426-7A5F-92CC-5AA2-9868840BC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F87773-B39C-19CC-C4A5-00B1B652E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77B94E-4CE4-96FF-329F-6499D8FC5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C790-118C-48CC-8F5A-E8E16630978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10257F-3F11-6123-9465-B42548561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B13FA8-03E4-EF7A-4DFE-756BAB9B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D736-40AC-4954-BAB0-C09B81E2D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610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1B463-D3EB-631F-DB67-7D13CABE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E708B8-6327-AEBE-B649-2DD70DDBE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A5D6F-A0BF-7E0B-F5D6-D56FA8CB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C790-118C-48CC-8F5A-E8E16630978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CD22F7-0D03-B3D5-D4DE-9F3B06007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4820D4-A5AF-6A9A-11FB-C9249C1D6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D736-40AC-4954-BAB0-C09B81E2D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00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0AE26-4ECC-9415-5BB2-07CD500D9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942690-60E6-A7EB-C840-B55B037E4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5D24F2-381C-2B57-D1C9-4BB3E4D57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C790-118C-48CC-8F5A-E8E16630978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64BC16-FADF-EEE8-F156-9218B254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C68A71-8FAA-F2C4-F7EB-0E825642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D736-40AC-4954-BAB0-C09B81E2D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44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A345DA-6BCD-EA14-1673-100ED151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EFE772-A46E-0C9C-322C-9B5EDC0DA3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57E649-8C7C-30D5-C8F3-03FD41ECD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AB8D96-7CA2-F720-04C0-683ABF98F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C790-118C-48CC-8F5A-E8E16630978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37815E-BF1A-0125-D70F-3D2A2481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EDCE2E-4E14-5315-BF4A-4DB9FC80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D736-40AC-4954-BAB0-C09B81E2D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94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7A9E4-F6A5-1A64-D35E-F88FD2296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103334-95F9-59AF-D0E7-FDA9D5515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C061F-6DF4-E8A5-7EA6-33D71E5B3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B4ADB0-99D8-70A6-C8DF-3BD591E4E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4F7FFBC-12DC-0083-785E-FAA6B414BB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15B1DF-98D7-839A-0B29-20FF6B9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C790-118C-48CC-8F5A-E8E16630978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CEF2D3-0D70-3FF5-70BB-DC7A017CA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DE4619-EF07-E0FB-86B3-B1D1C3AB3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D736-40AC-4954-BAB0-C09B81E2D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19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8EF60D-7C8A-8B8F-873B-E666F1FCF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411BEC-7AA3-D050-A69B-BC27B343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C790-118C-48CC-8F5A-E8E16630978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6BD719-C01C-4D66-3D5A-3F4F8E1F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3E7D78-4385-F109-9135-F0092D1F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D736-40AC-4954-BAB0-C09B81E2D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4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9CC6F9-51F4-5BD5-2640-7A46801B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C790-118C-48CC-8F5A-E8E16630978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3B9501-6C1F-B23F-BB03-3A227FB8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39F1D3-7C13-6973-B890-48B87DD92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D736-40AC-4954-BAB0-C09B81E2D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740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245B3-DC69-DB5C-9804-A5784BB1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57FC23-66F7-1E01-0F51-FC2277745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94A306-D921-4C3E-BEDC-084C79CA9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410027-4B5D-72A6-0044-F552551F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C790-118C-48CC-8F5A-E8E16630978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641F0F-C937-9BF0-1380-434CCAD6D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9B8D08-3BB2-F9C7-5DEE-BBCB2DE73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D736-40AC-4954-BAB0-C09B81E2D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712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ACE5B-6E07-A9EE-97C8-E50006D1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B9C029-CD31-DE4E-0AB3-AAE396D50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05ADB2-4A4E-424F-8FFC-917A428F9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3D24F5-B850-5F3C-6971-BDCE8A047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C790-118C-48CC-8F5A-E8E16630978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A9F57A-FFA1-942C-C06A-CA9AE1D2F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2D4424-34BA-049C-1207-1BEF86FE6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D736-40AC-4954-BAB0-C09B81E2D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826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30DF15-CC88-1122-C501-3A11EE9B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90BF46-6C4B-F6A4-36C9-2B5F4B405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CBF8AD-CF5D-A740-4C9E-99F84371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C790-118C-48CC-8F5A-E8E16630978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AA4949-6626-7685-57B7-DCCA855D1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B54A35-FDAC-F78C-EB0F-50D206DD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D736-40AC-4954-BAB0-C09B81E2D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306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13E2E4-3E97-C850-FA99-D18CD9EE4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AEB423-8D33-09DB-759A-017308E24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A0BABA-77D6-AE61-0D49-C121CAC3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5C790-118C-48CC-8F5A-E8E16630978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6E6A4B-F3F1-8FEF-7432-E0FC8B11F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E12B8E-9579-89B9-5DFD-A82D0B48D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4D736-40AC-4954-BAB0-C09B81E2D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015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B82C377-32DA-9D98-AEC0-0B8A9A00B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6B7A01-3EFD-3817-FEF2-4EBC0197C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5D4576-7FB6-F807-1E83-047D38387D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5C790-118C-48CC-8F5A-E8E16630978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F3182C-2B2B-1244-676E-0C3BA7FBD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F180C0-4B6D-2633-4960-F8DB62485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4D736-40AC-4954-BAB0-C09B81E2D9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174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D3BDE39-866F-3C3E-A1FF-0C60D18DA246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DP02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선정 배경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메모리 효율화를 위한 온디바이스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모델 배치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00F57D-6428-D16B-636D-DAC97B935CEA}"/>
              </a:ext>
            </a:extLst>
          </p:cNvPr>
          <p:cNvSpPr txBox="1"/>
          <p:nvPr/>
        </p:nvSpPr>
        <p:spPr>
          <a:xfrm>
            <a:off x="304800" y="762000"/>
            <a:ext cx="596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① 문제 상황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1E6CE-22A2-FC51-6B83-333CD31C2E29}"/>
              </a:ext>
            </a:extLst>
          </p:cNvPr>
          <p:cNvSpPr txBox="1"/>
          <p:nvPr/>
        </p:nvSpPr>
        <p:spPr>
          <a:xfrm>
            <a:off x="304800" y="1041400"/>
            <a:ext cx="60706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시스템 곳곳에서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추론 필요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협상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판정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요약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(MA),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툴 호출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협업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(SA)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등 유형이 다양
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추론 유형마다 요구 모델 크기가 상이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대형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~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)
•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온디바이스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구동 지향 → 런타임 메모리에서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LLM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이 최대 비중
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단말 메모리 제약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+ OS·App·IDS(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전용 모델 상주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가 이미 점유 →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MAF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가용 메모리 타이트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11739-311D-26DF-BF65-13F9B1C2725B}"/>
              </a:ext>
            </a:extLst>
          </p:cNvPr>
          <p:cNvSpPr txBox="1"/>
          <p:nvPr/>
        </p:nvSpPr>
        <p:spPr>
          <a:xfrm>
            <a:off x="304800" y="2616200"/>
            <a:ext cx="596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② 왜 중요한가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BC7A0-8044-445F-B95F-B3A998A88242}"/>
              </a:ext>
            </a:extLst>
          </p:cNvPr>
          <p:cNvSpPr txBox="1"/>
          <p:nvPr/>
        </p:nvSpPr>
        <p:spPr>
          <a:xfrm>
            <a:off x="304800" y="2895600"/>
            <a:ext cx="60706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과제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대 가설 중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온디바이스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실용성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검증과 직결
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• RAM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예산 초과 시 시스템 동작 자체가 불가 →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최적화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이전에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성립 가능성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문제
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모델 배치는 런타임 아키텍처의 근간 → 사후 변경 비용이 큼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1C182CA-7ADB-9D5E-9580-46920C55EC13}"/>
              </a:ext>
            </a:extLst>
          </p:cNvPr>
          <p:cNvSpPr/>
          <p:nvPr/>
        </p:nvSpPr>
        <p:spPr>
          <a:xfrm>
            <a:off x="304800" y="4241800"/>
            <a:ext cx="6070600" cy="2260600"/>
          </a:xfrm>
          <a:prstGeom prst="roundRect">
            <a:avLst>
              <a:gd name="adj" fmla="val 6000"/>
            </a:avLst>
          </a:prstGeom>
          <a:solidFill>
            <a:srgbClr val="FCF3E9"/>
          </a:solidFill>
          <a:ln w="22225">
            <a:solidFill>
              <a:srgbClr val="E776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" rIns="152400" bIns="12700" rtlCol="0" anchor="ctr"/>
          <a:lstStyle/>
          <a:p>
            <a:pPr algn="ctr"/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∴ 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MAF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는 추론을 위해 동시에 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개 모델만 적재 가능
→ 이 하나의 슬롯을 여러 추론이 어떻게 나눠 쓸 것인가 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본 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DP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가 푸는 문제
▶ 다음 장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후보 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A(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추론 유형별 모델 교체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) vs B(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단일 범용 상주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비교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42F8BD-F2A1-072A-BE04-EC5D144ABBA8}"/>
              </a:ext>
            </a:extLst>
          </p:cNvPr>
          <p:cNvSpPr txBox="1"/>
          <p:nvPr/>
        </p:nvSpPr>
        <p:spPr>
          <a:xfrm>
            <a:off x="6502400" y="711200"/>
            <a:ext cx="5562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50" b="1">
                <a:solidFill>
                  <a:srgbClr val="1F3864"/>
                </a:solidFill>
                <a:latin typeface="맑은 고딕" panose="020B0503020000020004" pitchFamily="50" charset="-127"/>
              </a:rPr>
              <a:t>① 런타임에서 </a:t>
            </a:r>
            <a:r>
              <a:rPr lang="en-US" altLang="ko-KR" sz="1050" b="1">
                <a:solidFill>
                  <a:srgbClr val="1F3864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1050" b="1">
                <a:solidFill>
                  <a:srgbClr val="1F3864"/>
                </a:solidFill>
                <a:latin typeface="맑은 고딕" panose="020B0503020000020004" pitchFamily="50" charset="-127"/>
              </a:rPr>
              <a:t>최대 비중   →   ② 단말 예산은 빠듯</a:t>
            </a:r>
          </a:p>
        </p:txBody>
      </p:sp>
      <p:sp>
        <p:nvSpPr>
          <p:cNvPr id="9" name="막힌 원호 8">
            <a:extLst>
              <a:ext uri="{FF2B5EF4-FFF2-40B4-BE49-F238E27FC236}">
                <a16:creationId xmlns:a16="http://schemas.microsoft.com/office/drawing/2014/main" id="{EE94C3A4-7126-608E-08BA-8CAF508D48BB}"/>
              </a:ext>
            </a:extLst>
          </p:cNvPr>
          <p:cNvSpPr/>
          <p:nvPr/>
        </p:nvSpPr>
        <p:spPr>
          <a:xfrm>
            <a:off x="6527800" y="990600"/>
            <a:ext cx="1092200" cy="1092200"/>
          </a:xfrm>
          <a:prstGeom prst="blockArc">
            <a:avLst>
              <a:gd name="adj1" fmla="val 0"/>
              <a:gd name="adj2" fmla="val 18360000"/>
              <a:gd name="adj3" fmla="val 48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막힌 원호 9">
            <a:extLst>
              <a:ext uri="{FF2B5EF4-FFF2-40B4-BE49-F238E27FC236}">
                <a16:creationId xmlns:a16="http://schemas.microsoft.com/office/drawing/2014/main" id="{E705F2AB-6B7B-726B-D3A8-A01A09754811}"/>
              </a:ext>
            </a:extLst>
          </p:cNvPr>
          <p:cNvSpPr/>
          <p:nvPr/>
        </p:nvSpPr>
        <p:spPr>
          <a:xfrm>
            <a:off x="6527800" y="990600"/>
            <a:ext cx="1092200" cy="1092200"/>
          </a:xfrm>
          <a:prstGeom prst="blockArc">
            <a:avLst>
              <a:gd name="adj1" fmla="val 18360000"/>
              <a:gd name="adj2" fmla="val 19680000"/>
              <a:gd name="adj3" fmla="val 48000"/>
            </a:avLst>
          </a:prstGeom>
          <a:solidFill>
            <a:srgbClr val="408E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막힌 원호 10">
            <a:extLst>
              <a:ext uri="{FF2B5EF4-FFF2-40B4-BE49-F238E27FC236}">
                <a16:creationId xmlns:a16="http://schemas.microsoft.com/office/drawing/2014/main" id="{1E3B824B-60C5-E742-E7CE-CD3D1DF9A155}"/>
              </a:ext>
            </a:extLst>
          </p:cNvPr>
          <p:cNvSpPr/>
          <p:nvPr/>
        </p:nvSpPr>
        <p:spPr>
          <a:xfrm>
            <a:off x="6527800" y="990600"/>
            <a:ext cx="1092200" cy="1092200"/>
          </a:xfrm>
          <a:prstGeom prst="blockArc">
            <a:avLst>
              <a:gd name="adj1" fmla="val 19680000"/>
              <a:gd name="adj2" fmla="val 20940000"/>
              <a:gd name="adj3" fmla="val 48000"/>
            </a:avLst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막힌 원호 11">
            <a:extLst>
              <a:ext uri="{FF2B5EF4-FFF2-40B4-BE49-F238E27FC236}">
                <a16:creationId xmlns:a16="http://schemas.microsoft.com/office/drawing/2014/main" id="{0ECC369E-687B-3883-F39C-15D89F088F8C}"/>
              </a:ext>
            </a:extLst>
          </p:cNvPr>
          <p:cNvSpPr/>
          <p:nvPr/>
        </p:nvSpPr>
        <p:spPr>
          <a:xfrm>
            <a:off x="6527800" y="990600"/>
            <a:ext cx="1092200" cy="1092200"/>
          </a:xfrm>
          <a:prstGeom prst="blockArc">
            <a:avLst>
              <a:gd name="adj1" fmla="val 20940000"/>
              <a:gd name="adj2" fmla="val 0"/>
              <a:gd name="adj3" fmla="val 48000"/>
            </a:avLst>
          </a:prstGeom>
          <a:solidFill>
            <a:srgbClr val="A5AF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CBFEDC5-C670-B96D-5B39-0669993BF4D6}"/>
              </a:ext>
            </a:extLst>
          </p:cNvPr>
          <p:cNvSpPr/>
          <p:nvPr/>
        </p:nvSpPr>
        <p:spPr>
          <a:xfrm>
            <a:off x="6845300" y="1308100"/>
            <a:ext cx="457200" cy="4572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2A3A85-431C-C6E6-C33E-E32EA5162287}"/>
              </a:ext>
            </a:extLst>
          </p:cNvPr>
          <p:cNvSpPr txBox="1"/>
          <p:nvPr/>
        </p:nvSpPr>
        <p:spPr>
          <a:xfrm>
            <a:off x="6502400" y="1371600"/>
            <a:ext cx="1143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700">
                <a:solidFill>
                  <a:srgbClr val="6E7D91"/>
                </a:solidFill>
                <a:latin typeface="맑은 고딕" panose="020B0503020000020004" pitchFamily="50" charset="-127"/>
              </a:rPr>
              <a:t>런타임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99D7C50-D02C-CF1E-4412-2901E990C590}"/>
              </a:ext>
            </a:extLst>
          </p:cNvPr>
          <p:cNvSpPr/>
          <p:nvPr/>
        </p:nvSpPr>
        <p:spPr>
          <a:xfrm>
            <a:off x="7874000" y="990600"/>
            <a:ext cx="139700" cy="1397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41927F-8405-A3B3-4ECB-DB6215669F12}"/>
              </a:ext>
            </a:extLst>
          </p:cNvPr>
          <p:cNvSpPr txBox="1"/>
          <p:nvPr/>
        </p:nvSpPr>
        <p:spPr>
          <a:xfrm>
            <a:off x="8077200" y="952500"/>
            <a:ext cx="406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 b="1">
                <a:solidFill>
                  <a:srgbClr val="1F3864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900" b="1">
                <a:solidFill>
                  <a:srgbClr val="1F3864"/>
                </a:solidFill>
                <a:latin typeface="맑은 고딕" panose="020B0503020000020004" pitchFamily="50" charset="-127"/>
              </a:rPr>
              <a:t>모델 가중치  </a:t>
            </a:r>
            <a:r>
              <a:rPr lang="en-US" altLang="ko-KR" sz="900" b="1">
                <a:solidFill>
                  <a:srgbClr val="1F3864"/>
                </a:solidFill>
                <a:latin typeface="맑은 고딕" panose="020B0503020000020004" pitchFamily="50" charset="-127"/>
              </a:rPr>
              <a:t>~85%</a:t>
            </a:r>
            <a:endParaRPr lang="ko-KR" altLang="en-US" sz="900" b="1">
              <a:solidFill>
                <a:srgbClr val="1F38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FBE2B4C-DC4A-7A3A-1359-4A8BB5F46A91}"/>
              </a:ext>
            </a:extLst>
          </p:cNvPr>
          <p:cNvSpPr/>
          <p:nvPr/>
        </p:nvSpPr>
        <p:spPr>
          <a:xfrm>
            <a:off x="7874000" y="1270000"/>
            <a:ext cx="139700" cy="139700"/>
          </a:xfrm>
          <a:prstGeom prst="roundRect">
            <a:avLst>
              <a:gd name="adj" fmla="val 30000"/>
            </a:avLst>
          </a:prstGeom>
          <a:solidFill>
            <a:srgbClr val="408E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354916-8D62-2BE6-E495-FED12E0FE555}"/>
              </a:ext>
            </a:extLst>
          </p:cNvPr>
          <p:cNvSpPr txBox="1"/>
          <p:nvPr/>
        </p:nvSpPr>
        <p:spPr>
          <a:xfrm>
            <a:off x="8077200" y="1231900"/>
            <a:ext cx="406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E7D91"/>
                </a:solidFill>
                <a:latin typeface="맑은 고딕" panose="020B0503020000020004" pitchFamily="50" charset="-127"/>
              </a:rPr>
              <a:t>KV </a:t>
            </a:r>
            <a:r>
              <a:rPr lang="ko-KR" altLang="en-US" sz="900">
                <a:solidFill>
                  <a:srgbClr val="6E7D91"/>
                </a:solidFill>
                <a:latin typeface="맑은 고딕" panose="020B0503020000020004" pitchFamily="50" charset="-127"/>
              </a:rPr>
              <a:t>캐시  </a:t>
            </a:r>
            <a:r>
              <a:rPr lang="en-US" altLang="ko-KR" sz="900">
                <a:solidFill>
                  <a:srgbClr val="6E7D91"/>
                </a:solidFill>
                <a:latin typeface="맑은 고딕" panose="020B0503020000020004" pitchFamily="50" charset="-127"/>
              </a:rPr>
              <a:t>~6%</a:t>
            </a:r>
            <a:endParaRPr lang="ko-KR" altLang="en-US" sz="900">
              <a:solidFill>
                <a:srgbClr val="6E7D9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C7EE095-2477-FCB3-71FD-34CDF28304D4}"/>
              </a:ext>
            </a:extLst>
          </p:cNvPr>
          <p:cNvSpPr/>
          <p:nvPr/>
        </p:nvSpPr>
        <p:spPr>
          <a:xfrm>
            <a:off x="7874000" y="1549400"/>
            <a:ext cx="139700" cy="13970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766DB7-6221-1207-525F-07C022AC4C0D}"/>
              </a:ext>
            </a:extLst>
          </p:cNvPr>
          <p:cNvSpPr txBox="1"/>
          <p:nvPr/>
        </p:nvSpPr>
        <p:spPr>
          <a:xfrm>
            <a:off x="8077200" y="1511300"/>
            <a:ext cx="406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E7D91"/>
                </a:solidFill>
                <a:latin typeface="맑은 고딕" panose="020B0503020000020004" pitchFamily="50" charset="-127"/>
              </a:rPr>
              <a:t>런타임</a:t>
            </a:r>
            <a:r>
              <a:rPr lang="en-US" altLang="ko-KR" sz="900">
                <a:solidFill>
                  <a:srgbClr val="6E7D9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E7D91"/>
                </a:solidFill>
                <a:latin typeface="맑은 고딕" panose="020B0503020000020004" pitchFamily="50" charset="-127"/>
              </a:rPr>
              <a:t>활성화 버퍼  </a:t>
            </a:r>
            <a:r>
              <a:rPr lang="en-US" altLang="ko-KR" sz="900">
                <a:solidFill>
                  <a:srgbClr val="6E7D91"/>
                </a:solidFill>
                <a:latin typeface="맑은 고딕" panose="020B0503020000020004" pitchFamily="50" charset="-127"/>
              </a:rPr>
              <a:t>~6%</a:t>
            </a:r>
            <a:endParaRPr lang="ko-KR" altLang="en-US" sz="900">
              <a:solidFill>
                <a:srgbClr val="6E7D9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ED43C18-695B-73CD-E6C5-9DBC11295ECF}"/>
              </a:ext>
            </a:extLst>
          </p:cNvPr>
          <p:cNvSpPr/>
          <p:nvPr/>
        </p:nvSpPr>
        <p:spPr>
          <a:xfrm>
            <a:off x="7874000" y="1828800"/>
            <a:ext cx="139700" cy="139700"/>
          </a:xfrm>
          <a:prstGeom prst="roundRect">
            <a:avLst>
              <a:gd name="adj" fmla="val 30000"/>
            </a:avLst>
          </a:prstGeom>
          <a:solidFill>
            <a:srgbClr val="A5AF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B60587-A861-769A-1300-FFD8EA699F66}"/>
              </a:ext>
            </a:extLst>
          </p:cNvPr>
          <p:cNvSpPr txBox="1"/>
          <p:nvPr/>
        </p:nvSpPr>
        <p:spPr>
          <a:xfrm>
            <a:off x="8077200" y="1790700"/>
            <a:ext cx="406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E7D91"/>
                </a:solidFill>
                <a:latin typeface="맑은 고딕" panose="020B0503020000020004" pitchFamily="50" charset="-127"/>
              </a:rPr>
              <a:t>앱 로직 등  </a:t>
            </a:r>
            <a:r>
              <a:rPr lang="en-US" altLang="ko-KR" sz="900">
                <a:solidFill>
                  <a:srgbClr val="6E7D91"/>
                </a:solidFill>
                <a:latin typeface="맑은 고딕" panose="020B0503020000020004" pitchFamily="50" charset="-127"/>
              </a:rPr>
              <a:t>~3%</a:t>
            </a:r>
            <a:endParaRPr lang="ko-KR" altLang="en-US" sz="900">
              <a:solidFill>
                <a:srgbClr val="6E7D9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0F4EAC-33C1-81AE-C1CD-94575A8B7CF2}"/>
              </a:ext>
            </a:extLst>
          </p:cNvPr>
          <p:cNvSpPr txBox="1"/>
          <p:nvPr/>
        </p:nvSpPr>
        <p:spPr>
          <a:xfrm>
            <a:off x="6502400" y="2159000"/>
            <a:ext cx="5562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850">
                <a:solidFill>
                  <a:srgbClr val="6E7D91"/>
                </a:solidFill>
                <a:latin typeface="맑은 고딕" panose="020B0503020000020004" pitchFamily="50" charset="-127"/>
              </a:rPr>
              <a:t>↓ </a:t>
            </a:r>
            <a:r>
              <a:rPr lang="en-US" altLang="ko-KR" sz="850">
                <a:solidFill>
                  <a:srgbClr val="6E7D91"/>
                </a:solidFill>
                <a:latin typeface="맑은 고딕" panose="020B0503020000020004" pitchFamily="50" charset="-127"/>
              </a:rPr>
              <a:t>LLM</a:t>
            </a:r>
            <a:r>
              <a:rPr lang="ko-KR" altLang="en-US" sz="850">
                <a:solidFill>
                  <a:srgbClr val="6E7D91"/>
                </a:solidFill>
                <a:latin typeface="맑은 고딕" panose="020B0503020000020004" pitchFamily="50" charset="-127"/>
              </a:rPr>
              <a:t>이 커서 단말 예산에서도 큰 몫 필요 </a:t>
            </a:r>
            <a:r>
              <a:rPr lang="en-US" altLang="ko-KR" sz="850">
                <a:solidFill>
                  <a:srgbClr val="6E7D91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850">
                <a:solidFill>
                  <a:srgbClr val="6E7D91"/>
                </a:solidFill>
                <a:latin typeface="맑은 고딕" panose="020B0503020000020004" pitchFamily="50" charset="-127"/>
              </a:rPr>
              <a:t>그러나 자리는 좁다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4CE607-90DB-0A77-5B15-95427BD6102B}"/>
              </a:ext>
            </a:extLst>
          </p:cNvPr>
          <p:cNvSpPr txBox="1"/>
          <p:nvPr/>
        </p:nvSpPr>
        <p:spPr>
          <a:xfrm>
            <a:off x="6502400" y="2362200"/>
            <a:ext cx="5562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50" b="1">
                <a:solidFill>
                  <a:srgbClr val="1F3864"/>
                </a:solidFill>
                <a:latin typeface="맑은 고딕" panose="020B0503020000020004" pitchFamily="50" charset="-127"/>
              </a:rPr>
              <a:t>② 단말 </a:t>
            </a:r>
            <a:r>
              <a:rPr lang="en-US" altLang="ko-KR" sz="950" b="1">
                <a:solidFill>
                  <a:srgbClr val="1F3864"/>
                </a:solidFill>
                <a:latin typeface="맑은 고딕" panose="020B0503020000020004" pitchFamily="50" charset="-127"/>
              </a:rPr>
              <a:t>RAM </a:t>
            </a:r>
            <a:r>
              <a:rPr lang="ko-KR" altLang="en-US" sz="950" b="1">
                <a:solidFill>
                  <a:srgbClr val="1F3864"/>
                </a:solidFill>
                <a:latin typeface="맑은 고딕" panose="020B0503020000020004" pitchFamily="50" charset="-127"/>
              </a:rPr>
              <a:t>예산 </a:t>
            </a:r>
            <a:r>
              <a:rPr lang="en-US" altLang="ko-KR" sz="950" b="1">
                <a:solidFill>
                  <a:srgbClr val="1F3864"/>
                </a:solidFill>
                <a:latin typeface="맑은 고딕" panose="020B0503020000020004" pitchFamily="50" charset="-127"/>
              </a:rPr>
              <a:t>(16GB) — MAF </a:t>
            </a:r>
            <a:r>
              <a:rPr lang="ko-KR" altLang="en-US" sz="950" b="1">
                <a:solidFill>
                  <a:srgbClr val="1F3864"/>
                </a:solidFill>
                <a:latin typeface="맑은 고딕" panose="020B0503020000020004" pitchFamily="50" charset="-127"/>
              </a:rPr>
              <a:t>가용 ≈ </a:t>
            </a:r>
            <a:r>
              <a:rPr lang="en-US" altLang="ko-KR" sz="950" b="1">
                <a:solidFill>
                  <a:srgbClr val="1F3864"/>
                </a:solidFill>
                <a:latin typeface="맑은 고딕" panose="020B0503020000020004" pitchFamily="50" charset="-127"/>
              </a:rPr>
              <a:t>2GB</a:t>
            </a:r>
            <a:endParaRPr lang="ko-KR" altLang="en-US" sz="950" b="1">
              <a:solidFill>
                <a:srgbClr val="1F38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CF00108-BDBE-7676-AF9C-EE7371987C54}"/>
              </a:ext>
            </a:extLst>
          </p:cNvPr>
          <p:cNvSpPr/>
          <p:nvPr/>
        </p:nvSpPr>
        <p:spPr>
          <a:xfrm>
            <a:off x="6489700" y="2552700"/>
            <a:ext cx="5410200" cy="609600"/>
          </a:xfrm>
          <a:prstGeom prst="roundRect">
            <a:avLst>
              <a:gd name="adj" fmla="val 12000"/>
            </a:avLst>
          </a:prstGeom>
          <a:solidFill>
            <a:srgbClr val="EFF3F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EFB56C0-55A6-9A24-775D-6B3A2CAD63AA}"/>
              </a:ext>
            </a:extLst>
          </p:cNvPr>
          <p:cNvSpPr/>
          <p:nvPr/>
        </p:nvSpPr>
        <p:spPr>
          <a:xfrm>
            <a:off x="6527800" y="2590800"/>
            <a:ext cx="1511300" cy="533400"/>
          </a:xfrm>
          <a:prstGeom prst="roundRect">
            <a:avLst>
              <a:gd name="adj" fmla="val 16000"/>
            </a:avLst>
          </a:prstGeom>
          <a:gradFill flip="none" rotWithShape="1">
            <a:gsLst>
              <a:gs pos="0">
                <a:srgbClr val="A5AFBE"/>
              </a:gs>
              <a:gs pos="100000">
                <a:srgbClr val="8491A2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맑은 고딕" panose="020B0503020000020004" pitchFamily="50" charset="-127"/>
              </a:rPr>
              <a:t>OS·</a:t>
            </a:r>
            <a:r>
              <a:rPr lang="ko-KR" altLang="en-US" sz="750" b="1">
                <a:solidFill>
                  <a:srgbClr val="FFFFFF"/>
                </a:solidFill>
                <a:latin typeface="맑은 고딕" panose="020B0503020000020004" pitchFamily="50" charset="-127"/>
              </a:rPr>
              <a:t>시스템
</a:t>
            </a:r>
            <a:r>
              <a:rPr lang="en-US" altLang="ko-KR" sz="750" b="1">
                <a:solidFill>
                  <a:srgbClr val="FFFFFF"/>
                </a:solidFill>
                <a:latin typeface="맑은 고딕" panose="020B0503020000020004" pitchFamily="50" charset="-127"/>
              </a:rPr>
              <a:t>~4.5GB</a:t>
            </a:r>
            <a:endParaRPr lang="ko-KR" altLang="en-US" sz="7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DA11131-77BE-026F-05E0-801D25A6238F}"/>
              </a:ext>
            </a:extLst>
          </p:cNvPr>
          <p:cNvSpPr/>
          <p:nvPr/>
        </p:nvSpPr>
        <p:spPr>
          <a:xfrm>
            <a:off x="8077200" y="2590800"/>
            <a:ext cx="622300" cy="533400"/>
          </a:xfrm>
          <a:prstGeom prst="roundRect">
            <a:avLst>
              <a:gd name="adj" fmla="val 16000"/>
            </a:avLst>
          </a:prstGeom>
          <a:gradFill flip="none" rotWithShape="1">
            <a:gsLst>
              <a:gs pos="0">
                <a:srgbClr val="408EF6"/>
              </a:gs>
              <a:gs pos="100000">
                <a:srgbClr val="2563EB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맑은 고딕" panose="020B0503020000020004" pitchFamily="50" charset="-127"/>
              </a:rPr>
              <a:t>App
~2GB</a:t>
            </a:r>
            <a:endParaRPr lang="ko-KR" altLang="en-US" sz="7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66C48D3-38A5-4DC3-3F30-9D662E6EB859}"/>
              </a:ext>
            </a:extLst>
          </p:cNvPr>
          <p:cNvSpPr/>
          <p:nvPr/>
        </p:nvSpPr>
        <p:spPr>
          <a:xfrm>
            <a:off x="8737600" y="2590800"/>
            <a:ext cx="838200" cy="533400"/>
          </a:xfrm>
          <a:prstGeom prst="roundRect">
            <a:avLst>
              <a:gd name="adj" fmla="val 16000"/>
            </a:avLst>
          </a:prstGeom>
          <a:gradFill flip="none" rotWithShape="1">
            <a:gsLst>
              <a:gs pos="0">
                <a:srgbClr val="54649E"/>
              </a:gs>
              <a:gs pos="100000">
                <a:srgbClr val="38487C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맑은 고딕" panose="020B0503020000020004" pitchFamily="50" charset="-127"/>
              </a:rPr>
              <a:t>IDS
~2.5GB</a:t>
            </a:r>
            <a:endParaRPr lang="ko-KR" altLang="en-US" sz="7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0B9109B-F64D-B7D8-83E3-84339913308C}"/>
              </a:ext>
            </a:extLst>
          </p:cNvPr>
          <p:cNvSpPr/>
          <p:nvPr/>
        </p:nvSpPr>
        <p:spPr>
          <a:xfrm>
            <a:off x="9613900" y="2590800"/>
            <a:ext cx="622300" cy="533400"/>
          </a:xfrm>
          <a:prstGeom prst="roundRect">
            <a:avLst>
              <a:gd name="adj" fmla="val 16000"/>
            </a:avLst>
          </a:prstGeom>
          <a:gradFill flip="none" rotWithShape="1">
            <a:gsLst>
              <a:gs pos="0">
                <a:srgbClr val="F59E0B"/>
              </a:gs>
              <a:gs pos="100000">
                <a:srgbClr val="E77616"/>
              </a:gs>
            </a:gsLst>
            <a:lin ang="0" scaled="1"/>
            <a:tileRect/>
          </a:gra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맑은 고딕" panose="020B0503020000020004" pitchFamily="50" charset="-127"/>
              </a:rPr>
              <a:t>MAF
~2GB</a:t>
            </a:r>
            <a:endParaRPr lang="ko-KR" altLang="en-US" sz="75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8C62833-CFB2-F277-3DA7-E5009B6DC84F}"/>
              </a:ext>
            </a:extLst>
          </p:cNvPr>
          <p:cNvSpPr/>
          <p:nvPr/>
        </p:nvSpPr>
        <p:spPr>
          <a:xfrm>
            <a:off x="10274300" y="2590800"/>
            <a:ext cx="1625600" cy="533400"/>
          </a:xfrm>
          <a:prstGeom prst="roundRect">
            <a:avLst>
              <a:gd name="adj" fmla="val 16000"/>
            </a:avLst>
          </a:prstGeom>
          <a:solidFill>
            <a:srgbClr val="E9EEF5"/>
          </a:solidFill>
          <a:ln w="15240">
            <a:solidFill>
              <a:srgbClr val="96A5B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ko-KR" altLang="en-US" sz="750" b="1">
                <a:solidFill>
                  <a:srgbClr val="6E7D91"/>
                </a:solidFill>
                <a:latin typeface="맑은 고딕" panose="020B0503020000020004" pitchFamily="50" charset="-127"/>
              </a:rPr>
              <a:t>여유</a:t>
            </a:r>
            <a:r>
              <a:rPr lang="en-US" altLang="ko-KR" sz="750" b="1">
                <a:solidFill>
                  <a:srgbClr val="6E7D9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750" b="1">
                <a:solidFill>
                  <a:srgbClr val="6E7D91"/>
                </a:solidFill>
                <a:latin typeface="맑은 고딕" panose="020B0503020000020004" pitchFamily="50" charset="-127"/>
              </a:rPr>
              <a:t>캐시
</a:t>
            </a:r>
            <a:r>
              <a:rPr lang="en-US" altLang="ko-KR" sz="750" b="1">
                <a:solidFill>
                  <a:srgbClr val="6E7D91"/>
                </a:solidFill>
                <a:latin typeface="맑은 고딕" panose="020B0503020000020004" pitchFamily="50" charset="-127"/>
              </a:rPr>
              <a:t>~5GB</a:t>
            </a:r>
            <a:endParaRPr lang="ko-KR" altLang="en-US" sz="750" b="1">
              <a:solidFill>
                <a:srgbClr val="6E7D9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85BD2D1-1343-DD3A-E6A3-A6189DAC33B8}"/>
              </a:ext>
            </a:extLst>
          </p:cNvPr>
          <p:cNvSpPr/>
          <p:nvPr/>
        </p:nvSpPr>
        <p:spPr>
          <a:xfrm>
            <a:off x="6502400" y="3175000"/>
            <a:ext cx="5562600" cy="330200"/>
          </a:xfrm>
          <a:prstGeom prst="roundRect">
            <a:avLst>
              <a:gd name="adj" fmla="val 32000"/>
            </a:avLst>
          </a:prstGeom>
          <a:solidFill>
            <a:srgbClr val="FCF3E9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en-US" altLang="ko-KR" sz="850" b="1">
                <a:solidFill>
                  <a:srgbClr val="1F3864"/>
                </a:solidFill>
                <a:latin typeface="맑은 고딕" panose="020B0503020000020004" pitchFamily="50" charset="-127"/>
              </a:rPr>
              <a:t>MAF </a:t>
            </a:r>
            <a:r>
              <a:rPr lang="ko-KR" altLang="en-US" sz="850" b="1">
                <a:solidFill>
                  <a:srgbClr val="1F3864"/>
                </a:solidFill>
                <a:latin typeface="맑은 고딕" panose="020B0503020000020004" pitchFamily="50" charset="-127"/>
              </a:rPr>
              <a:t>가용 ≈ </a:t>
            </a:r>
            <a:r>
              <a:rPr lang="en-US" altLang="ko-KR" sz="850" b="1">
                <a:solidFill>
                  <a:srgbClr val="1F3864"/>
                </a:solidFill>
                <a:latin typeface="맑은 고딕" panose="020B0503020000020004" pitchFamily="50" charset="-127"/>
              </a:rPr>
              <a:t>2GB → </a:t>
            </a:r>
            <a:r>
              <a:rPr lang="ko-KR" altLang="en-US" sz="850" b="1">
                <a:solidFill>
                  <a:srgbClr val="1F3864"/>
                </a:solidFill>
                <a:latin typeface="맑은 고딕" panose="020B0503020000020004" pitchFamily="50" charset="-127"/>
              </a:rPr>
              <a:t>양자화 모델 딱 </a:t>
            </a:r>
            <a:r>
              <a:rPr lang="en-US" altLang="ko-KR" sz="850" b="1">
                <a:solidFill>
                  <a:srgbClr val="1F3864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50" b="1">
                <a:solidFill>
                  <a:srgbClr val="1F3864"/>
                </a:solidFill>
                <a:latin typeface="맑은 고딕" panose="020B0503020000020004" pitchFamily="50" charset="-127"/>
              </a:rPr>
              <a:t>개만 상주 가능 </a:t>
            </a:r>
            <a:r>
              <a:rPr lang="en-US" altLang="ko-KR" sz="850" b="1">
                <a:solidFill>
                  <a:srgbClr val="1F3864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50" b="1">
                <a:solidFill>
                  <a:srgbClr val="1F3864"/>
                </a:solidFill>
                <a:latin typeface="맑은 고딕" panose="020B0503020000020004" pitchFamily="50" charset="-127"/>
              </a:rPr>
              <a:t>전제 </a:t>
            </a:r>
            <a:r>
              <a:rPr lang="en-US" altLang="ko-KR" sz="850" b="1">
                <a:solidFill>
                  <a:srgbClr val="1F3864"/>
                </a:solidFill>
                <a:latin typeface="맑은 고딕" panose="020B0503020000020004" pitchFamily="50" charset="-127"/>
              </a:rPr>
              <a:t>P2)</a:t>
            </a:r>
            <a:endParaRPr lang="ko-KR" altLang="en-US" sz="850" b="1">
              <a:solidFill>
                <a:srgbClr val="1F38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D9DC3E-1A76-11EA-FD5A-737675754F3A}"/>
              </a:ext>
            </a:extLst>
          </p:cNvPr>
          <p:cNvSpPr txBox="1"/>
          <p:nvPr/>
        </p:nvSpPr>
        <p:spPr>
          <a:xfrm>
            <a:off x="6502400" y="3657600"/>
            <a:ext cx="5562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50" b="1">
                <a:solidFill>
                  <a:srgbClr val="1F3864"/>
                </a:solidFill>
                <a:latin typeface="맑은 고딕" panose="020B0503020000020004" pitchFamily="50" charset="-127"/>
              </a:rPr>
              <a:t>③ 여러 추론이 </a:t>
            </a:r>
            <a:r>
              <a:rPr lang="en-US" altLang="ko-KR" sz="950" b="1">
                <a:solidFill>
                  <a:srgbClr val="1F3864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950" b="1">
                <a:solidFill>
                  <a:srgbClr val="1F3864"/>
                </a:solidFill>
                <a:latin typeface="맑은 고딕" panose="020B0503020000020004" pitchFamily="50" charset="-127"/>
              </a:rPr>
              <a:t>개 슬롯을 시분할 공유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6BDB0BF-AD25-DF43-DC06-A3A0A7E475EE}"/>
              </a:ext>
            </a:extLst>
          </p:cNvPr>
          <p:cNvSpPr/>
          <p:nvPr/>
        </p:nvSpPr>
        <p:spPr>
          <a:xfrm>
            <a:off x="6502400" y="3886200"/>
            <a:ext cx="317500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FB40FA6-1E8A-BC93-2232-7DAFEF89BAE2}"/>
              </a:ext>
            </a:extLst>
          </p:cNvPr>
          <p:cNvSpPr/>
          <p:nvPr/>
        </p:nvSpPr>
        <p:spPr>
          <a:xfrm>
            <a:off x="6578600" y="3949700"/>
            <a:ext cx="406400" cy="4064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0D9488"/>
              </a:gs>
              <a:gs pos="100000">
                <a:srgbClr val="09746C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7F40D01-30CF-545A-E33C-E377D02EE478}"/>
              </a:ext>
            </a:extLst>
          </p:cNvPr>
          <p:cNvSpPr/>
          <p:nvPr/>
        </p:nvSpPr>
        <p:spPr>
          <a:xfrm>
            <a:off x="6654800" y="4178300"/>
            <a:ext cx="508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8206BE-9925-FDB7-85EC-5A540CF46DD4}"/>
              </a:ext>
            </a:extLst>
          </p:cNvPr>
          <p:cNvSpPr/>
          <p:nvPr/>
        </p:nvSpPr>
        <p:spPr>
          <a:xfrm>
            <a:off x="6743700" y="4114800"/>
            <a:ext cx="50800" cy="152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2DF7CD9-DBBB-6B56-ABB3-792247FEC35A}"/>
              </a:ext>
            </a:extLst>
          </p:cNvPr>
          <p:cNvSpPr/>
          <p:nvPr/>
        </p:nvSpPr>
        <p:spPr>
          <a:xfrm>
            <a:off x="6832600" y="4051300"/>
            <a:ext cx="50800" cy="215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6B693D-5733-75DC-5CCD-3305B06AA62D}"/>
              </a:ext>
            </a:extLst>
          </p:cNvPr>
          <p:cNvSpPr txBox="1"/>
          <p:nvPr/>
        </p:nvSpPr>
        <p:spPr>
          <a:xfrm>
            <a:off x="7061200" y="3937000"/>
            <a:ext cx="1778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50" b="1">
                <a:solidFill>
                  <a:srgbClr val="1F3864"/>
                </a:solidFill>
                <a:latin typeface="맑은 고딕" panose="020B0503020000020004" pitchFamily="50" charset="-127"/>
              </a:rPr>
              <a:t>협상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742A52-11E4-5336-C86E-784BB7DE3967}"/>
              </a:ext>
            </a:extLst>
          </p:cNvPr>
          <p:cNvSpPr txBox="1"/>
          <p:nvPr/>
        </p:nvSpPr>
        <p:spPr>
          <a:xfrm>
            <a:off x="7061200" y="4165600"/>
            <a:ext cx="1905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700">
                <a:solidFill>
                  <a:srgbClr val="6E7D91"/>
                </a:solidFill>
                <a:latin typeface="맑은 고딕" panose="020B0503020000020004" pitchFamily="50" charset="-127"/>
              </a:rPr>
              <a:t>제안</a:t>
            </a:r>
            <a:r>
              <a:rPr lang="en-US" altLang="ko-KR" sz="700">
                <a:solidFill>
                  <a:srgbClr val="6E7D9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700">
                <a:solidFill>
                  <a:srgbClr val="6E7D91"/>
                </a:solidFill>
                <a:latin typeface="맑은 고딕" panose="020B0503020000020004" pitchFamily="50" charset="-127"/>
              </a:rPr>
              <a:t>역제안</a:t>
            </a:r>
            <a:r>
              <a:rPr lang="en-US" altLang="ko-KR" sz="700">
                <a:solidFill>
                  <a:srgbClr val="6E7D9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700">
                <a:solidFill>
                  <a:srgbClr val="6E7D91"/>
                </a:solidFill>
                <a:latin typeface="맑은 고딕" panose="020B0503020000020004" pitchFamily="50" charset="-127"/>
              </a:rPr>
              <a:t>합의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A4FBFE7-6887-20A8-1EFC-34D4D0986BA0}"/>
              </a:ext>
            </a:extLst>
          </p:cNvPr>
          <p:cNvSpPr/>
          <p:nvPr/>
        </p:nvSpPr>
        <p:spPr>
          <a:xfrm>
            <a:off x="8940800" y="4038600"/>
            <a:ext cx="635000" cy="2286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대형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603A069-8DCA-AF31-3415-DF5ACC18420D}"/>
              </a:ext>
            </a:extLst>
          </p:cNvPr>
          <p:cNvSpPr/>
          <p:nvPr/>
        </p:nvSpPr>
        <p:spPr>
          <a:xfrm>
            <a:off x="6502400" y="4470400"/>
            <a:ext cx="317500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6E19672-E0A8-7D67-9DD1-22480DA26A3B}"/>
              </a:ext>
            </a:extLst>
          </p:cNvPr>
          <p:cNvSpPr/>
          <p:nvPr/>
        </p:nvSpPr>
        <p:spPr>
          <a:xfrm>
            <a:off x="6578600" y="4533900"/>
            <a:ext cx="406400" cy="4064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408EF6"/>
              </a:gs>
              <a:gs pos="100000">
                <a:srgbClr val="2563EB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98A2865-DBA4-3212-B93E-85B06C976F81}"/>
              </a:ext>
            </a:extLst>
          </p:cNvPr>
          <p:cNvSpPr/>
          <p:nvPr/>
        </p:nvSpPr>
        <p:spPr>
          <a:xfrm>
            <a:off x="6654800" y="4762500"/>
            <a:ext cx="508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0576A53-499F-13CB-2FC2-35BFE96E408F}"/>
              </a:ext>
            </a:extLst>
          </p:cNvPr>
          <p:cNvSpPr/>
          <p:nvPr/>
        </p:nvSpPr>
        <p:spPr>
          <a:xfrm>
            <a:off x="6743700" y="4699000"/>
            <a:ext cx="50800" cy="152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1F9B1A7-BEC7-02FA-EA00-38A0306F681C}"/>
              </a:ext>
            </a:extLst>
          </p:cNvPr>
          <p:cNvSpPr/>
          <p:nvPr/>
        </p:nvSpPr>
        <p:spPr>
          <a:xfrm>
            <a:off x="6832600" y="4635500"/>
            <a:ext cx="50800" cy="215900"/>
          </a:xfrm>
          <a:prstGeom prst="rect">
            <a:avLst/>
          </a:prstGeom>
          <a:solidFill>
            <a:srgbClr val="C8D7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C55568-147A-F2DE-B460-298081185BDE}"/>
              </a:ext>
            </a:extLst>
          </p:cNvPr>
          <p:cNvSpPr txBox="1"/>
          <p:nvPr/>
        </p:nvSpPr>
        <p:spPr>
          <a:xfrm>
            <a:off x="7061200" y="4521200"/>
            <a:ext cx="1778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50" b="1">
                <a:solidFill>
                  <a:srgbClr val="1F3864"/>
                </a:solidFill>
                <a:latin typeface="맑은 고딕" panose="020B0503020000020004" pitchFamily="50" charset="-127"/>
              </a:rPr>
              <a:t>판정</a:t>
            </a:r>
            <a:r>
              <a:rPr lang="en-US" altLang="ko-KR" sz="950" b="1">
                <a:solidFill>
                  <a:srgbClr val="1F3864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50" b="1">
                <a:solidFill>
                  <a:srgbClr val="1F3864"/>
                </a:solidFill>
                <a:latin typeface="맑은 고딕" panose="020B0503020000020004" pitchFamily="50" charset="-127"/>
              </a:rPr>
              <a:t>요약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FF7B53-4BD7-8DC8-DA46-E2883307AE69}"/>
              </a:ext>
            </a:extLst>
          </p:cNvPr>
          <p:cNvSpPr txBox="1"/>
          <p:nvPr/>
        </p:nvSpPr>
        <p:spPr>
          <a:xfrm>
            <a:off x="7061200" y="4749800"/>
            <a:ext cx="1905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700">
                <a:solidFill>
                  <a:srgbClr val="6E7D91"/>
                </a:solidFill>
                <a:latin typeface="맑은 고딕" panose="020B0503020000020004" pitchFamily="50" charset="-127"/>
              </a:rPr>
              <a:t>민감도 판정</a:t>
            </a:r>
            <a:r>
              <a:rPr lang="en-US" altLang="ko-KR" sz="700">
                <a:solidFill>
                  <a:srgbClr val="6E7D9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700">
                <a:solidFill>
                  <a:srgbClr val="6E7D91"/>
                </a:solidFill>
                <a:latin typeface="맑은 고딕" panose="020B0503020000020004" pitchFamily="50" charset="-127"/>
              </a:rPr>
              <a:t>합의 요약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A0866EB-C5DD-6825-D8CE-881EA8E2B79F}"/>
              </a:ext>
            </a:extLst>
          </p:cNvPr>
          <p:cNvSpPr/>
          <p:nvPr/>
        </p:nvSpPr>
        <p:spPr>
          <a:xfrm>
            <a:off x="8940800" y="4622800"/>
            <a:ext cx="635000" cy="228600"/>
          </a:xfrm>
          <a:prstGeom prst="roundRect">
            <a:avLst>
              <a:gd name="adj" fmla="val 50000"/>
            </a:avLst>
          </a:prstGeom>
          <a:solidFill>
            <a:srgbClr val="408E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중형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5D80CF9-FBC4-293C-94AF-26E5EB0F99A7}"/>
              </a:ext>
            </a:extLst>
          </p:cNvPr>
          <p:cNvSpPr/>
          <p:nvPr/>
        </p:nvSpPr>
        <p:spPr>
          <a:xfrm>
            <a:off x="6502400" y="5054600"/>
            <a:ext cx="3175000" cy="53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3ED"/>
            </a:solidFill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E349095-D689-D7B0-7B4F-3DC297BA8486}"/>
              </a:ext>
            </a:extLst>
          </p:cNvPr>
          <p:cNvSpPr/>
          <p:nvPr/>
        </p:nvSpPr>
        <p:spPr>
          <a:xfrm>
            <a:off x="6578600" y="5118100"/>
            <a:ext cx="406400" cy="406400"/>
          </a:xfrm>
          <a:prstGeom prst="roundRect">
            <a:avLst>
              <a:gd name="adj" fmla="val 22000"/>
            </a:avLst>
          </a:prstGeom>
          <a:gradFill flip="none" rotWithShape="1">
            <a:gsLst>
              <a:gs pos="0">
                <a:srgbClr val="6D6EF0"/>
              </a:gs>
              <a:gs pos="100000">
                <a:srgbClr val="4F46E5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8715B3F-909F-5856-0392-3A0B02F03E66}"/>
              </a:ext>
            </a:extLst>
          </p:cNvPr>
          <p:cNvSpPr/>
          <p:nvPr/>
        </p:nvSpPr>
        <p:spPr>
          <a:xfrm>
            <a:off x="6654800" y="5346700"/>
            <a:ext cx="508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69FF674-9FFB-2959-B823-66A37DEF4F0C}"/>
              </a:ext>
            </a:extLst>
          </p:cNvPr>
          <p:cNvSpPr/>
          <p:nvPr/>
        </p:nvSpPr>
        <p:spPr>
          <a:xfrm>
            <a:off x="6743700" y="5283200"/>
            <a:ext cx="50800" cy="152400"/>
          </a:xfrm>
          <a:prstGeom prst="rect">
            <a:avLst/>
          </a:prstGeom>
          <a:solidFill>
            <a:srgbClr val="C8D7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5D838E0-2ABE-F9D4-290E-AD6EA3B6ED79}"/>
              </a:ext>
            </a:extLst>
          </p:cNvPr>
          <p:cNvSpPr/>
          <p:nvPr/>
        </p:nvSpPr>
        <p:spPr>
          <a:xfrm>
            <a:off x="6832600" y="5219700"/>
            <a:ext cx="50800" cy="215900"/>
          </a:xfrm>
          <a:prstGeom prst="rect">
            <a:avLst/>
          </a:prstGeom>
          <a:solidFill>
            <a:srgbClr val="C8D7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F526E7-32EF-46DB-CFF4-5D923857414F}"/>
              </a:ext>
            </a:extLst>
          </p:cNvPr>
          <p:cNvSpPr txBox="1"/>
          <p:nvPr/>
        </p:nvSpPr>
        <p:spPr>
          <a:xfrm>
            <a:off x="7061200" y="5105400"/>
            <a:ext cx="1778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50" b="1">
                <a:solidFill>
                  <a:srgbClr val="1F3864"/>
                </a:solidFill>
                <a:latin typeface="맑은 고딕" panose="020B0503020000020004" pitchFamily="50" charset="-127"/>
              </a:rPr>
              <a:t>툴 호출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DB136C-740A-B3FB-09D9-4B148EB4FCE2}"/>
              </a:ext>
            </a:extLst>
          </p:cNvPr>
          <p:cNvSpPr txBox="1"/>
          <p:nvPr/>
        </p:nvSpPr>
        <p:spPr>
          <a:xfrm>
            <a:off x="7061200" y="5334000"/>
            <a:ext cx="1905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700">
                <a:solidFill>
                  <a:srgbClr val="6E7D91"/>
                </a:solidFill>
                <a:latin typeface="맑은 고딕" panose="020B0503020000020004" pitchFamily="50" charset="-127"/>
              </a:rPr>
              <a:t>툴 선택</a:t>
            </a:r>
            <a:r>
              <a:rPr lang="en-US" altLang="ko-KR" sz="700">
                <a:solidFill>
                  <a:srgbClr val="6E7D9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700">
                <a:solidFill>
                  <a:srgbClr val="6E7D91"/>
                </a:solidFill>
                <a:latin typeface="맑은 고딕" panose="020B0503020000020004" pitchFamily="50" charset="-127"/>
              </a:rPr>
              <a:t>인자 구성</a:t>
            </a:r>
            <a:r>
              <a:rPr lang="en-US" altLang="ko-KR" sz="700">
                <a:solidFill>
                  <a:srgbClr val="6E7D91"/>
                </a:solidFill>
                <a:latin typeface="맑은 고딕" panose="020B0503020000020004" pitchFamily="50" charset="-127"/>
              </a:rPr>
              <a:t>(SA)</a:t>
            </a:r>
            <a:endParaRPr lang="ko-KR" altLang="en-US" sz="700">
              <a:solidFill>
                <a:srgbClr val="6E7D9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B0AAB12-7F5F-4B0D-B2EE-1FBE5E389741}"/>
              </a:ext>
            </a:extLst>
          </p:cNvPr>
          <p:cNvSpPr/>
          <p:nvPr/>
        </p:nvSpPr>
        <p:spPr>
          <a:xfrm>
            <a:off x="8940800" y="5207000"/>
            <a:ext cx="635000" cy="228600"/>
          </a:xfrm>
          <a:prstGeom prst="roundRect">
            <a:avLst>
              <a:gd name="adj" fmla="val 50000"/>
            </a:avLst>
          </a:prstGeom>
          <a:solidFill>
            <a:srgbClr val="6D6E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소형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2CECC8B-F371-FC44-9D6C-1E6C3C400BE9}"/>
              </a:ext>
            </a:extLst>
          </p:cNvPr>
          <p:cNvSpPr/>
          <p:nvPr/>
        </p:nvSpPr>
        <p:spPr>
          <a:xfrm>
            <a:off x="10058400" y="3962400"/>
            <a:ext cx="19304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F59E0B"/>
            </a:solidFill>
          </a:ln>
          <a:effectLst>
            <a:outerShdw blurRad="50800" dist="22895" dir="3378584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41A3FC-318C-DBD6-DF46-A55F05496624}"/>
              </a:ext>
            </a:extLst>
          </p:cNvPr>
          <p:cNvSpPr txBox="1"/>
          <p:nvPr/>
        </p:nvSpPr>
        <p:spPr>
          <a:xfrm>
            <a:off x="10058400" y="4064000"/>
            <a:ext cx="1930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900" b="1">
                <a:solidFill>
                  <a:srgbClr val="E77616"/>
                </a:solidFill>
                <a:latin typeface="맑은 고딕" panose="020B0503020000020004" pitchFamily="50" charset="-127"/>
              </a:rPr>
              <a:t>MAF </a:t>
            </a:r>
            <a:r>
              <a:rPr lang="ko-KR" altLang="en-US" sz="900" b="1">
                <a:solidFill>
                  <a:srgbClr val="E77616"/>
                </a:solidFill>
                <a:latin typeface="맑은 고딕" panose="020B0503020000020004" pitchFamily="50" charset="-127"/>
              </a:rPr>
              <a:t>추론 슬롯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6FB7E2C2-FDD8-A6B6-E02A-E2FC402FA609}"/>
              </a:ext>
            </a:extLst>
          </p:cNvPr>
          <p:cNvSpPr/>
          <p:nvPr/>
        </p:nvSpPr>
        <p:spPr>
          <a:xfrm>
            <a:off x="10337800" y="4394200"/>
            <a:ext cx="1371600" cy="584200"/>
          </a:xfrm>
          <a:prstGeom prst="roundRect">
            <a:avLst>
              <a:gd name="adj" fmla="val 16000"/>
            </a:avLst>
          </a:prstGeom>
          <a:gradFill flip="none" rotWithShape="1">
            <a:gsLst>
              <a:gs pos="0">
                <a:srgbClr val="F59E0B"/>
              </a:gs>
              <a:gs pos="100000">
                <a:srgbClr val="E77616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모델 </a:t>
            </a:r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1F68E408-C472-CF20-77A0-6E68170F6FC3}"/>
              </a:ext>
            </a:extLst>
          </p:cNvPr>
          <p:cNvSpPr/>
          <p:nvPr/>
        </p:nvSpPr>
        <p:spPr>
          <a:xfrm>
            <a:off x="10337800" y="5080000"/>
            <a:ext cx="13716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ko-KR" altLang="en-US" sz="800" b="1">
                <a:solidFill>
                  <a:srgbClr val="E77616"/>
                </a:solidFill>
                <a:latin typeface="맑은 고딕" panose="020B0503020000020004" pitchFamily="50" charset="-127"/>
              </a:rPr>
              <a:t>한 번에 </a:t>
            </a:r>
            <a:r>
              <a:rPr lang="en-US" altLang="ko-KR" sz="800" b="1">
                <a:solidFill>
                  <a:srgbClr val="E77616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800" b="1">
                <a:solidFill>
                  <a:srgbClr val="E77616"/>
                </a:solidFill>
                <a:latin typeface="맑은 고딕" panose="020B0503020000020004" pitchFamily="50" charset="-127"/>
              </a:rPr>
              <a:t>개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6E3E069-7582-A024-3177-E3E3926F0DFA}"/>
              </a:ext>
            </a:extLst>
          </p:cNvPr>
          <p:cNvCxnSpPr/>
          <p:nvPr/>
        </p:nvCxnSpPr>
        <p:spPr>
          <a:xfrm>
            <a:off x="9677400" y="4152900"/>
            <a:ext cx="381000" cy="228600"/>
          </a:xfrm>
          <a:prstGeom prst="line">
            <a:avLst/>
          </a:prstGeom>
          <a:ln w="28575">
            <a:solidFill>
              <a:srgbClr val="96A5B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B8EE702-0E6E-A5B5-68CA-197945AADCF8}"/>
              </a:ext>
            </a:extLst>
          </p:cNvPr>
          <p:cNvCxnSpPr/>
          <p:nvPr/>
        </p:nvCxnSpPr>
        <p:spPr>
          <a:xfrm flipV="1">
            <a:off x="9677400" y="4724400"/>
            <a:ext cx="381000" cy="12700"/>
          </a:xfrm>
          <a:prstGeom prst="line">
            <a:avLst/>
          </a:prstGeom>
          <a:ln w="28575">
            <a:solidFill>
              <a:srgbClr val="96A5B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94A7DCB-FF88-D98C-52FB-96AEFB387149}"/>
              </a:ext>
            </a:extLst>
          </p:cNvPr>
          <p:cNvCxnSpPr/>
          <p:nvPr/>
        </p:nvCxnSpPr>
        <p:spPr>
          <a:xfrm flipV="1">
            <a:off x="9677400" y="5067300"/>
            <a:ext cx="381000" cy="254000"/>
          </a:xfrm>
          <a:prstGeom prst="line">
            <a:avLst/>
          </a:prstGeom>
          <a:ln w="28575">
            <a:solidFill>
              <a:srgbClr val="96A5B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226C6C4A-0388-0DE4-7624-A15FF5321B00}"/>
              </a:ext>
            </a:extLst>
          </p:cNvPr>
          <p:cNvSpPr/>
          <p:nvPr/>
        </p:nvSpPr>
        <p:spPr>
          <a:xfrm>
            <a:off x="6502400" y="5664200"/>
            <a:ext cx="5562600" cy="83820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 w="12700">
            <a:solidFill>
              <a:srgbClr val="DCE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D65A8C-B263-17E9-FC47-9FB8076BE66C}"/>
              </a:ext>
            </a:extLst>
          </p:cNvPr>
          <p:cNvSpPr txBox="1"/>
          <p:nvPr/>
        </p:nvSpPr>
        <p:spPr>
          <a:xfrm>
            <a:off x="6604000" y="5715000"/>
            <a:ext cx="5461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800" b="1">
                <a:solidFill>
                  <a:srgbClr val="1F3864"/>
                </a:solidFill>
                <a:latin typeface="맑은 고딕" panose="020B0503020000020004" pitchFamily="50" charset="-127"/>
              </a:rPr>
              <a:t>한 슬롯이 시간에 따라 다른 모델을 적재 </a:t>
            </a:r>
            <a:r>
              <a:rPr lang="en-US" altLang="ko-KR" sz="800" b="1">
                <a:solidFill>
                  <a:srgbClr val="1F3864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800" b="1">
                <a:solidFill>
                  <a:srgbClr val="1F3864"/>
                </a:solidFill>
                <a:latin typeface="맑은 고딕" panose="020B0503020000020004" pitchFamily="50" charset="-127"/>
              </a:rPr>
              <a:t>시분할</a:t>
            </a:r>
            <a:r>
              <a:rPr lang="en-US" altLang="ko-KR" sz="800" b="1">
                <a:solidFill>
                  <a:srgbClr val="1F3864"/>
                </a:solidFill>
                <a:latin typeface="맑은 고딕" panose="020B0503020000020004" pitchFamily="50" charset="-127"/>
              </a:rPr>
              <a:t>(time-sharing)</a:t>
            </a:r>
            <a:endParaRPr lang="ko-KR" altLang="en-US" sz="800" b="1">
              <a:solidFill>
                <a:srgbClr val="1F386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589A03A6-047B-27DA-C37A-40C6E7F00F5C}"/>
              </a:ext>
            </a:extLst>
          </p:cNvPr>
          <p:cNvSpPr/>
          <p:nvPr/>
        </p:nvSpPr>
        <p:spPr>
          <a:xfrm>
            <a:off x="6604000" y="5943600"/>
            <a:ext cx="1168400" cy="27940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0D9488"/>
              </a:gs>
              <a:gs pos="100000">
                <a:srgbClr val="09746C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ko-KR" altLang="en-US" sz="700" b="1">
                <a:solidFill>
                  <a:srgbClr val="FFFFFF"/>
                </a:solidFill>
                <a:latin typeface="맑은 고딕" panose="020B0503020000020004" pitchFamily="50" charset="-127"/>
              </a:rPr>
              <a:t>협상 모델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12EEDDC7-D1AA-D5B7-7EA2-CE4A7EA895D2}"/>
              </a:ext>
            </a:extLst>
          </p:cNvPr>
          <p:cNvSpPr/>
          <p:nvPr/>
        </p:nvSpPr>
        <p:spPr>
          <a:xfrm>
            <a:off x="7810500" y="5943600"/>
            <a:ext cx="584200" cy="27940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6D6EF0"/>
              </a:gs>
              <a:gs pos="100000">
                <a:srgbClr val="4F46E5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ko-KR" altLang="en-US" sz="700" b="1">
                <a:solidFill>
                  <a:srgbClr val="FFFFFF"/>
                </a:solidFill>
                <a:latin typeface="맑은 고딕" panose="020B0503020000020004" pitchFamily="50" charset="-127"/>
              </a:rPr>
              <a:t>툴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43C67BE0-871A-3529-17E7-C4D4D2694648}"/>
              </a:ext>
            </a:extLst>
          </p:cNvPr>
          <p:cNvSpPr/>
          <p:nvPr/>
        </p:nvSpPr>
        <p:spPr>
          <a:xfrm>
            <a:off x="8432800" y="5943600"/>
            <a:ext cx="1168400" cy="27940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0D9488"/>
              </a:gs>
              <a:gs pos="100000">
                <a:srgbClr val="09746C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ko-KR" altLang="en-US" sz="700" b="1">
                <a:solidFill>
                  <a:srgbClr val="FFFFFF"/>
                </a:solidFill>
                <a:latin typeface="맑은 고딕" panose="020B0503020000020004" pitchFamily="50" charset="-127"/>
              </a:rPr>
              <a:t>협상 모델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7F67ACA4-6A30-6D70-575A-AC4DB1D23942}"/>
              </a:ext>
            </a:extLst>
          </p:cNvPr>
          <p:cNvSpPr/>
          <p:nvPr/>
        </p:nvSpPr>
        <p:spPr>
          <a:xfrm>
            <a:off x="9639300" y="5943600"/>
            <a:ext cx="762000" cy="27940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408EF6"/>
              </a:gs>
              <a:gs pos="100000">
                <a:srgbClr val="2563EB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ko-KR" altLang="en-US" sz="700" b="1">
                <a:solidFill>
                  <a:srgbClr val="FFFFFF"/>
                </a:solidFill>
                <a:latin typeface="맑은 고딕" panose="020B0503020000020004" pitchFamily="50" charset="-127"/>
              </a:rPr>
              <a:t>판정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345C6EC4-8F5E-F696-FC78-9216866EB1D3}"/>
              </a:ext>
            </a:extLst>
          </p:cNvPr>
          <p:cNvSpPr/>
          <p:nvPr/>
        </p:nvSpPr>
        <p:spPr>
          <a:xfrm>
            <a:off x="10439400" y="5943600"/>
            <a:ext cx="1168400" cy="27940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0D9488"/>
              </a:gs>
              <a:gs pos="100000">
                <a:srgbClr val="09746C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ko-KR" altLang="en-US" sz="700" b="1">
                <a:solidFill>
                  <a:srgbClr val="FFFFFF"/>
                </a:solidFill>
                <a:latin typeface="맑은 고딕" panose="020B0503020000020004" pitchFamily="50" charset="-127"/>
              </a:rPr>
              <a:t>협상 모델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6CB587A-3B71-B643-BF6A-8E7FA4F35F1E}"/>
              </a:ext>
            </a:extLst>
          </p:cNvPr>
          <p:cNvCxnSpPr/>
          <p:nvPr/>
        </p:nvCxnSpPr>
        <p:spPr>
          <a:xfrm>
            <a:off x="6604000" y="6324600"/>
            <a:ext cx="4851400" cy="0"/>
          </a:xfrm>
          <a:prstGeom prst="line">
            <a:avLst/>
          </a:prstGeom>
          <a:ln w="19050">
            <a:solidFill>
              <a:srgbClr val="96A5B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44806AF-B760-0975-7AC5-3775254F1F5F}"/>
              </a:ext>
            </a:extLst>
          </p:cNvPr>
          <p:cNvSpPr txBox="1"/>
          <p:nvPr/>
        </p:nvSpPr>
        <p:spPr>
          <a:xfrm>
            <a:off x="11506200" y="6248400"/>
            <a:ext cx="508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700">
                <a:solidFill>
                  <a:srgbClr val="6E7D91"/>
                </a:solidFill>
                <a:latin typeface="맑은 고딕" panose="020B0503020000020004" pitchFamily="50" charset="-127"/>
              </a:rPr>
              <a:t>시간</a:t>
            </a:r>
          </a:p>
        </p:txBody>
      </p:sp>
    </p:spTree>
    <p:extLst>
      <p:ext uri="{BB962C8B-B14F-4D97-AF65-F5344CB8AC3E}">
        <p14:creationId xmlns:p14="http://schemas.microsoft.com/office/powerpoint/2010/main" val="385594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Office PowerPoint</Application>
  <PresentationFormat>사용자 지정</PresentationFormat>
  <Paragraphs>40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Sunwoo Nam</dc:creator>
  <cp:lastModifiedBy>Sunwoo Nam</cp:lastModifiedBy>
  <cp:revision>1</cp:revision>
  <dcterms:created xsi:type="dcterms:W3CDTF">2026-06-24T05:49:03Z</dcterms:created>
  <dcterms:modified xsi:type="dcterms:W3CDTF">2026-06-24T05:49:03Z</dcterms:modified>
</cp:coreProperties>
</file>