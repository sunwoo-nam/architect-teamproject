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6000" y="125999"/>
            <a:ext cx="7200000" cy="36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F3864"/>
                </a:solidFill>
                <a:latin typeface="맑은 고딕"/>
              </a:rPr>
              <a:t>DP03</a:t>
            </a:r>
            <a:r>
              <a:rPr sz="2300" b="1">
                <a:solidFill>
                  <a:srgbClr val="1F3864"/>
                </a:solidFill>
                <a:latin typeface="맑은 고딕"/>
              </a:rPr>
              <a:t> · 추론 컨텍스트 다중화</a:t>
            </a:r>
            <a:r>
              <a:rPr sz="1500" b="1">
                <a:solidFill>
                  <a:srgbClr val="6E7D91"/>
                </a:solidFill>
                <a:latin typeface="맑은 고딕"/>
              </a:rPr>
              <a:t>  (배경)</a:t>
            </a:r>
          </a:p>
        </p:txBody>
      </p:sp>
      <p:sp>
        <p:nvSpPr>
          <p:cNvPr id="3" name="Chevron 2"/>
          <p:cNvSpPr/>
          <p:nvPr/>
        </p:nvSpPr>
        <p:spPr>
          <a:xfrm>
            <a:off x="6983999" y="180000"/>
            <a:ext cx="1072800" cy="237600"/>
          </a:xfrm>
          <a:prstGeom prst="chevron">
            <a:avLst>
              <a:gd name="adj" fmla="val 28000"/>
            </a:avLst>
          </a:prstGeom>
          <a:solidFill>
            <a:srgbClr val="A5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7941599" y="180000"/>
            <a:ext cx="1072800" cy="237600"/>
          </a:xfrm>
          <a:prstGeom prst="chevron">
            <a:avLst>
              <a:gd name="adj" fmla="val 28000"/>
            </a:avLst>
          </a:prstGeom>
          <a:solidFill>
            <a:srgbClr val="A5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맑은 고딕"/>
              </a:rPr>
              <a:t>요구사항 분석</a:t>
            </a:r>
          </a:p>
        </p:txBody>
      </p:sp>
      <p:sp>
        <p:nvSpPr>
          <p:cNvPr id="5" name="Chevron 4"/>
          <p:cNvSpPr/>
          <p:nvPr/>
        </p:nvSpPr>
        <p:spPr>
          <a:xfrm>
            <a:off x="8899199" y="180000"/>
            <a:ext cx="1072800" cy="237600"/>
          </a:xfrm>
          <a:prstGeom prst="chevron">
            <a:avLst>
              <a:gd name="adj" fmla="val 2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9856799" y="180000"/>
            <a:ext cx="1072800" cy="237600"/>
          </a:xfrm>
          <a:prstGeom prst="chevron">
            <a:avLst>
              <a:gd name="adj" fmla="val 28000"/>
            </a:avLst>
          </a:prstGeom>
          <a:solidFill>
            <a:srgbClr val="A5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맑은 고딕"/>
              </a:rPr>
              <a:t>구현·검증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0814399" y="180000"/>
            <a:ext cx="1072800" cy="237600"/>
          </a:xfrm>
          <a:prstGeom prst="chevron">
            <a:avLst>
              <a:gd name="adj" fmla="val 28000"/>
            </a:avLst>
          </a:prstGeom>
          <a:solidFill>
            <a:srgbClr val="A5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000" y="511200"/>
            <a:ext cx="11581200" cy="16200"/>
          </a:xfrm>
          <a:prstGeom prst="rect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576000"/>
            <a:ext cx="11581200" cy="27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모델 배치(DP03)의 결론 — 공유 추론 Layer 위에 모델은 1개만 상주. </a:t>
            </a:r>
            <a:r>
              <a:rPr sz="1000" b="0">
                <a:solidFill>
                  <a:srgbClr val="6E7D91"/>
                </a:solidFill>
                <a:latin typeface="맑은 고딕"/>
              </a:rPr>
              <a:t>본 DP는 그 다음 문제를 다룬다: 그 모델을 함께 쓰는 여러 기능의 “대화 맥락(KV 캐시)”을 어디에, 어떻게 둘 것인가.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" y="900000"/>
            <a:ext cx="5562000" cy="21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77616"/>
                </a:solidFill>
                <a:latin typeface="맑은 고딕"/>
              </a:rPr>
              <a:t>■ </a:t>
            </a:r>
            <a:r>
              <a:rPr sz="1300" b="1">
                <a:solidFill>
                  <a:srgbClr val="1F3864"/>
                </a:solidFill>
                <a:latin typeface="맑은 고딕"/>
              </a:rPr>
              <a:t>가중치 다음의 메모리 — 세션마다 자라는 KV 캐시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000" y="1206000"/>
            <a:ext cx="5562000" cy="32940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999" y="1260000"/>
            <a:ext cx="5346000" cy="1512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① 추론 메모리의 구성 — 가중치는 공유 1벌, KV는 세션마다 별도 (P1·§0)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" y="1475999"/>
            <a:ext cx="1655999" cy="378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모델 가중치 int4 — 공유 1벌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9200" y="1475999"/>
            <a:ext cx="684000" cy="378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세션1 KV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4800" y="1475999"/>
            <a:ext cx="864000" cy="378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세션2 KV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0400" y="1475999"/>
            <a:ext cx="1044000" cy="378000"/>
          </a:xfrm>
          <a:prstGeom prst="roundRect">
            <a:avLst>
              <a:gd name="adj" fmla="val 8000"/>
            </a:avLst>
          </a:prstGeom>
          <a:solidFill>
            <a:srgbClr val="E77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세션3 KV — 길수록 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6000" y="1475999"/>
            <a:ext cx="360000" cy="3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6E7D91"/>
                </a:solidFill>
                <a:latin typeface="맑은 고딕"/>
              </a:rPr>
              <a:t>+…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24000" y="1425599"/>
            <a:ext cx="3078000" cy="4788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E776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999" y="1288799"/>
            <a:ext cx="1512000" cy="125999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E77616"/>
                </a:solidFill>
                <a:latin typeface="맑은 고딕"/>
              </a:rPr>
              <a:t>← 이 DP의 대상 영역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999" y="1933199"/>
            <a:ext cx="5346000" cy="144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E7D91"/>
                </a:solidFill>
                <a:latin typeface="맑은 고딕"/>
              </a:rPr>
              <a:t>가중치는 몇 기능이 쓰든 1벌 — KV는 세션 수 × 컨텍스트 길이에 비례해 자란다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999" y="2304000"/>
            <a:ext cx="5346000" cy="1512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② KV 한 벌(4K 토큰)의 크기 — §1 추정 · dtype 미확정 (P7)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7999" y="2774571"/>
            <a:ext cx="792000" cy="1203428"/>
          </a:xfrm>
          <a:prstGeom prst="roundRect">
            <a:avLst>
              <a:gd name="adj" fmla="val 6000"/>
            </a:avLst>
          </a:prstGeom>
          <a:solidFill>
            <a:srgbClr val="E77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999" y="2594571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77616"/>
                </a:solidFill>
                <a:latin typeface="맑은 고딕"/>
              </a:rPr>
              <a:t>≈ 520MB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000" y="4014000"/>
            <a:ext cx="1260000" cy="144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KV fp16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000" y="4158000"/>
            <a:ext cx="1260000" cy="125999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E7D91"/>
                </a:solidFill>
                <a:latin typeface="맑은 고딕"/>
              </a:rPr>
              <a:t>~128KB/tok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14000" y="3376285"/>
            <a:ext cx="792000" cy="60171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6000" y="3196285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59E0B"/>
                </a:solidFill>
                <a:latin typeface="맑은 고딕"/>
              </a:rPr>
              <a:t>≈ 260MB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0000" y="4014000"/>
            <a:ext cx="1260000" cy="144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KV int8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0000" y="4158000"/>
            <a:ext cx="1260000" cy="125999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E7D91"/>
                </a:solidFill>
                <a:latin typeface="맑은 고딕"/>
              </a:rPr>
              <a:t>~64KB/tok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10000" y="3674828"/>
            <a:ext cx="792000" cy="303171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1999" y="3494828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9488"/>
                </a:solidFill>
                <a:latin typeface="맑은 고딕"/>
              </a:rPr>
              <a:t>≈ 131MB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76000" y="4014000"/>
            <a:ext cx="1260000" cy="144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KV int4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6000" y="4158000"/>
            <a:ext cx="1260000" cy="125999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E7D91"/>
                </a:solidFill>
                <a:latin typeface="맑은 고딕"/>
              </a:rPr>
              <a:t>~32KB/tok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7999" y="3978000"/>
            <a:ext cx="3744001" cy="0"/>
          </a:xfrm>
          <a:prstGeom prst="line">
            <a:avLst/>
          </a:prstGeom>
          <a:ln w="12700">
            <a:solidFill>
              <a:srgbClr val="96A5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626000" y="3041999"/>
            <a:ext cx="1152000" cy="792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× K벌이면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77616"/>
                </a:solidFill>
                <a:latin typeface="맑은 고딕"/>
              </a:rPr>
              <a:t>그대로 K배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E7D91"/>
                </a:solidFill>
                <a:latin typeface="맑은 고딕"/>
              </a:rPr>
              <a:t>동시 장문 세션 K≥2 (AC-1)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000" y="4546800"/>
            <a:ext cx="5562000" cy="198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77616"/>
                </a:solidFill>
                <a:latin typeface="맑은 고딕"/>
              </a:rPr>
              <a:t>→ </a:t>
            </a:r>
            <a:r>
              <a:rPr sz="850" b="0">
                <a:solidFill>
                  <a:srgbClr val="6E7D91"/>
                </a:solidFill>
                <a:latin typeface="맑은 고딕"/>
              </a:rPr>
              <a:t>수백 MB 자릿수 — 게다가 세션 수만큼 배가된다. 온디바이스에서 무시 불가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6000" y="4806000"/>
            <a:ext cx="5562000" cy="6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000" y="4842000"/>
            <a:ext cx="5310000" cy="558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· 소비자: 장문 모듈(문서 협업 등 · 수명 일~주) · 협상 버스트 · 공통 추론 (§6)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· KV는 (어댑터·토큰열)에 묶임 — 모듈이 다르면 재사용 불가 (P4)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· 유지(상주)해도 보장 아님 — 플랫폼이 회수 가능 (P8)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6000" y="5562000"/>
            <a:ext cx="5562000" cy="972000"/>
          </a:xfrm>
          <a:prstGeom prst="roundRect">
            <a:avLst>
              <a:gd name="adj" fmla="val 6000"/>
            </a:avLst>
          </a:prstGeom>
          <a:solidFill>
            <a:srgbClr val="FCF3E9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∴ 컨텍스트(KV)는 공짜가 아니다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세션 수 × 길이로 자라는 실물 메모리 — </a:t>
            </a:r>
            <a:r>
              <a:rPr sz="1200" b="1">
                <a:solidFill>
                  <a:srgbClr val="E77616"/>
                </a:solidFill>
                <a:latin typeface="맑은 고딕"/>
              </a:rPr>
              <a:t>전부 쌓아둘 수는 없다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911200" y="5670000"/>
            <a:ext cx="558000" cy="756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1600" y="900000"/>
            <a:ext cx="5562000" cy="21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77616"/>
                </a:solidFill>
                <a:latin typeface="맑은 고딕"/>
              </a:rPr>
              <a:t>■ </a:t>
            </a:r>
            <a:r>
              <a:rPr sz="1300" b="1">
                <a:solidFill>
                  <a:srgbClr val="1F3864"/>
                </a:solidFill>
                <a:latin typeface="맑은 고딕"/>
              </a:rPr>
              <a:t>무상태 베이스라인 — 호출마다 컨텍스트를 다시 프리필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01600" y="1206000"/>
            <a:ext cx="5562000" cy="32940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9600" y="1260000"/>
            <a:ext cx="5346000" cy="1512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베이스라인: 호출 사이에 아무것도 유지하지 않는다 — 장문 세션 예시 (§6)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9600" y="1411200"/>
            <a:ext cx="5346000" cy="1368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E7D91"/>
                </a:solidFill>
                <a:latin typeface="맑은 고딕"/>
              </a:rPr>
              <a:t>호출이 끝나면 KV 소멸 → 다음 호출은 컨텍스트 전체를 다시 프리필 (≈ 수 초/회, AC-3)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9600" y="1738800"/>
            <a:ext cx="486000" cy="180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호출 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1600" y="1638000"/>
            <a:ext cx="2160000" cy="3780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컨텍스트 전체 프리필 (≈3K 토큰)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34800" y="1638000"/>
            <a:ext cx="630000" cy="3780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응답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07999" y="1638000"/>
            <a:ext cx="1044000" cy="3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E7D91"/>
                </a:solidFill>
                <a:latin typeface="맑은 고딕"/>
              </a:rPr>
              <a:t>KV 폐기 — 유지 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9600" y="2250000"/>
            <a:ext cx="486000" cy="180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호출 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1600" y="2149200"/>
            <a:ext cx="2484000" cy="3780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다시 전체 프리필 (≈3.5K — 맥락 누적)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58800" y="2149200"/>
            <a:ext cx="630000" cy="3780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응답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32000" y="2149200"/>
            <a:ext cx="1044000" cy="3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E7D91"/>
                </a:solidFill>
                <a:latin typeface="맑은 고딕"/>
              </a:rPr>
              <a:t>KV 폐기 — 유지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09600" y="2761200"/>
            <a:ext cx="486000" cy="180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호출 ③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1600" y="2660400"/>
            <a:ext cx="2808000" cy="3780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또 다시 전체 프리필 (≈4K)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82800" y="2660400"/>
            <a:ext cx="630000" cy="3780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응답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656000" y="2660400"/>
            <a:ext cx="1044000" cy="3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E7D91"/>
                </a:solidFill>
                <a:latin typeface="맑은 고딕"/>
              </a:rPr>
              <a:t>KV 폐기 — 유지 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9600" y="3114000"/>
            <a:ext cx="5346000" cy="180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77616"/>
                </a:solidFill>
                <a:latin typeface="맑은 고딕"/>
              </a:rPr>
              <a:t>같은 맥락을 매번 처음부터 다시 읽는다 — 세션 수명(일·주) 내내 반복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681600" y="3401999"/>
            <a:ext cx="5184000" cy="0"/>
          </a:xfrm>
          <a:prstGeom prst="line">
            <a:avLst/>
          </a:prstGeom>
          <a:ln w="12700">
            <a:solidFill>
              <a:srgbClr val="96A5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1073600" y="3423600"/>
            <a:ext cx="864000" cy="125999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E7D91"/>
                </a:solidFill>
                <a:latin typeface="맑은 고딕"/>
              </a:rPr>
              <a:t>세션 수명 (일·주)</a:t>
            </a:r>
          </a:p>
        </p:txBody>
      </p:sp>
      <p:sp>
        <p:nvSpPr>
          <p:cNvPr id="60" name="Oval 59"/>
          <p:cNvSpPr/>
          <p:nvPr/>
        </p:nvSpPr>
        <p:spPr>
          <a:xfrm>
            <a:off x="7437600" y="3358800"/>
            <a:ext cx="86400" cy="864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805600" y="3358800"/>
            <a:ext cx="86400" cy="864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173600" y="3358800"/>
            <a:ext cx="86400" cy="864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81600" y="3517200"/>
            <a:ext cx="5040000" cy="144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E7D91"/>
                </a:solidFill>
                <a:latin typeface="맑은 고딕"/>
              </a:rPr>
              <a:t>● = 호출 시점마다 프리필 수 초를 다시 지불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09600" y="3780000"/>
            <a:ext cx="5346000" cy="4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E7D91"/>
                </a:solidFill>
                <a:latin typeface="맑은 고딕"/>
              </a:rPr>
              <a:t>※ 정확히는 “호출 사이 유지 0” — 생성 중에는 KV 생성·사용 후 폐기 (§0)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E7D91"/>
                </a:solidFill>
                <a:latin typeface="맑은 고딕"/>
              </a:rPr>
              <a:t>※ 플랫폼의 동일-prefix KV 재사용(확인 ④)은 미확인 — 지원 시 완화, PoC-2로 실측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01600" y="4546800"/>
            <a:ext cx="5562000" cy="198000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77616"/>
                </a:solidFill>
                <a:latin typeface="맑은 고딕"/>
              </a:rPr>
              <a:t>→ </a:t>
            </a:r>
            <a:r>
              <a:rPr sz="850" b="0">
                <a:solidFill>
                  <a:srgbClr val="6E7D91"/>
                </a:solidFill>
                <a:latin typeface="맑은 고딕"/>
              </a:rPr>
              <a:t>짧은 호출은 이걸로 충분 — 그러나 장문 세션은 호출마다 수 초씩 잃는다 (§6)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01600" y="4806000"/>
            <a:ext cx="5562000" cy="6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7600" y="4842000"/>
            <a:ext cx="5310000" cy="558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· 프리필은 수천 토큰이면 초 단위 — 모바일 NPU 통상치 (AC-3 근거)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· 원천(로그·문서)에서 맥락 재구성은 항상 가능 (P6) — 정확성이 아닌 시간의 문제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· 무상태와 전부 유지 사이의 운용 지점은 미정 — 본 DP가 정할 대상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01600" y="5562000"/>
            <a:ext cx="5562000" cy="972000"/>
          </a:xfrm>
          <a:prstGeom prst="roundRect">
            <a:avLst>
              <a:gd name="adj" fmla="val 6000"/>
            </a:avLst>
          </a:prstGeom>
          <a:solidFill>
            <a:srgbClr val="FCF3E9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0800" bIns="108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F3864"/>
                </a:solidFill>
                <a:latin typeface="맑은 고딕"/>
              </a:rPr>
              <a:t>베이스라인은 장문 세션마다 수 초 지연을 반복 지불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E77616"/>
                </a:solidFill>
                <a:latin typeface="맑은 고딕"/>
              </a:rPr>
              <a:t>→ 공유 모델의 컨텍스트 운용 정책 결정 및 Component 설계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