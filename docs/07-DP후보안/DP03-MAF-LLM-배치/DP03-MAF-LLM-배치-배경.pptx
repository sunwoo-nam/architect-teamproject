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8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CB071-2CCA-6F5C-B928-454BF80B6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E9B8CA-43DA-AA39-55F0-A8037F7DE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92DFC3-A450-D7F3-C01C-9498F29C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E40343-4714-A5D1-D72B-C40AB4DC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77C601-5A98-CD5C-EFE8-2269AC327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20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D9C81-BD8F-FC6B-294F-26FF214C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A12465-9677-6DC0-90FF-598BC0B54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C9D7C3-D31E-99FD-A045-77CBD674A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819FB-86A9-35C5-591F-D9B262356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37C435-56C9-13F1-313F-EC895620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66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D1A16-6F53-244B-DBA3-68286F72A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5AAE25-864C-4052-D600-709E69AF5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9F4FB1-9F6B-86CC-38B4-C5E5AEFD3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C16F7D-7DBE-041B-303E-7C0834C37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622C7-8981-1EB0-1BEC-64AEACC77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61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1D4E19-FF98-8AC5-A4B1-C4F585F96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526B93-A2B3-6F22-DF37-E6810949B9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7D6F24-A451-F3EE-EF4C-2A972EE0B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E117A9-63C4-DECD-14E1-CA59D27D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7261E4-2057-E53A-77E6-2B02E247F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283C71-483D-AF98-AC48-FDCDB85F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734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70BEC-80C4-4B2F-661C-F289C1B7F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D4A304-08F6-7040-D6CE-B5B5CBA09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22AA45-8035-6015-EF3D-A97393844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2C0C9C-B201-5E5D-2895-B1740A61D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ADF234-55BC-A810-A765-E150477B5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33348E-CBFB-F283-B4C9-E5FFFF53E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D83DB4-1F5E-00D3-4CB9-FED9BDBE4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AAFB4F-8177-5480-145C-034ED214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282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EC2AD-2C18-30B7-756C-34872AC9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B0C1CA-E847-59F5-418E-D7225236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887024-38BD-F7F2-E6C6-75962BEAB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6C8A16-72A5-A68F-847F-68C76A68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26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D93209-507B-B7FF-AFE8-956917D2A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1EB373-1C58-94DE-0126-EC5A1153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229480-FD29-0179-0B57-7D3DA805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18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6A8B6-779C-7289-636F-F431B894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D0DC7F-D262-6D62-EC5D-FD46E49C3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3F792E-BF7B-FE6B-F8EB-17F721A1E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A35327-30DD-CD5E-91F0-BC002D2E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A92899-C374-410D-3A1E-A2A948E7F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7C1857-D01E-ED7A-007C-2508081BC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67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8F3A08-44E8-EA2B-CD26-E1BFD50AB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9B51362-9374-34E5-AF25-19C54FCC23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4E2D74-5389-201A-8F10-98D049EF9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6621CD-D46E-9EFB-B594-B3D37E53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D47033-5F0B-41E1-BD71-7DCF770AF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F9BDD7-A0A6-85C2-7302-2B7D1021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100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71EC4-A992-9C39-612F-05E778CA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9B314E-3A42-17FB-64A1-90C1DBDD4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3BE234-5964-8C21-CA5E-19370999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A1D6F8-B8A6-ADF2-4284-F764F87D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8A4854-127D-A367-CF54-84D4002F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93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211E727-44F1-9C2F-14FC-9B50A8EFCC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E133DD-80DB-A1DB-90F7-D697E5742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94452C-6BE0-2106-D84E-28226E8D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E5C204-AE6F-5D54-78AB-3D11ECE3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EAF83C-7DAD-4F39-DDE2-168C9F97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343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A40C2B-873D-0117-B6F9-FD377A04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1231D2-4F61-27E5-D9C4-E58DEC9A6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960451-3AB9-1ED5-313B-806ED277F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BFABD-AE80-478D-99F3-0745955AC5FC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4E0620-4E1E-DBE1-A189-D54E35279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5B0CED-8D02-C01C-257F-D52BB2A48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DC10E-1D02-4568-B7D1-5AE7E64D19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65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90A216D-4562-38E0-D237-8C72317B3DBC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DP02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선정 배경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메모리 효율화를 위한 온디바이스 </a:t>
            </a:r>
            <a:r>
              <a:rPr lang="en-US" altLang="ko-KR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2200" b="1">
                <a:solidFill>
                  <a:srgbClr val="FFFFFF"/>
                </a:solidFill>
                <a:latin typeface="맑은 고딕" panose="020B0503020000020004" pitchFamily="50" charset="-127"/>
              </a:rPr>
              <a:t>모델 배치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B84CE0-4882-CCAA-DA49-777D1E8C0C37}"/>
              </a:ext>
            </a:extLst>
          </p:cNvPr>
          <p:cNvSpPr txBox="1"/>
          <p:nvPr/>
        </p:nvSpPr>
        <p:spPr>
          <a:xfrm>
            <a:off x="304800" y="762000"/>
            <a:ext cx="5969000" cy="200055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① 문제 상황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EFC18-267D-4031-75EB-EEFA575E512D}"/>
              </a:ext>
            </a:extLst>
          </p:cNvPr>
          <p:cNvSpPr txBox="1"/>
          <p:nvPr/>
        </p:nvSpPr>
        <p:spPr>
          <a:xfrm>
            <a:off x="304800" y="1041400"/>
            <a:ext cx="6070600" cy="1146852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시스템 곳곳에서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추론 필요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협상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판정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요약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(MA),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툴 호출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협업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(SA)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등 유형이 다양
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추론 유형마다 요구 모델 크기가 상이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대형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~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소형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)
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온디바이스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구동 지향 → 런타임 메모리에서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LLM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이 최대 비중
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단말 메모리 제약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+ OS·App·IDS(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전용 모델 상주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가 이미 점유 →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MAF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가용 메모리 타이트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86420-117C-8D5A-C64D-39234750FA3C}"/>
              </a:ext>
            </a:extLst>
          </p:cNvPr>
          <p:cNvSpPr txBox="1"/>
          <p:nvPr/>
        </p:nvSpPr>
        <p:spPr>
          <a:xfrm>
            <a:off x="304800" y="2616200"/>
            <a:ext cx="5969000" cy="200055"/>
          </a:xfrm>
          <a:prstGeom prst="rect">
            <a:avLst/>
          </a:prstGeom>
          <a:noFill/>
        </p:spPr>
        <p:txBody>
          <a:bodyPr vert="horz" tIns="0" bIns="0" rtlCol="0">
            <a:spAutoFit/>
          </a:bodyPr>
          <a:lstStyle/>
          <a:p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② 왜 중요한가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62F5E-2CB9-4757-E317-98F04939ACDD}"/>
              </a:ext>
            </a:extLst>
          </p:cNvPr>
          <p:cNvSpPr txBox="1"/>
          <p:nvPr/>
        </p:nvSpPr>
        <p:spPr>
          <a:xfrm>
            <a:off x="304800" y="2895600"/>
            <a:ext cx="6070600" cy="589392"/>
          </a:xfrm>
          <a:prstGeom prst="rect">
            <a:avLst/>
          </a:prstGeom>
          <a:noFill/>
        </p:spPr>
        <p:txBody>
          <a:bodyPr vert="horz" wrap="square" t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과제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대 가설 중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온디바이스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실용성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검증과 직결
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RAM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예산 초과 시 시스템 동작 자체가 불가 →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최적화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이전에 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성립 가능성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문제
</a:t>
            </a:r>
            <a:r>
              <a:rPr lang="en-US" altLang="ko-KR" sz="1150">
                <a:solidFill>
                  <a:srgbClr val="333333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150">
                <a:solidFill>
                  <a:srgbClr val="333333"/>
                </a:solidFill>
                <a:latin typeface="맑은 고딕" panose="020B0503020000020004" pitchFamily="50" charset="-127"/>
              </a:rPr>
              <a:t>모델 배치는 런타임 아키텍처의 근간 → 사후 변경 비용이 큼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E134409-1FEF-22C5-B2C3-307B9BEE5D24}"/>
              </a:ext>
            </a:extLst>
          </p:cNvPr>
          <p:cNvSpPr/>
          <p:nvPr/>
        </p:nvSpPr>
        <p:spPr>
          <a:xfrm>
            <a:off x="304800" y="4241800"/>
            <a:ext cx="6070600" cy="2260600"/>
          </a:xfrm>
          <a:prstGeom prst="roundRect">
            <a:avLst/>
          </a:prstGeom>
          <a:solidFill>
            <a:srgbClr val="FCF3E9"/>
          </a:solidFill>
          <a:ln w="22225">
            <a:solidFill>
              <a:srgbClr val="E67E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rIns="152400" rtlCol="0" anchor="ctr"/>
          <a:lstStyle/>
          <a:p>
            <a:pPr algn="ctr"/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∴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MAF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는 추론을 위해 동시에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개 모델만 적재 가능
→ 이 하나의 슬롯을 여러 추론이 어떻게 나눠 쓸 것인가
    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= 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본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DP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가 푸는 문제
▶ 다음 장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후보 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A(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추론 유형별 모델 교체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) vs B(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단일 범용 상주</a:t>
            </a:r>
            <a:r>
              <a:rPr lang="en-US" altLang="ko-KR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 b="1">
                <a:solidFill>
                  <a:srgbClr val="1F3864"/>
                </a:solidFill>
                <a:latin typeface="맑은 고딕" panose="020B0503020000020004" pitchFamily="50" charset="-127"/>
              </a:rPr>
              <a:t>비교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1262E99-9B77-E1E2-B491-F29DB4FB89E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685800"/>
            <a:ext cx="5562600" cy="28956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21913A-04A7-4009-850F-1C72263AF58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3632200"/>
            <a:ext cx="5562600" cy="289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9AF49B-2CD0-FEB4-2DFA-9B7FFADCBD74}"/>
              </a:ext>
            </a:extLst>
          </p:cNvPr>
          <p:cNvSpPr txBox="1"/>
          <p:nvPr/>
        </p:nvSpPr>
        <p:spPr>
          <a:xfrm>
            <a:off x="6502400" y="6553200"/>
            <a:ext cx="5562600" cy="223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850" i="1">
                <a:solidFill>
                  <a:srgbClr val="6E7D91"/>
                </a:solidFill>
                <a:latin typeface="맑은 고딕" panose="020B0503020000020004" pitchFamily="50" charset="-127"/>
              </a:rPr>
              <a:t>※ 16GB </a:t>
            </a:r>
            <a:r>
              <a:rPr lang="ko-KR" altLang="en-US" sz="850" i="1">
                <a:solidFill>
                  <a:srgbClr val="6E7D91"/>
                </a:solidFill>
                <a:latin typeface="맑은 고딕" panose="020B0503020000020004" pitchFamily="50" charset="-127"/>
              </a:rPr>
              <a:t>단말 가정</a:t>
            </a:r>
            <a:r>
              <a:rPr lang="en-US" altLang="ko-KR" sz="850" i="1">
                <a:solidFill>
                  <a:srgbClr val="6E7D9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850" i="1">
                <a:solidFill>
                  <a:srgbClr val="6E7D91"/>
                </a:solidFill>
                <a:latin typeface="맑은 고딕" panose="020B0503020000020004" pitchFamily="50" charset="-127"/>
              </a:rPr>
              <a:t>산업 통념 추정 </a:t>
            </a:r>
            <a:r>
              <a:rPr lang="en-US" altLang="ko-KR" sz="850" i="1">
                <a:solidFill>
                  <a:srgbClr val="6E7D91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850" i="1">
                <a:solidFill>
                  <a:srgbClr val="6E7D91"/>
                </a:solidFill>
                <a:latin typeface="맑은 고딕" panose="020B0503020000020004" pitchFamily="50" charset="-127"/>
              </a:rPr>
              <a:t>실제값은 </a:t>
            </a:r>
            <a:r>
              <a:rPr lang="en-US" altLang="ko-KR" sz="850" i="1">
                <a:solidFill>
                  <a:srgbClr val="6E7D91"/>
                </a:solidFill>
                <a:latin typeface="맑은 고딕" panose="020B0503020000020004" pitchFamily="50" charset="-127"/>
              </a:rPr>
              <a:t>PoC </a:t>
            </a:r>
            <a:r>
              <a:rPr lang="ko-KR" altLang="en-US" sz="850" i="1">
                <a:solidFill>
                  <a:srgbClr val="6E7D91"/>
                </a:solidFill>
                <a:latin typeface="맑은 고딕" panose="020B0503020000020004" pitchFamily="50" charset="-127"/>
              </a:rPr>
              <a:t>프로파일링으로 확정</a:t>
            </a:r>
          </a:p>
        </p:txBody>
      </p:sp>
    </p:spTree>
    <p:extLst>
      <p:ext uri="{BB962C8B-B14F-4D97-AF65-F5344CB8AC3E}">
        <p14:creationId xmlns:p14="http://schemas.microsoft.com/office/powerpoint/2010/main" val="1630145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사용자 지정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Sunwoo Nam</dc:creator>
  <cp:lastModifiedBy>Sunwoo Nam</cp:lastModifiedBy>
  <cp:revision>1</cp:revision>
  <dcterms:created xsi:type="dcterms:W3CDTF">2026-06-24T04:49:26Z</dcterms:created>
  <dcterms:modified xsi:type="dcterms:W3CDTF">2026-06-24T04:49:26Z</dcterms:modified>
</cp:coreProperties>
</file>