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복합 의제 = NegMAS의 multi-issue. 후보군 = OutcomeSpace. 후보 수 = cardinality = 의제들의 곱. 문제는 두 겹 — 곱셈적으로 크고, 상호의존 때문에 쪼갤 수도 없다. OOM은 공간 생성이 아니라 전략이 훑을 때 터진다.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1안은 곱을 합으로 바꿔 메모리를 최소화하지만 의제 간 상호작용을 구조적으로 버린다. 2안은 곱을 유지하되 유지 개수 W로 폭을 고정한다. 손실에 다이얼이 있느냐가 핵심 차이 — 1안의 손실은 구조적이라 조절 불가, 2안의 손실은 W로 조절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DP-01 — 복합 의제 협상의 후보군 구성 전략</a:t>
            </a:r>
            <a:pPr indent="0" marL="0">
              <a:buNone/>
            </a:pPr>
            <a:r>
              <a:rPr lang="en-US" sz="2500" b="1" dirty="0">
                <a:solidFill>
                  <a:srgbClr val="C3C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500" b="1" dirty="0">
                <a:solidFill>
                  <a:srgbClr val="156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배경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1064240" cy="0"/>
          </a:xfrm>
          <a:prstGeom prst="line">
            <a:avLst/>
          </a:prstGeom>
          <a:noFill/>
          <a:ln w="15875">
            <a:solidFill>
              <a:srgbClr val="1C2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33856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C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 의제란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532120" cy="0"/>
          </a:xfrm>
          <a:prstGeom prst="line">
            <a:avLst/>
          </a:prstGeom>
          <a:noFill/>
          <a:ln w="12700">
            <a:solidFill>
              <a:srgbClr val="D5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91056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협상에서 여러 의제를 한 묶음(패키지)으로 합의하는 것. NegMAS 용어로 multi-issue, 후보군은 OutcomeSpace.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1226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 잡기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36192" y="21214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날짜7 × 시간8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90288" y="214884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075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97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5532120" cy="0"/>
          </a:xfrm>
          <a:prstGeom prst="line">
            <a:avLst/>
          </a:prstGeom>
          <a:noFill/>
          <a:ln w="9525">
            <a:solidFill>
              <a:srgbClr val="ED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1460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 예약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36192" y="25237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날짜7 × 영화6 × 영화관5 × 시간4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90288" y="255117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4780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871216"/>
            <a:ext cx="5532120" cy="0"/>
          </a:xfrm>
          <a:prstGeom prst="line">
            <a:avLst/>
          </a:prstGeom>
          <a:noFill/>
          <a:ln w="9525">
            <a:solidFill>
              <a:srgbClr val="EDF1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1693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 계획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36192" y="292608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출발일14 × 기간3 × 목적지8 × 숙소12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이동수단4 × 액티비티10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90288" y="305409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98094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161,280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5532120" cy="0"/>
          </a:xfrm>
          <a:prstGeom prst="line">
            <a:avLst/>
          </a:prstGeom>
          <a:noFill/>
          <a:ln w="9525">
            <a:solidFill>
              <a:srgbClr val="ED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547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5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수 = 의제들의 곱  ∏|Issue|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3547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5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의제 2개 → 6개,  후보는 2,880배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1133856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C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76872" y="1170432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문제는 두 겹이다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37960" y="1481328"/>
            <a:ext cx="5074920" cy="0"/>
          </a:xfrm>
          <a:prstGeom prst="line">
            <a:avLst/>
          </a:prstGeom>
          <a:noFill/>
          <a:ln w="12700">
            <a:solidFill>
              <a:srgbClr val="D5DB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60934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 곱셈적 폭발  vs  상수 예산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18836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후보군은 곱셈적으로 자라고, 앱 메모리 예산은 고정이다.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최적화가 아니라 성장률 자체를 바꿔야 하는 문제.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7960" y="270662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 쪼개서 줄이는 것도 안 된다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2980944"/>
            <a:ext cx="5074920" cy="274320"/>
          </a:xfrm>
          <a:prstGeom prst="rect">
            <a:avLst/>
          </a:prstGeom>
          <a:solidFill>
            <a:srgbClr val="FBEDE7"/>
          </a:solidFill>
          <a:ln w="12700">
            <a:solidFill>
              <a:srgbClr val="FBED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7688" y="3008376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“제주도인데 KTX”    “겨울인데 해수욕”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37960" y="32918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의제만 보면 다 괜찮은데 조합에서만 틀린 게 드러난다.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효용은 조합에서만 정의된다 — 따로 떼어 평가할 수 없다.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391363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C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87552" y="3950208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OOM은 어디서 터지는가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4261104"/>
            <a:ext cx="5532120" cy="0"/>
          </a:xfrm>
          <a:prstGeom prst="line">
            <a:avLst/>
          </a:prstGeom>
          <a:noFill/>
          <a:ln w="12700">
            <a:solidFill>
              <a:srgbClr val="D5DB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425696"/>
            <a:ext cx="868680" cy="603504"/>
          </a:xfrm>
          <a:prstGeom prst="rect">
            <a:avLst/>
          </a:prstGeom>
          <a:solidFill>
            <a:srgbClr val="EDF1F4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" y="4608576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정의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444752" y="4727448"/>
            <a:ext cx="128016" cy="0"/>
          </a:xfrm>
          <a:prstGeom prst="line">
            <a:avLst/>
          </a:prstGeom>
          <a:noFill/>
          <a:ln w="12700">
            <a:solidFill>
              <a:srgbClr val="8A97A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600200" y="4425696"/>
            <a:ext cx="1170432" cy="603504"/>
          </a:xfrm>
          <a:prstGeom prst="rect">
            <a:avLst/>
          </a:prstGeom>
          <a:solidFill>
            <a:srgbClr val="EDF1F4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27632" y="4498848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OutcomeSpace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627632" y="473659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161,280 · lazy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98064" y="4727448"/>
            <a:ext cx="128016" cy="0"/>
          </a:xfrm>
          <a:prstGeom prst="line">
            <a:avLst/>
          </a:prstGeom>
          <a:noFill/>
          <a:ln w="12700">
            <a:solidFill>
              <a:srgbClr val="8A97A3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953512" y="4425696"/>
            <a:ext cx="1051560" cy="603504"/>
          </a:xfrm>
          <a:prstGeom prst="rect">
            <a:avLst/>
          </a:prstGeom>
          <a:solidFill>
            <a:srgbClr val="EDF1F4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80944" y="449884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협상 전략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980944" y="4736592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최선 offer 탐색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032504" y="4727448"/>
            <a:ext cx="128016" cy="0"/>
          </a:xfrm>
          <a:prstGeom prst="line">
            <a:avLst/>
          </a:prstGeom>
          <a:noFill/>
          <a:ln w="12700">
            <a:solidFill>
              <a:srgbClr val="8A97A3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187952" y="4425696"/>
            <a:ext cx="960120" cy="603504"/>
          </a:xfrm>
          <a:prstGeom prst="rect">
            <a:avLst/>
          </a:prstGeom>
          <a:solidFill>
            <a:srgbClr val="FBEDE7"/>
          </a:solidFill>
          <a:ln w="12700">
            <a:solidFill>
              <a:srgbClr val="B4441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15384" y="4498848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215384" y="4736592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 · 샘플링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175504" y="4727448"/>
            <a:ext cx="128016" cy="0"/>
          </a:xfrm>
          <a:prstGeom prst="line">
            <a:avLst/>
          </a:prstGeom>
          <a:noFill/>
          <a:ln w="12700">
            <a:solidFill>
              <a:srgbClr val="8A97A3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330952" y="4425696"/>
            <a:ext cx="749808" cy="603504"/>
          </a:xfrm>
          <a:prstGeom prst="rect">
            <a:avLst/>
          </a:prstGeom>
          <a:solidFill>
            <a:srgbClr val="B4441F"/>
          </a:solidFill>
          <a:ln w="12700">
            <a:solidFill>
              <a:srgbClr val="B4441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58384" y="449884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58384" y="473659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7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전 실패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48640" y="5175504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공간을 만들 때가 아니라 전략이 훑을 때 터진다.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전략에 넘기기 전에 후보군을 줄여야 한다 — 그 지점이 DP-01.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" y="5870448"/>
            <a:ext cx="5532120" cy="713232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596188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곱셈적으로 자라는 후보군을 상수 예산 안에 넣어야 한다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5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성장률 자체를 바꾸는 설계가 필요하다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537960" y="391363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C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6976872" y="3950208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아키텍처 결정인가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537960" y="4261104"/>
            <a:ext cx="5074920" cy="0"/>
          </a:xfrm>
          <a:prstGeom prst="line">
            <a:avLst/>
          </a:prstGeom>
          <a:noFill/>
          <a:ln w="12700">
            <a:solidFill>
              <a:srgbClr val="D5DB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37960" y="440740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6793992" y="4407408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프레임워크가 결정 지점을 남겨뒀다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6793992" y="4654296"/>
            <a:ext cx="4818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NegMAS가 enumerate_or_sample · limit_cardinality 를 제공한다 —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 열거가 불가능함을 전제로 사용자에게 위임한 정책 결정.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537960" y="515721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6793992" y="5157216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되돌리기 비용이 크다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6793992" y="5404104"/>
            <a:ext cx="4818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후보군 생성 방식이 OutcomeSpace 타입을 정하고,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타입이 효용함수 표현과 협상 전략의 전제가 된다.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537960" y="59070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6793992" y="5907024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QA가 정면 충돌한다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6793992" y="6153912"/>
            <a:ext cx="4818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Utilization(작게) ↔ Functional Correctness(최적해 유지).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충돌의 조정이 곧 설계 결정이다.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DP-01 — 복합 의제 협상의 후보군 구성 전략</a:t>
            </a:r>
            <a:pPr indent="0" marL="0">
              <a:buNone/>
            </a:pPr>
            <a:r>
              <a:rPr lang="en-US" sz="2500" b="1" dirty="0">
                <a:solidFill>
                  <a:srgbClr val="C3C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500" b="1" dirty="0">
                <a:solidFill>
                  <a:srgbClr val="156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1064240" cy="0"/>
          </a:xfrm>
          <a:prstGeom prst="line">
            <a:avLst/>
          </a:prstGeom>
          <a:noFill/>
          <a:ln w="15875">
            <a:solidFill>
              <a:srgbClr val="1C2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0200" y="102412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1안  </a:t>
            </a:r>
            <a:pPr indent="0" marL="0">
              <a:buNone/>
            </a:pPr>
            <a:r>
              <a:rPr lang="en-US" sz="13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의제별 순차 협상</a:t>
            </a:r>
            <a:pPr indent="0" marL="0">
              <a:buNone/>
            </a:pPr>
            <a:r>
              <a:rPr lang="en-US" sz="105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Pipeline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720840" y="1024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2안  </a:t>
            </a:r>
            <a:pPr indent="0" marL="0">
              <a:buNone/>
            </a:pPr>
            <a:r>
              <a:rPr lang="en-US" sz="1350" b="1" dirty="0">
                <a:solidFill>
                  <a:srgbClr val="15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개인별 후보군 압축 협상</a:t>
            </a:r>
            <a:pPr indent="0" marL="0">
              <a:buNone/>
            </a:pPr>
            <a:r>
              <a:rPr lang="en-US" sz="105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Filter-then-Negotiate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991088" y="1033272"/>
            <a:ext cx="621792" cy="256032"/>
          </a:xfrm>
          <a:prstGeom prst="rect">
            <a:avLst/>
          </a:prstGeom>
          <a:solidFill>
            <a:srgbClr val="156C77"/>
          </a:solidFill>
          <a:ln w="12700">
            <a:solidFill>
              <a:srgbClr val="156C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91088" y="106070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2700">
            <a:solidFill>
              <a:srgbClr val="1C28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3C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7007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224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3C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622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42232"/>
            <a:ext cx="11064240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0017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3C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2395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19472"/>
            <a:ext cx="11064240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9070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3C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1447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824728"/>
            <a:ext cx="11064240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2824" y="1005840"/>
            <a:ext cx="0" cy="5660136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1481328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&amp; Filters — 의제마다 필터 세션, 확정값이 파이프로 흐른다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00200" y="1755648"/>
            <a:ext cx="106070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36776" y="1801368"/>
            <a:ext cx="987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«filter»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36776" y="195681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의제 1 세션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600200" y="2194560"/>
            <a:ext cx="1060704" cy="0"/>
          </a:xfrm>
          <a:prstGeom prst="line">
            <a:avLst/>
          </a:prstGeom>
          <a:noFill/>
          <a:ln w="9525">
            <a:solidFill>
              <a:srgbClr val="5B6B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55064" y="2231136"/>
            <a:ext cx="950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출발일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OutcomeSpace: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Cartesian(1-issue)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97480" y="2194560"/>
            <a:ext cx="146304" cy="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880360" y="1755648"/>
            <a:ext cx="106070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16936" y="1801368"/>
            <a:ext cx="987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«filter»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916936" y="195681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의제 2 세션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80360" y="2194560"/>
            <a:ext cx="1060704" cy="0"/>
          </a:xfrm>
          <a:prstGeom prst="line">
            <a:avLst/>
          </a:prstGeom>
          <a:noFill/>
          <a:ln w="9525">
            <a:solidFill>
              <a:srgbClr val="5B6B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35224" y="2231136"/>
            <a:ext cx="950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목적지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OutcomeSpace: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Cartesian(1-issue)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977640" y="2194560"/>
            <a:ext cx="146304" cy="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160520" y="1755648"/>
            <a:ext cx="106070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97096" y="1801368"/>
            <a:ext cx="987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«filter»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197096" y="195681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의제 3 세션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60520" y="2194560"/>
            <a:ext cx="1060704" cy="0"/>
          </a:xfrm>
          <a:prstGeom prst="line">
            <a:avLst/>
          </a:prstGeom>
          <a:noFill/>
          <a:ln w="9525">
            <a:solidFill>
              <a:srgbClr val="5B6B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15384" y="2231136"/>
            <a:ext cx="950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숙소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OutcomeSpace: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Cartesian(1-issue)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257800" y="2194560"/>
            <a:ext cx="146304" cy="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40680" y="1755648"/>
            <a:ext cx="106070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77256" y="1801368"/>
            <a:ext cx="987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«filter»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477256" y="195681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의제 6 세션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40680" y="2194560"/>
            <a:ext cx="1060704" cy="0"/>
          </a:xfrm>
          <a:prstGeom prst="line">
            <a:avLst/>
          </a:prstGeom>
          <a:noFill/>
          <a:ln w="9525">
            <a:solidFill>
              <a:srgbClr val="5B6B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95544" y="2231136"/>
            <a:ext cx="950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액티비티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OutcomeSpace: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Cartesian(1-issue)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600200" y="2670048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«pipe»  앞 세션 확정값 → 뒤 세션 제약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834640" y="2990088"/>
            <a:ext cx="2468880" cy="566928"/>
          </a:xfrm>
          <a:prstGeom prst="rect">
            <a:avLst/>
          </a:prstGeom>
          <a:solidFill>
            <a:srgbClr val="EDF1F4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71216" y="3035808"/>
            <a:ext cx="2395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«artifact»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871216" y="319125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패키지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130552" y="2624328"/>
            <a:ext cx="0" cy="36576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71032" y="2624328"/>
            <a:ext cx="0" cy="36576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00200" y="3657600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단위 = 의제 값 하나   (제주도,)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20840" y="148132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Filter-then-Negotiate — 단말별 로컬 압축 후 공유 세션 1개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720840" y="1700784"/>
            <a:ext cx="23317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0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6793992" y="17373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단말 A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830568" y="1938528"/>
            <a:ext cx="2112264" cy="969264"/>
          </a:xfrm>
          <a:prstGeom prst="rect">
            <a:avLst/>
          </a:prstGeom>
          <a:solidFill>
            <a:srgbClr val="E3EFF1"/>
          </a:solidFill>
          <a:ln w="12700">
            <a:solidFill>
              <a:srgbClr val="156C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67144" y="1984248"/>
            <a:ext cx="2039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5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867144" y="2139696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LocalCompressor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830568" y="2377440"/>
            <a:ext cx="2112264" cy="0"/>
          </a:xfrm>
          <a:prstGeom prst="line">
            <a:avLst/>
          </a:prstGeom>
          <a:noFill/>
          <a:ln w="9525">
            <a:solidFill>
              <a:srgbClr val="156C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85432" y="2414016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의제를 하나씩 붙이며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 상위 W개만 유지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후보군 W개 (열거형)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235440" y="1700784"/>
            <a:ext cx="23317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0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9308592" y="17373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단말 B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9345168" y="1938528"/>
            <a:ext cx="2112264" cy="969264"/>
          </a:xfrm>
          <a:prstGeom prst="rect">
            <a:avLst/>
          </a:prstGeom>
          <a:solidFill>
            <a:srgbClr val="E3EFF1"/>
          </a:solidFill>
          <a:ln w="12700">
            <a:solidFill>
              <a:srgbClr val="156C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81744" y="1984248"/>
            <a:ext cx="2039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5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9381744" y="2139696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LocalCompressor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345168" y="2377440"/>
            <a:ext cx="2112264" cy="0"/>
          </a:xfrm>
          <a:prstGeom prst="line">
            <a:avLst/>
          </a:prstGeom>
          <a:noFill/>
          <a:ln w="9525">
            <a:solidFill>
              <a:srgbClr val="156C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00032" y="2414016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의제를 하나씩 붙이며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 상위 W개만 유지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후보군 W개 (열거형)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891272" y="3054096"/>
            <a:ext cx="0" cy="329184"/>
          </a:xfrm>
          <a:prstGeom prst="line">
            <a:avLst/>
          </a:prstGeom>
          <a:noFill/>
          <a:ln w="12700">
            <a:solidFill>
              <a:srgbClr val="156C77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10405872" y="3054096"/>
            <a:ext cx="0" cy="329184"/>
          </a:xfrm>
          <a:prstGeom prst="line">
            <a:avLst/>
          </a:prstGeom>
          <a:noFill/>
          <a:ln w="12700">
            <a:solidFill>
              <a:srgbClr val="156C77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7927848" y="31272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후보군 W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223760" y="338328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C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60336" y="3429000"/>
            <a:ext cx="3767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5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260336" y="358444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협상 세션  (N-party)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223760" y="3822192"/>
            <a:ext cx="3840480" cy="0"/>
          </a:xfrm>
          <a:prstGeom prst="line">
            <a:avLst/>
          </a:prstGeom>
          <a:noFill/>
          <a:ln w="9525">
            <a:solidFill>
              <a:srgbClr val="156C7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78624" y="3858768"/>
            <a:ext cx="3730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통째로 offer · accept — 의제를 쪼개지 않는다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720840" y="409651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단위 = 패키지 통째   (6/14, 제주, 호텔A, …)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600200" y="4279392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피크 메모리 14 — 후보군을 한 의제 크기로 억제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세션이 작아 구현·디버깅이 단순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NegMAS CartesianOutcomeSpace 를 그대로 사용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720840" y="4279392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단위 평가로 의제 간 상호작용 보존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 개수 W 로 메모리↔정확성 조절 가능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세션 — 의제가 늘어도 협상 구조 불변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1600200" y="5056632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의제 간 상호작용을 구조적으로 반영 불가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 의제 확정이 뒤를 막으면 backtrack 필요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손실을 줄일 조절 수단(다이얼)이 없음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720840" y="5070348"/>
            <a:ext cx="475488" cy="182880"/>
          </a:xfrm>
          <a:prstGeom prst="rect">
            <a:avLst/>
          </a:prstGeom>
          <a:solidFill>
            <a:srgbClr val="FBEDE7"/>
          </a:solidFill>
          <a:ln w="12700">
            <a:solidFill>
              <a:srgbClr val="FBEDE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20840" y="5084064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보완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269480" y="5056632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피크 메모리 1안의 17배  →  </a:t>
            </a:r>
            <a:pPr indent="0" marL="0">
              <a:buNone/>
            </a:pPr>
            <a:r>
              <a:rPr lang="en-US" sz="950" b="1" dirty="0">
                <a:solidFill>
                  <a:srgbClr val="15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하향 · 큰 의제를 뒤로 배치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6720840" y="5326380"/>
            <a:ext cx="475488" cy="182880"/>
          </a:xfrm>
          <a:prstGeom prst="rect">
            <a:avLst/>
          </a:prstGeom>
          <a:solidFill>
            <a:srgbClr val="FBEDE7"/>
          </a:solidFill>
          <a:ln w="12700">
            <a:solidFill>
              <a:srgbClr val="FBEDE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20840" y="5340096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보완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269480" y="531266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압축 때 좋은 후보 유실  →  </a:t>
            </a:r>
            <a:pPr indent="0" marL="0">
              <a:buNone/>
            </a:pPr>
            <a:r>
              <a:rPr lang="en-US" sz="950" b="1" dirty="0">
                <a:solidFill>
                  <a:srgbClr val="15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낙관적 상한 평가로 조기 탈락 방지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720840" y="5582412"/>
            <a:ext cx="475488" cy="182880"/>
          </a:xfrm>
          <a:prstGeom prst="rect">
            <a:avLst/>
          </a:prstGeom>
          <a:solidFill>
            <a:srgbClr val="FBEDE7"/>
          </a:solidFill>
          <a:ln w="12700">
            <a:solidFill>
              <a:srgbClr val="FBEDE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20840" y="5596128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보완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269480" y="5568696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후보군 불일치 시 합의 실패  →  </a:t>
            </a:r>
            <a:pPr indent="0" marL="0">
              <a:buNone/>
            </a:pPr>
            <a:r>
              <a:rPr lang="en-US" sz="950" b="1" dirty="0">
                <a:solidFill>
                  <a:srgbClr val="15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상향 재시도 정책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1600200" y="59253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품질속성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3200400" y="59253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품질속성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349240" y="59253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1안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720840" y="59253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2안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7287768" y="5925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1600200" y="61356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Efficiency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3200400" y="61356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 — 메모리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349240" y="6172200"/>
            <a:ext cx="114300" cy="114300"/>
          </a:xfrm>
          <a:prstGeom prst="ellipse">
            <a:avLst/>
          </a:prstGeom>
          <a:solidFill>
            <a:srgbClr val="5B6B7A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504688" y="6172200"/>
            <a:ext cx="114300" cy="114300"/>
          </a:xfrm>
          <a:prstGeom prst="ellipse">
            <a:avLst/>
          </a:prstGeom>
          <a:solidFill>
            <a:srgbClr val="5B6B7A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660136" y="6172200"/>
            <a:ext cx="114300" cy="114300"/>
          </a:xfrm>
          <a:prstGeom prst="ellipse">
            <a:avLst/>
          </a:prstGeom>
          <a:solidFill>
            <a:srgbClr val="5B6B7A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879592" y="61356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피크 14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6720840" y="6172200"/>
            <a:ext cx="114300" cy="114300"/>
          </a:xfrm>
          <a:prstGeom prst="ellipse">
            <a:avLst/>
          </a:prstGeom>
          <a:solidFill>
            <a:srgbClr val="156C77"/>
          </a:solidFill>
          <a:ln w="12700">
            <a:solidFill>
              <a:srgbClr val="156C77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876288" y="6172200"/>
            <a:ext cx="114300" cy="114300"/>
          </a:xfrm>
          <a:prstGeom prst="ellipse">
            <a:avLst/>
          </a:prstGeom>
          <a:solidFill>
            <a:srgbClr val="156C77"/>
          </a:solidFill>
          <a:ln w="12700">
            <a:solidFill>
              <a:srgbClr val="156C7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031736" y="6172200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CD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287768" y="61356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피크 240 — W로 조절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1600200" y="63367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Suitability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3200400" y="63367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Correctness — 합의 품질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5349240" y="6373368"/>
            <a:ext cx="114300" cy="114300"/>
          </a:xfrm>
          <a:prstGeom prst="ellipse">
            <a:avLst/>
          </a:prstGeom>
          <a:solidFill>
            <a:srgbClr val="5B6B7A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504688" y="6373368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CD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60136" y="6373368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CD4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879592" y="633679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상호작용 손실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6720840" y="6373368"/>
            <a:ext cx="114300" cy="114300"/>
          </a:xfrm>
          <a:prstGeom prst="ellipse">
            <a:avLst/>
          </a:prstGeom>
          <a:solidFill>
            <a:srgbClr val="156C77"/>
          </a:solidFill>
          <a:ln w="12700">
            <a:solidFill>
              <a:srgbClr val="156C77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876288" y="6373368"/>
            <a:ext cx="114300" cy="114300"/>
          </a:xfrm>
          <a:prstGeom prst="ellipse">
            <a:avLst/>
          </a:prstGeom>
          <a:solidFill>
            <a:srgbClr val="156C77"/>
          </a:solidFill>
          <a:ln w="12700">
            <a:solidFill>
              <a:srgbClr val="156C77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031736" y="6373368"/>
            <a:ext cx="114300" cy="114300"/>
          </a:xfrm>
          <a:prstGeom prst="ellipse">
            <a:avLst/>
          </a:prstGeom>
          <a:solidFill>
            <a:srgbClr val="156C77"/>
          </a:solidFill>
          <a:ln w="12700">
            <a:solidFill>
              <a:srgbClr val="156C77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287768" y="6336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상호작용 보존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1600200" y="6537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3200400" y="65379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— 의제 조합 수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5349240" y="6574536"/>
            <a:ext cx="114300" cy="114300"/>
          </a:xfrm>
          <a:prstGeom prst="ellipse">
            <a:avLst/>
          </a:prstGeom>
          <a:solidFill>
            <a:srgbClr val="5B6B7A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04688" y="6574536"/>
            <a:ext cx="114300" cy="114300"/>
          </a:xfrm>
          <a:prstGeom prst="ellipse">
            <a:avLst/>
          </a:prstGeom>
          <a:solidFill>
            <a:srgbClr val="5B6B7A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660136" y="6574536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CD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87959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선형 증가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6720840" y="6574536"/>
            <a:ext cx="114300" cy="114300"/>
          </a:xfrm>
          <a:prstGeom prst="ellipse">
            <a:avLst/>
          </a:prstGeom>
          <a:solidFill>
            <a:srgbClr val="156C77"/>
          </a:solidFill>
          <a:ln w="12700">
            <a:solidFill>
              <a:srgbClr val="156C77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876288" y="6574536"/>
            <a:ext cx="114300" cy="114300"/>
          </a:xfrm>
          <a:prstGeom prst="ellipse">
            <a:avLst/>
          </a:prstGeom>
          <a:solidFill>
            <a:srgbClr val="156C77"/>
          </a:solidFill>
          <a:ln w="12700">
            <a:solidFill>
              <a:srgbClr val="156C7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031736" y="6574536"/>
            <a:ext cx="114300" cy="114300"/>
          </a:xfrm>
          <a:prstGeom prst="ellipse">
            <a:avLst/>
          </a:prstGeom>
          <a:solidFill>
            <a:srgbClr val="156C77"/>
          </a:solidFill>
          <a:ln w="12700">
            <a:solidFill>
              <a:srgbClr val="156C77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287768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세션 유지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9281160" y="630936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5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의제 간 상호의존이 전제  →  상호작용을 담을 수 있는 2안 채택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2026-08-11T05:43:31Z</dcterms:created>
  <dcterms:modified xsi:type="dcterms:W3CDTF">2026-08-11T05:43:31Z</dcterms:modified>
</cp:coreProperties>
</file>