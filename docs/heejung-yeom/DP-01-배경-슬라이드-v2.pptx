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 lang="ko-KR">
                <a:solidFill>
                  <a:srgbClr val="156C77"/>
                </a:solidFill>
                <a:latin typeface="Noto Sans KR"/>
                <a:ea typeface="Noto Sans KR"/>
              </a:rPr>
              <a:t>Design Point 01</a:t>
            </a: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   복합 의제 협상의 후보군 구성 —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 lang="ko-KR">
                <a:solidFill>
                  <a:srgbClr val="1C2833"/>
                </a:solidFill>
                <a:latin typeface="Noto Sans KR"/>
                <a:ea typeface="Noto Sans KR"/>
              </a:rPr>
              <a:t>후보는 곱으로 자라고, 메모리는 상수다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3401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 lang="ko-KR">
                <a:solidFill>
                  <a:srgbClr val="1C2833"/>
                </a:solidFill>
                <a:latin typeface="Noto Sans KR"/>
                <a:ea typeface="Noto Sans KR"/>
              </a:rPr>
              <a:t>01  문제 — 두 겹의 제약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340156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–  </a:t>
            </a: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후보 수 = ∏|의제|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050" b="0" i="0" lang="ko-KR">
                <a:solidFill>
                  <a:srgbClr val="7A8794"/>
                </a:solidFill>
                <a:latin typeface="Noto Sans KR"/>
                <a:ea typeface="Noto Sans KR"/>
              </a:rPr>
              <a:t>    의제 하나 추가는 덧셈이 아니라 배수 —
    성장률 자체가 곱셈적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–  </a:t>
            </a: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앱 힙 예산은 상수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050" b="0" i="0" lang="ko-KR">
                <a:solidFill>
                  <a:srgbClr val="7A8794"/>
                </a:solidFill>
                <a:latin typeface="Noto Sans KR"/>
                <a:ea typeface="Noto Sans KR"/>
              </a:rPr>
              <a:t>    heapgrowthlimit 캡 · ADJ ≤ 300 상주 금지
    → 별도 프로세스로 우회 불가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–  </a:t>
            </a: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의제는 서로 얽혀 있다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050" b="0" i="0" lang="ko-KR">
                <a:solidFill>
                  <a:srgbClr val="7A8794"/>
                </a:solidFill>
                <a:latin typeface="Noto Sans KR"/>
                <a:ea typeface="Noto Sans KR"/>
              </a:rPr>
              <a:t>    효용은 조합에서만 정의된다 —
    쪼개서 줄이면 손실이 구조적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–  </a:t>
            </a: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OOM은 탐색 시점에 터진다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050" b="0" i="0" lang="ko-KR">
                <a:solidFill>
                  <a:srgbClr val="7A8794"/>
                </a:solidFill>
                <a:latin typeface="Noto Sans KR"/>
                <a:ea typeface="Noto Sans KR"/>
              </a:rPr>
              <a:t>    공간 생성(lazy)이 아니라 전략의
    효용순 정렬·대량 샘플링에서 실체화</a:t>
            </a:r>
          </a:p>
          <a:p>
            <a:pPr algn="l">
              <a:spcAft>
                <a:spcPts val="0"/>
              </a:spcAft>
            </a:pPr>
            <a:r>
              <a:rPr sz="1150" b="1" i="0" lang="ko-KR">
                <a:solidFill>
                  <a:srgbClr val="156C77"/>
                </a:solidFill>
                <a:latin typeface="Noto Sans KR"/>
                <a:ea typeface="Noto Sans KR"/>
              </a:rPr>
              <a:t>→  전략에 넘기기 전에 줄여야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528" y="1298448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 lang="ko-KR">
                <a:solidFill>
                  <a:srgbClr val="1C2833"/>
                </a:solidFill>
                <a:latin typeface="Noto Sans KR"/>
                <a:ea typeface="Noto Sans KR"/>
              </a:rPr>
              <a:t>02  사례 — 여행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4528" y="1627632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 lang="ko-KR">
                <a:solidFill>
                  <a:srgbClr val="1C2833"/>
                </a:solidFill>
                <a:latin typeface="Noto Sans KR"/>
                <a:ea typeface="Noto Sans KR"/>
              </a:rPr>
              <a:t>161,280</a:t>
            </a:r>
          </a:p>
          <a:p>
            <a:pPr algn="l">
              <a:spcAft>
                <a:spcPts val="0"/>
              </a:spcAft>
            </a:pP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의제 6개 · 14×3×8×12×4×10 조합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4528" y="2578608"/>
            <a:ext cx="3429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 lang="ko-KR">
                <a:solidFill>
                  <a:srgbClr val="7A8794"/>
                </a:solidFill>
                <a:latin typeface="Noto Sans KR"/>
                <a:ea typeface="Noto Sans KR"/>
              </a:rPr>
              <a:t>일정 잡기 · 의제 2      </a:t>
            </a:r>
            <a:r>
              <a:rPr sz="1050" b="0" i="0" lang="ko-KR">
                <a:solidFill>
                  <a:srgbClr val="1C2833"/>
                </a:solidFill>
                <a:latin typeface="Noto Sans KR"/>
                <a:ea typeface="Noto Sans KR"/>
              </a:rPr>
              <a:t>56</a:t>
            </a:r>
          </a:p>
          <a:p>
            <a:pPr algn="l">
              <a:spcAft>
                <a:spcPts val="300"/>
              </a:spcAft>
            </a:pPr>
            <a:r>
              <a:rPr sz="1050" b="0" i="0" lang="ko-KR">
                <a:solidFill>
                  <a:srgbClr val="7A8794"/>
                </a:solidFill>
                <a:latin typeface="Noto Sans KR"/>
                <a:ea typeface="Noto Sans KR"/>
              </a:rPr>
              <a:t>영화 예약 · 의제 4      </a:t>
            </a:r>
            <a:r>
              <a:rPr sz="1050" b="0" i="0" lang="ko-KR">
                <a:solidFill>
                  <a:srgbClr val="1C2833"/>
                </a:solidFill>
                <a:latin typeface="Noto Sans KR"/>
                <a:ea typeface="Noto Sans KR"/>
              </a:rPr>
              <a:t>840</a:t>
            </a:r>
          </a:p>
          <a:p>
            <a:pPr algn="l">
              <a:spcAft>
                <a:spcPts val="400"/>
              </a:spcAft>
            </a:pPr>
            <a:r>
              <a:rPr sz="1050" b="0" i="0" lang="ko-KR">
                <a:solidFill>
                  <a:srgbClr val="7A8794"/>
                </a:solidFill>
                <a:latin typeface="Noto Sans KR"/>
                <a:ea typeface="Noto Sans KR"/>
              </a:rPr>
              <a:t>여행 계획 · 의제 6      </a:t>
            </a:r>
            <a:r>
              <a:rPr sz="1050" b="1" i="0" lang="ko-KR">
                <a:solidFill>
                  <a:srgbClr val="1C2833"/>
                </a:solidFill>
                <a:latin typeface="Noto Sans KR"/>
                <a:ea typeface="Noto Sans KR"/>
              </a:rPr>
              <a:t>161,280</a:t>
            </a:r>
          </a:p>
          <a:p>
            <a:pPr algn="l">
              <a:spcAft>
                <a:spcPts val="0"/>
              </a:spcAft>
            </a:pPr>
            <a:r>
              <a:rPr sz="1100" b="1" i="0" lang="ko-KR">
                <a:solidFill>
                  <a:srgbClr val="156C77"/>
                </a:solidFill>
                <a:latin typeface="Noto Sans KR"/>
                <a:ea typeface="Noto Sans KR"/>
              </a:rPr>
              <a:t>의제 2 → 6개 : 후보 ×2,880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3639312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조합에서만 드러나는 오류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제주도 ⇒ KTX 불가  ·  겨울 ⇒ 해수욕 무의미
2박3일 ⇒ 액티비티 10개를 담을 수 없음</a:t>
            </a:r>
          </a:p>
          <a:p>
            <a:pPr algn="l">
              <a:spcAft>
                <a:spcPts val="0"/>
              </a:spcAft>
            </a:pPr>
            <a:r>
              <a:rPr sz="1000" b="0" i="1" lang="ko-KR">
                <a:solidFill>
                  <a:srgbClr val="1C2833"/>
                </a:solidFill>
                <a:latin typeface="Noto Sans KR"/>
                <a:ea typeface="Noto Sans KR"/>
              </a:rPr>
              <a:t>값은 전부 정상, 조합이 비정상 — 의제를 따로 평가할 수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129844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 lang="ko-KR">
                <a:solidFill>
                  <a:srgbClr val="1C2833"/>
                </a:solidFill>
                <a:latin typeface="Noto Sans KR"/>
                <a:ea typeface="Noto Sans KR"/>
              </a:rPr>
              <a:t>03  결정의 산출물 — OutcomeSpace 타입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13648" y="1700784"/>
            <a:ext cx="2395728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1C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746504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 lang="ko-KR">
                <a:solidFill>
                  <a:srgbClr val="1C2833"/>
                </a:solidFill>
                <a:latin typeface="Noto Sans KR"/>
                <a:ea typeface="Noto Sans KR"/>
              </a:rPr>
              <a:t>«abstract» OutcomeSpace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13648" y="2011680"/>
            <a:ext cx="2395728" cy="0"/>
          </a:xfrm>
          <a:prstGeom prst="line">
            <a:avLst/>
          </a:prstGeom>
          <a:ln w="1143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41664" y="2057400"/>
            <a:ext cx="2176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 lang="ko-KR">
                <a:solidFill>
                  <a:srgbClr val="7A8794"/>
                </a:solidFill>
                <a:latin typeface="Noto Sans KR"/>
                <a:ea typeface="Noto Sans KR"/>
              </a:rPr>
              <a:t>cardinality = ∏|Issue|</a:t>
            </a:r>
          </a:p>
          <a:p>
            <a:pPr algn="l">
              <a:spcAft>
                <a:spcPts val="100"/>
              </a:spcAft>
            </a:pPr>
            <a:r>
              <a:rPr sz="900" b="0" i="0" lang="ko-KR">
                <a:solidFill>
                  <a:srgbClr val="7A8794"/>
                </a:solidFill>
                <a:latin typeface="Noto Sans KR"/>
                <a:ea typeface="Noto Sans KR"/>
              </a:rPr>
              <a:t>enumerate_or_sample()</a:t>
            </a:r>
          </a:p>
          <a:p>
            <a:pPr algn="l">
              <a:spcAft>
                <a:spcPts val="0"/>
              </a:spcAft>
            </a:pPr>
            <a:r>
              <a:rPr sz="900" b="0" i="0" lang="ko-KR">
                <a:solidFill>
                  <a:srgbClr val="7A8794"/>
                </a:solidFill>
                <a:latin typeface="Noto Sans KR"/>
                <a:ea typeface="Noto Sans KR"/>
              </a:rPr>
              <a:t>limit_cardinality()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9701784" y="2633472"/>
            <a:ext cx="219456" cy="155448"/>
          </a:xfrm>
          <a:prstGeom prst="triangle">
            <a:avLst/>
          </a:prstGeom>
          <a:solidFill>
            <a:srgbClr val="FFFFFF"/>
          </a:solidFill>
          <a:ln w="13970">
            <a:solidFill>
              <a:srgbClr val="1C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811512" y="2788920"/>
            <a:ext cx="0" cy="164592"/>
          </a:xfrm>
          <a:prstGeom prst="line">
            <a:avLst/>
          </a:prstGeom>
          <a:ln w="1397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842248" y="2953512"/>
            <a:ext cx="1920240" cy="0"/>
          </a:xfrm>
          <a:prstGeom prst="line">
            <a:avLst/>
          </a:prstGeom>
          <a:ln w="1397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42248" y="2953512"/>
            <a:ext cx="0" cy="164592"/>
          </a:xfrm>
          <a:prstGeom prst="line">
            <a:avLst/>
          </a:prstGeom>
          <a:ln w="1397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62488" y="2953512"/>
            <a:ext cx="0" cy="164592"/>
          </a:xfrm>
          <a:prstGeom prst="line">
            <a:avLst/>
          </a:prstGeom>
          <a:ln w="1397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973568" y="3118104"/>
            <a:ext cx="1737360" cy="969264"/>
          </a:xfrm>
          <a:prstGeom prst="rect">
            <a:avLst/>
          </a:prstGeom>
          <a:solidFill>
            <a:srgbClr val="FFFFFF"/>
          </a:solidFill>
          <a:ln w="13970">
            <a:solidFill>
              <a:srgbClr val="1C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432" y="3163824"/>
            <a:ext cx="16276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lang="ko-KR">
                <a:solidFill>
                  <a:srgbClr val="1C2833"/>
                </a:solidFill>
                <a:latin typeface="Noto Sans KR"/>
                <a:ea typeface="Noto Sans KR"/>
              </a:rPr>
              <a:t>CartesianOutcomeSpace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73568" y="3410712"/>
            <a:ext cx="1737360" cy="0"/>
          </a:xfrm>
          <a:prstGeom prst="line">
            <a:avLst/>
          </a:prstGeom>
          <a:ln w="1016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55864" y="3456432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 i="0" lang="ko-KR">
                <a:solidFill>
                  <a:srgbClr val="7A8794"/>
                </a:solidFill>
                <a:latin typeface="Noto Sans KR"/>
                <a:ea typeface="Noto Sans KR"/>
              </a:rPr>
              <a:t>의제별 곱 구조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i="0" lang="ko-KR">
                <a:solidFill>
                  <a:srgbClr val="7A8794"/>
                </a:solidFill>
                <a:latin typeface="Noto Sans KR"/>
                <a:ea typeface="Noto Sans KR"/>
              </a:rPr>
              <a:t>임의 부분집합 표현 불가</a:t>
            </a:r>
          </a:p>
          <a:p>
            <a:pPr algn="l">
              <a:spcAft>
                <a:spcPts val="0"/>
              </a:spcAft>
            </a:pPr>
            <a:r>
              <a:rPr sz="850" b="1" i="0" lang="ko-KR">
                <a:solidFill>
                  <a:srgbClr val="156C77"/>
                </a:solidFill>
                <a:latin typeface="Noto Sans KR"/>
                <a:ea typeface="Noto Sans KR"/>
              </a:rPr>
              <a:t>→ 1안 · 세션마다 단일 issue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93808" y="3118104"/>
            <a:ext cx="1737360" cy="969264"/>
          </a:xfrm>
          <a:prstGeom prst="rect">
            <a:avLst/>
          </a:prstGeom>
          <a:solidFill>
            <a:srgbClr val="FFFFFF"/>
          </a:solidFill>
          <a:ln w="13970">
            <a:solidFill>
              <a:srgbClr val="1C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3163824"/>
            <a:ext cx="16276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lang="ko-KR">
                <a:solidFill>
                  <a:srgbClr val="1C2833"/>
                </a:solidFill>
                <a:latin typeface="Noto Sans KR"/>
                <a:ea typeface="Noto Sans KR"/>
              </a:rPr>
              <a:t>열거형 OutcomeSpace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93808" y="3410712"/>
            <a:ext cx="1737360" cy="0"/>
          </a:xfrm>
          <a:prstGeom prst="line">
            <a:avLst/>
          </a:prstGeom>
          <a:ln w="1016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976104" y="3456432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 i="0" lang="ko-KR">
                <a:solidFill>
                  <a:srgbClr val="7A8794"/>
                </a:solidFill>
                <a:latin typeface="Noto Sans KR"/>
                <a:ea typeface="Noto Sans KR"/>
              </a:rPr>
              <a:t>압축된 패키지 집합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 i="0" lang="ko-KR">
                <a:solidFill>
                  <a:srgbClr val="7A8794"/>
                </a:solidFill>
                <a:latin typeface="Noto Sans KR"/>
                <a:ea typeface="Noto Sans KR"/>
              </a:rPr>
              <a:t>임의 부분집합 표현 가능</a:t>
            </a:r>
          </a:p>
          <a:p>
            <a:pPr algn="l">
              <a:spcAft>
                <a:spcPts val="0"/>
              </a:spcAft>
            </a:pPr>
            <a:r>
              <a:rPr sz="850" b="1" i="0" lang="ko-KR">
                <a:solidFill>
                  <a:srgbClr val="156C77"/>
                </a:solidFill>
                <a:latin typeface="Noto Sans KR"/>
                <a:ea typeface="Noto Sans KR"/>
              </a:rPr>
              <a:t>→ 2안 · 상위 W 패키지</a:t>
            </a:r>
          </a:p>
        </p:txBody>
      </p:sp>
      <p:sp>
        <p:nvSpPr>
          <p:cNvPr id="28" name="Folded Corner 27"/>
          <p:cNvSpPr/>
          <p:nvPr/>
        </p:nvSpPr>
        <p:spPr>
          <a:xfrm>
            <a:off x="7973568" y="4251960"/>
            <a:ext cx="3657600" cy="713232"/>
          </a:xfrm>
          <a:prstGeom prst="foldedCorner">
            <a:avLst/>
          </a:prstGeom>
          <a:solidFill>
            <a:srgbClr val="EFF2F4"/>
          </a:solidFill>
          <a:ln w="12700">
            <a:solidFill>
              <a:srgbClr val="B9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46304" tIns="64008" wrap="square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1C2833"/>
                </a:solidFill>
                <a:latin typeface="Noto Sans KR"/>
                <a:ea typeface="Noto Sans KR"/>
              </a:rPr>
              <a:t>타입 결정이 효용함수 표현과 협상 전략의 전제가 된다.
이후 변경은 그 위에 쌓인 것을 함께 들어낸다 — 되돌리기 비용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84064"/>
            <a:ext cx="11091672" cy="1371600"/>
          </a:xfrm>
          <a:prstGeom prst="rect">
            <a:avLst/>
          </a:prstGeom>
          <a:solidFill>
            <a:srgbClr val="EF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212079"/>
            <a:ext cx="649224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 lang="ko-KR">
                <a:solidFill>
                  <a:srgbClr val="156C77"/>
                </a:solidFill>
                <a:latin typeface="Noto Sans KR"/>
                <a:ea typeface="Noto Sans KR"/>
              </a:rPr>
              <a:t>DECISION POINT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50" b="1" i="0" lang="ko-KR">
                <a:solidFill>
                  <a:srgbClr val="1C2833"/>
                </a:solidFill>
                <a:latin typeface="Noto Sans KR"/>
                <a:ea typeface="Noto Sans KR"/>
              </a:rPr>
              <a:t>협상 전략이 공간을 훑기 전에 — 후보군을 어떤 타입으로,
어떤 규칙으로 줄여서 넘길 것인가</a:t>
            </a:r>
          </a:p>
          <a:p>
            <a:pPr algn="l">
              <a:spcAft>
                <a:spcPts val="0"/>
              </a:spcAft>
            </a:pPr>
            <a:r>
              <a:rPr sz="950" b="0" i="0" lang="ko-KR">
                <a:solidFill>
                  <a:srgbClr val="7A8794"/>
                </a:solidFill>
                <a:latin typeface="Noto Sans KR"/>
                <a:ea typeface="Noto Sans KR"/>
              </a:rPr>
              <a:t>NegMAS가 설계자에게 위임한 정책 결정 — enumerate_or_sample() · limit_cardinality()는 "전부 열거 불가"를 전제한다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5230368"/>
            <a:ext cx="3794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 lang="ko-KR">
                <a:solidFill>
                  <a:srgbClr val="1C2833"/>
                </a:solidFill>
                <a:latin typeface="Noto Sans KR"/>
                <a:ea typeface="Noto Sans KR"/>
              </a:rPr>
              <a:t>Resource Utilization</a:t>
            </a: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  작게 만들어라 — Memory ≤ α%</a:t>
            </a:r>
          </a:p>
          <a:p>
            <a:pPr algn="l">
              <a:spcAft>
                <a:spcPts val="700"/>
              </a:spcAft>
            </a:pPr>
            <a:r>
              <a:rPr sz="1050" b="1" i="0" lang="ko-KR">
                <a:solidFill>
                  <a:srgbClr val="1C2833"/>
                </a:solidFill>
                <a:latin typeface="Noto Sans KR"/>
                <a:ea typeface="Noto Sans KR"/>
              </a:rPr>
              <a:t>Functional Correctness</a:t>
            </a: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  놓치지 마라 — U/U* ≥ α_th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156C77"/>
                </a:solidFill>
                <a:latin typeface="Noto Sans KR"/>
                <a:ea typeface="Noto Sans KR"/>
              </a:rPr>
              <a:t>이 충돌의 조정이 곧 설계 결정
</a:t>
            </a:r>
            <a:r>
              <a:rPr sz="950" b="0" i="0" lang="ko-KR">
                <a:solidFill>
                  <a:srgbClr val="7A8794"/>
                </a:solidFill>
                <a:latin typeface="Noto Sans KR"/>
                <a:ea typeface="Noto Sans KR"/>
              </a:rPr>
              <a:t>1안 의제별 순차(Pipeline)  ·  2안 후보군 압축(Filter-then-Negotiate)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1064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 lang="ko-KR">
                <a:solidFill>
                  <a:srgbClr val="8A97A3"/>
                </a:solidFill>
                <a:latin typeface="Noto Sans KR"/>
                <a:ea typeface="Noto Sans KR"/>
              </a:rPr>
              <a:t>근거 — docs/05-NFR.md NFR-MAF-06(Memory 300MB) · DP-01-메모리-산정.md(ADJ·힙 상한) · negmas OutcomeSpace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