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918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 lang="ko-KR">
                <a:solidFill>
                  <a:srgbClr val="7A8794"/>
                </a:solidFill>
                <a:latin typeface="Noto Sans KR"/>
                <a:ea typeface="Noto Sans KR"/>
              </a:rPr>
              <a:t>DP-01  복합 의제 협상 — 후보군 구성 배경 보고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329184"/>
            <a:ext cx="28620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 lang="ko-KR">
                <a:solidFill>
                  <a:srgbClr val="7A8794"/>
                </a:solidFill>
                <a:latin typeface="Noto Sans KR"/>
                <a:ea typeface="Noto Sans KR"/>
              </a:rPr>
              <a:t>2026. 08. 12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85216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 lang="ko-KR">
                <a:solidFill>
                  <a:srgbClr val="1C2833"/>
                </a:solidFill>
                <a:latin typeface="Noto Sans KR"/>
                <a:ea typeface="Noto Sans KR"/>
              </a:rPr>
              <a:t>후보 수는 곱으로 증가하나 메모리는 상수 — 협상 전 후보군 축소가 필요함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5204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 lang="ko-KR">
                <a:solidFill>
                  <a:srgbClr val="1C2833"/>
                </a:solidFill>
                <a:latin typeface="Noto Sans KR"/>
                <a:ea typeface="Noto Sans KR"/>
              </a:rPr>
              <a:t>1. 문제 정의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55648"/>
            <a:ext cx="352044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 lang="ko-KR">
                <a:solidFill>
                  <a:srgbClr val="7A8794"/>
                </a:solidFill>
                <a:latin typeface="Noto Sans KR"/>
                <a:ea typeface="Noto Sans KR"/>
              </a:rPr>
              <a:t>–  </a:t>
            </a: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후보 수는 의제 값의 곱으로 증가함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000" b="0" i="0" lang="ko-KR">
                <a:solidFill>
                  <a:srgbClr val="7A8794"/>
                </a:solidFill>
                <a:latin typeface="Noto Sans KR"/>
                <a:ea typeface="Noto Sans KR"/>
              </a:rPr>
              <a:t>    의제 1개 추가 시 덧셈이 아닌 배수로 증가함
    (후보 수 = ∏|의제|)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 lang="ko-KR">
                <a:solidFill>
                  <a:srgbClr val="7A8794"/>
                </a:solidFill>
                <a:latin typeface="Noto Sans KR"/>
                <a:ea typeface="Noto Sans KR"/>
              </a:rPr>
              <a:t>–  </a:t>
            </a: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단말 메모리는 상수로 고정됨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000" b="0" i="0" lang="ko-KR">
                <a:solidFill>
                  <a:srgbClr val="7A8794"/>
                </a:solidFill>
                <a:latin typeface="Noto Sans KR"/>
                <a:ea typeface="Noto Sans KR"/>
              </a:rPr>
              <a:t>    OS가 앱 힙 상한을 고정하며, ADJ ≤ 300 상주
    금지로 별도 프로세스 우회가 불가함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 lang="ko-KR">
                <a:solidFill>
                  <a:srgbClr val="7A8794"/>
                </a:solidFill>
                <a:latin typeface="Noto Sans KR"/>
                <a:ea typeface="Noto Sans KR"/>
              </a:rPr>
              <a:t>–  </a:t>
            </a: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의제 간 상호의존으로 분할이 불가함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000" b="0" i="0" lang="ko-KR">
                <a:solidFill>
                  <a:srgbClr val="7A8794"/>
                </a:solidFill>
                <a:latin typeface="Noto Sans KR"/>
                <a:ea typeface="Noto Sans KR"/>
              </a:rPr>
              <a:t>    효용이 조합 단위로만 정의되어, 의제별 분할
    축소 시 합의 품질 손실이 구조적으로 발생함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100" b="0" i="0" lang="ko-KR">
                <a:solidFill>
                  <a:srgbClr val="7A8794"/>
                </a:solidFill>
                <a:latin typeface="Noto Sans KR"/>
                <a:ea typeface="Noto Sans KR"/>
              </a:rPr>
              <a:t>–  </a:t>
            </a: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OOM은 협상 전략 탐색 시점에 발생함</a:t>
            </a:r>
          </a:p>
          <a:p>
            <a:pPr algn="l">
              <a:lnSpc>
                <a:spcPct val="118000"/>
              </a:lnSpc>
              <a:spcAft>
                <a:spcPts val="900"/>
              </a:spcAft>
            </a:pPr>
            <a:r>
              <a:rPr sz="1000" b="0" i="0" lang="ko-KR">
                <a:solidFill>
                  <a:srgbClr val="7A8794"/>
                </a:solidFill>
                <a:latin typeface="Noto Sans KR"/>
                <a:ea typeface="Noto Sans KR"/>
              </a:rPr>
              <a:t>    공간 생성이 아닌 효용순 정렬·샘플링 단계에서
    실체화됨 — 전략 투입 전이 유일한 개입 지점임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371600"/>
            <a:ext cx="3566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 lang="ko-KR">
                <a:solidFill>
                  <a:srgbClr val="1C2833"/>
                </a:solidFill>
                <a:latin typeface="Noto Sans KR"/>
                <a:ea typeface="Noto Sans KR"/>
              </a:rPr>
              <a:t>2. 후보군 규모 — 시나리오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847088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lang="ko-KR">
                <a:solidFill>
                  <a:srgbClr val="7A8794"/>
                </a:solidFill>
                <a:latin typeface="Noto Sans KR"/>
                <a:ea typeface="Noto Sans KR"/>
              </a:rPr>
              <a:t>일정 · 의제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513832" y="1860804"/>
            <a:ext cx="10972" cy="173736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8812" y="1847088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lang="ko-KR">
                <a:solidFill>
                  <a:srgbClr val="1C2833"/>
                </a:solidFill>
                <a:latin typeface="Noto Sans KR"/>
                <a:ea typeface="Noto Sans KR"/>
              </a:rPr>
              <a:t>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185416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lang="ko-KR">
                <a:solidFill>
                  <a:srgbClr val="7A8794"/>
                </a:solidFill>
                <a:latin typeface="Noto Sans KR"/>
                <a:ea typeface="Noto Sans KR"/>
              </a:rPr>
              <a:t>영화 · 의제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13832" y="2199132"/>
            <a:ext cx="10972" cy="173736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88812" y="2185416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lang="ko-KR">
                <a:solidFill>
                  <a:srgbClr val="1C2833"/>
                </a:solidFill>
                <a:latin typeface="Noto Sans KR"/>
                <a:ea typeface="Noto Sans KR"/>
              </a:rPr>
              <a:t>840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523744"/>
            <a:ext cx="111556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lang="ko-KR">
                <a:solidFill>
                  <a:srgbClr val="7A8794"/>
                </a:solidFill>
                <a:latin typeface="Noto Sans KR"/>
                <a:ea typeface="Noto Sans KR"/>
              </a:rPr>
              <a:t>여행 · 의제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13832" y="2537460"/>
            <a:ext cx="1874519" cy="173736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523744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lang="ko-KR">
                <a:solidFill>
                  <a:srgbClr val="1C2833"/>
                </a:solidFill>
                <a:latin typeface="Noto Sans KR"/>
                <a:ea typeface="Noto Sans KR"/>
              </a:rPr>
              <a:t>161,280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803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0" i="1" lang="ko-KR">
                <a:solidFill>
                  <a:srgbClr val="8A97A3"/>
                </a:solidFill>
                <a:latin typeface="Noto Sans KR"/>
                <a:ea typeface="Noto Sans KR"/>
              </a:rPr>
              <a:t>동일 눈금 비교 시 일정·영화는 보이지 않는 수준임</a:t>
            </a:r>
          </a:p>
          <a:p>
            <a:pPr algn="l">
              <a:spcAft>
                <a:spcPts val="0"/>
              </a:spcAft>
            </a:pPr>
            <a:r>
              <a:rPr sz="1100" b="1" i="0" lang="ko-KR">
                <a:solidFill>
                  <a:srgbClr val="156C77"/>
                </a:solidFill>
                <a:latin typeface="Noto Sans KR"/>
                <a:ea typeface="Noto Sans KR"/>
              </a:rPr>
              <a:t>의제 2 → 6개 확대 시 후보 ×2,880 증가함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703320"/>
            <a:ext cx="356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오류는 조합에서만 드러남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 i="0" lang="ko-KR">
                <a:solidFill>
                  <a:srgbClr val="7A8794"/>
                </a:solidFill>
                <a:latin typeface="Noto Sans KR"/>
                <a:ea typeface="Noto Sans KR"/>
              </a:rPr>
              <a:t>제주도 ⇒ KTX 불가 · 겨울 ⇒ 해수욕 무의미 등
의제별 값은 정상이나 조합이 비정상임</a:t>
            </a:r>
          </a:p>
          <a:p>
            <a:pPr algn="l">
              <a:spcAft>
                <a:spcPts val="0"/>
              </a:spcAft>
            </a:pPr>
            <a:r>
              <a:rPr sz="1000" b="0" i="1" lang="ko-KR">
                <a:solidFill>
                  <a:srgbClr val="1C2833"/>
                </a:solidFill>
                <a:latin typeface="Noto Sans KR"/>
                <a:ea typeface="Noto Sans KR"/>
              </a:rPr>
              <a:t>→ 의제를 분리해 평가할 수 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371600"/>
            <a:ext cx="35021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 lang="ko-KR">
                <a:solidFill>
                  <a:srgbClr val="1C2833"/>
                </a:solidFill>
                <a:latin typeface="Noto Sans KR"/>
                <a:ea typeface="Noto Sans KR"/>
              </a:rPr>
              <a:t>3. 메모리 영향 — 축소 전후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1847088"/>
            <a:ext cx="10607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lang="ko-KR">
                <a:solidFill>
                  <a:srgbClr val="7A8794"/>
                </a:solidFill>
                <a:latin typeface="Noto Sans KR"/>
                <a:ea typeface="Noto Sans KR"/>
              </a:rPr>
              <a:t>무축소 피크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53728" y="1860804"/>
            <a:ext cx="2103120" cy="173736"/>
          </a:xfrm>
          <a:prstGeom prst="rect">
            <a:avLst/>
          </a:prstGeom>
          <a:solidFill>
            <a:srgbClr val="1C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1860804"/>
            <a:ext cx="2029967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 lang="ko-KR">
                <a:solidFill>
                  <a:srgbClr val="FFFFFF"/>
                </a:solidFill>
                <a:latin typeface="Noto Sans KR"/>
                <a:ea typeface="Noto Sans KR"/>
              </a:rPr>
              <a:t>32~64MB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185416"/>
            <a:ext cx="106070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 lang="ko-KR">
                <a:solidFill>
                  <a:srgbClr val="7A8794"/>
                </a:solidFill>
                <a:latin typeface="Noto Sans KR"/>
                <a:ea typeface="Noto Sans KR"/>
              </a:rPr>
              <a:t>축소 후 (2안)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53728" y="2199132"/>
            <a:ext cx="10972" cy="173736"/>
          </a:xfrm>
          <a:prstGeom prst="rect">
            <a:avLst/>
          </a:prstGeom>
          <a:solidFill>
            <a:srgbClr val="156C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8708" y="2185416"/>
            <a:ext cx="868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 lang="ko-KR">
                <a:solidFill>
                  <a:srgbClr val="156C77"/>
                </a:solidFill>
                <a:latin typeface="Noto Sans KR"/>
                <a:ea typeface="Noto Sans KR"/>
              </a:rPr>
              <a:t>0.05MB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10953" y="1810512"/>
            <a:ext cx="0" cy="768096"/>
          </a:xfrm>
          <a:prstGeom prst="line">
            <a:avLst/>
          </a:prstGeom>
          <a:ln w="15240">
            <a:solidFill>
              <a:srgbClr val="156C7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408033" y="2596896"/>
            <a:ext cx="1463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 lang="ko-KR">
                <a:solidFill>
                  <a:srgbClr val="156C77"/>
                </a:solidFill>
                <a:latin typeface="Noto Sans KR"/>
                <a:ea typeface="Noto Sans KR"/>
              </a:rPr>
              <a:t>허용 몫 20MB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944368"/>
            <a:ext cx="35021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무축소 시 허용 몫을 최대 3.2배 초과함</a:t>
            </a:r>
          </a:p>
          <a:p>
            <a:pPr algn="l">
              <a:spcAft>
                <a:spcPts val="0"/>
              </a:spcAft>
            </a:pPr>
            <a:r>
              <a:rPr sz="1100" b="1" i="0" lang="ko-KR">
                <a:solidFill>
                  <a:srgbClr val="156C77"/>
                </a:solidFill>
                <a:latin typeface="Noto Sans KR"/>
                <a:ea typeface="Noto Sans KR"/>
              </a:rPr>
              <a:t>축소 시 1/1,000 이하로 예산 내 진입함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703320"/>
            <a:ext cx="35021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 lang="ko-KR">
                <a:solidFill>
                  <a:srgbClr val="1C2833"/>
                </a:solidFill>
                <a:latin typeface="Noto Sans KR"/>
                <a:ea typeface="Noto Sans KR"/>
              </a:rPr>
              <a:t>산정 기준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00" b="0" i="0" lang="ko-KR">
                <a:solidFill>
                  <a:srgbClr val="7A8794"/>
                </a:solidFill>
                <a:latin typeface="Noto Sans KR"/>
                <a:ea typeface="Noto Sans KR"/>
              </a:rPr>
              <a:t>여행 시나리오 161,280개 × 후보당 200B 추정
(실측 예정) · 정렬 임시 사본 포함 시 최대 64MB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 lang="ko-KR">
                <a:solidFill>
                  <a:srgbClr val="7A8794"/>
                </a:solidFill>
                <a:latin typeface="Noto Sans KR"/>
                <a:ea typeface="Noto Sans KR"/>
              </a:rPr>
              <a:t>허용 몫 20MB는 NFR-MAF-09 참여자 1인당
메모리 증가분 기준에서 유도함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47488"/>
            <a:ext cx="11091672" cy="1389888"/>
          </a:xfrm>
          <a:prstGeom prst="rect">
            <a:avLst/>
          </a:prstGeom>
          <a:solidFill>
            <a:srgbClr val="EF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175503"/>
            <a:ext cx="6035040" cy="11521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 i="0" lang="ko-KR">
                <a:solidFill>
                  <a:srgbClr val="156C77"/>
                </a:solidFill>
                <a:latin typeface="Noto Sans KR"/>
                <a:ea typeface="Noto Sans KR"/>
              </a:rPr>
              <a:t>4. 결정 요청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500" b="1" i="0" lang="ko-KR">
                <a:solidFill>
                  <a:srgbClr val="1C2833"/>
                </a:solidFill>
                <a:latin typeface="Noto Sans KR"/>
                <a:ea typeface="Noto Sans KR"/>
              </a:rPr>
              <a:t>협상 전략 투입 전, 후보군을 어떤 구조(타입)와
규칙으로 축소할지 결정을 요청드림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 lang="ko-KR">
                <a:solidFill>
                  <a:srgbClr val="7A8794"/>
                </a:solidFill>
                <a:latin typeface="Noto Sans KR"/>
                <a:ea typeface="Noto Sans KR"/>
              </a:rPr>
              <a:t>NegMAS는 해당 정책을 설계자에게 위임함 · 타입 선택은 사후 변경 비용이 커 우선 결정이 필요함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58200" y="5193792"/>
            <a:ext cx="1737360" cy="310896"/>
          </a:xfrm>
          <a:prstGeom prst="rect">
            <a:avLst/>
          </a:prstGeom>
          <a:solidFill>
            <a:srgbClr val="FFFFFF"/>
          </a:solidFill>
          <a:ln w="13970">
            <a:solidFill>
              <a:srgbClr val="1C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58200" y="5239512"/>
            <a:ext cx="17373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 lang="ko-KR">
                <a:solidFill>
                  <a:srgbClr val="1C2833"/>
                </a:solidFill>
                <a:latin typeface="Noto Sans KR"/>
                <a:ea typeface="Noto Sans KR"/>
              </a:rPr>
              <a:t>OutcomeSpace</a:t>
            </a:r>
          </a:p>
        </p:txBody>
      </p:sp>
      <p:sp>
        <p:nvSpPr>
          <p:cNvPr id="34" name="Isosceles Triangle 33"/>
          <p:cNvSpPr/>
          <p:nvPr/>
        </p:nvSpPr>
        <p:spPr>
          <a:xfrm>
            <a:off x="9244584" y="5504688"/>
            <a:ext cx="164592" cy="109728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1C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9326880" y="5614416"/>
            <a:ext cx="0" cy="91439"/>
          </a:xfrm>
          <a:prstGeom prst="line">
            <a:avLst/>
          </a:prstGeom>
          <a:ln w="12700">
            <a:solidFill>
              <a:srgbClr val="1C2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275320" y="5705855"/>
            <a:ext cx="2103120" cy="0"/>
          </a:xfrm>
          <a:prstGeom prst="line">
            <a:avLst/>
          </a:prstGeom>
          <a:ln w="12700">
            <a:solidFill>
              <a:srgbClr val="1C2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275320" y="5705855"/>
            <a:ext cx="0" cy="91440"/>
          </a:xfrm>
          <a:prstGeom prst="line">
            <a:avLst/>
          </a:prstGeom>
          <a:ln w="12700">
            <a:solidFill>
              <a:srgbClr val="1C2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378440" y="5705855"/>
            <a:ext cx="0" cy="91440"/>
          </a:xfrm>
          <a:prstGeom prst="line">
            <a:avLst/>
          </a:prstGeom>
          <a:ln w="12700">
            <a:solidFill>
              <a:srgbClr val="1C28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269480" y="5797295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33488" y="5843015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 lang="ko-KR">
                <a:solidFill>
                  <a:srgbClr val="1C2833"/>
                </a:solidFill>
                <a:latin typeface="Noto Sans KR"/>
                <a:ea typeface="Noto Sans KR"/>
              </a:rPr>
              <a:t>1안 · Cartesian</a:t>
            </a:r>
          </a:p>
          <a:p>
            <a:pPr algn="l">
              <a:spcAft>
                <a:spcPts val="0"/>
              </a:spcAft>
            </a:pPr>
            <a:r>
              <a:rPr sz="850" b="0" i="0" lang="ko-KR">
                <a:solidFill>
                  <a:srgbClr val="7A8794"/>
                </a:solidFill>
                <a:latin typeface="Noto Sans KR"/>
                <a:ea typeface="Noto Sans KR"/>
              </a:rPr>
              <a:t>의제별 순차 · 상호작용 손실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72600" y="5797295"/>
            <a:ext cx="20116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C28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36608" y="5843015"/>
            <a:ext cx="18836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1" i="0" lang="ko-KR">
                <a:solidFill>
                  <a:srgbClr val="1C2833"/>
                </a:solidFill>
                <a:latin typeface="Noto Sans KR"/>
                <a:ea typeface="Noto Sans KR"/>
              </a:rPr>
              <a:t>2안 · 열거형</a:t>
            </a:r>
          </a:p>
          <a:p>
            <a:pPr algn="l">
              <a:spcAft>
                <a:spcPts val="0"/>
              </a:spcAft>
            </a:pPr>
            <a:r>
              <a:rPr sz="850" b="0" i="0" lang="ko-KR">
                <a:solidFill>
                  <a:srgbClr val="7A8794"/>
                </a:solidFill>
                <a:latin typeface="Noto Sans KR"/>
                <a:ea typeface="Noto Sans KR"/>
              </a:rPr>
              <a:t>패키지 압축 · 상호작용 보존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47104"/>
            <a:ext cx="11064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 lang="ko-KR">
                <a:solidFill>
                  <a:srgbClr val="8A97A3"/>
                </a:solidFill>
                <a:latin typeface="Noto Sans KR"/>
                <a:ea typeface="Noto Sans KR"/>
              </a:rPr>
              <a:t>근거 — docs/05-NFR.md NFR-MAF-06·09 (Memory 300MB, 참여자 1인당 20MB) · DP-01-메모리-산정.md · negmas OutcomeSpace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