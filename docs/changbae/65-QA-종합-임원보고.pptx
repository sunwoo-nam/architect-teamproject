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정본: 24 §0(서열)·08 §8.1/§8.3(ID·중요도·난이도). 핵심 5종이 모두 H·H인 것은 선정의 필요조건이었고 구분 확정은 PL.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그림: 달성률 눈금 개념 (drawio/61-2). 사다리 세부·잠정 표시는 24 §1.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그림: 한도 유도 개념 (drawio/61-3). 정본 24 §2 (2026-08-13 개정: P95·로그 사다리).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그림: 순위표 공개/비밀 개념 (drawio/61-4). 정본 24 §3.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그림: P95 판정 개념 (drawio/61-1) — 누적 곡선이 95% 높이에 닿는 지점. naive = 전 후보를 1명씩 차례로 제안하는 기본 방식. 정본 24 §4.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그림: 조합 폭발 개념 (drawio/61-5). 정본 24 §5.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실측 정본: 60번 문서 (nparty-tracks-20260814T001421Z).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N별 전체 표(8레벨)·유형별·변형별 상세는 60번 문서 E-G절.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택틱 설계·반복 이력·전 변형 비교는 62번 문서.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실측 정본: 63번 문서 (composite-final-20260813T215301Z).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함정 해부·축수별 표는 63번 F절. T 16.6/1.3s는 함정 판(hard_path) 중앙값 (raw 재검산).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축수별 메모리 표는 63번 E절.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별점 사다리 세부·잠정 표시는 24 §0.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194560"/>
            <a:ext cx="103327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DEEBF7"/>
                </a:solidFill>
                <a:latin typeface="맑은 고딕"/>
              </a:rPr>
              <a:t>온디바이스 에이전트 다자 협상 PoC</a:t>
            </a:r>
          </a:p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품질(QA) 체계와 측정 결과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DEEBF7"/>
                </a:solidFill>
                <a:latin typeface="맑은 고딕"/>
              </a:rPr>
              <a:t>핵심 QA 5종의 정의·별점 체계, 설계안 실측 비교  ·  2026-08-14  ·  정본: 24 핸드북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DEEBF7"/>
                </a:solidFill>
                <a:latin typeface="맑은 고딕"/>
              </a:rPr>
              <a:t>①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이 과제의 QA 정리 — 핵심 5종 측정, 비핵심 2종 정의 유지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143000"/>
          <a:ext cx="113842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43000"/>
                <a:gridCol w="1645920"/>
                <a:gridCol w="4297680"/>
                <a:gridCol w="2103120"/>
                <a:gridCol w="640080"/>
                <a:gridCol w="6400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순위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QA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정의 (한 줄)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판정 지표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중요도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난이도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핵심 1</a:t>
                      </a:r>
                    </a:p>
                  </a:txBody>
                  <a:tcPr marL="50800" marR="508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QA-FC-1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기능 정확성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협상 결과가 최적 합의안 효용의 몇 %인가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달성률 (평균)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핵심 2</a:t>
                      </a:r>
                    </a:p>
                  </a:txBody>
                  <a:tcPr marL="50800" marR="508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QA-RU-1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자원-메모리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가장 무거운 단말의 피크가 협상 몫(128MB)의 몇 %인가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사용률 r (P95)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핵심 3</a:t>
                      </a:r>
                    </a:p>
                  </a:txBody>
                  <a:tcPr marL="50800" marR="508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QA-CF-2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기밀성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끝나도 내 선호가 얼마나 비밀로 남는가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잔여 비밀률 (평균)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핵심 4</a:t>
                      </a:r>
                    </a:p>
                  </a:txBody>
                  <a:tcPr marL="50800" marR="508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QA-TB-1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시간 성능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기본 방식 대비 협상 시간을 얼마나 줄이는가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시간 비율 ρ (P95)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핵심 5</a:t>
                      </a:r>
                    </a:p>
                  </a:txBody>
                  <a:tcPr marL="50800" marR="508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QA-SC-2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확장성-의제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한도 안에서 완결 가능한 최대 의제 수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최대 의제 수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비핵심 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QA-SC-1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확장성-참여자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품질을 지키며 완결 가능한 최대 참여자 수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N_max (측정 비대상)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비핵심 7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QA-FT-1·2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결함 감내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실환경 대비 몇 배의 오류까지 견디는가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내성 배수 (측정 비대상)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11480" y="5623560"/>
            <a:ext cx="1138428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</a:rPr>
              <a:t>· ID·중요도·난이도 = stakeholder 빈도 상위 12종 평가(08)의 확정값 — 핵심 5종 모두 H·H (비핵심 2종도 H·H — 핵심/비핵심 구분은 PL 확정 서열, 24 §0)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맑은 고딕"/>
              </a:rPr>
              <a:t>· 기밀성은 두 축 중 측정 대상인 선호 역추론 내성(QA-CF-2) — 정책 기반 원문 보호(QA-CF-1)는 기능 요구(FR) 소관 · REC·분석성·적응성은 범위 밖(PL 확정)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DEEBF7"/>
                </a:solidFill>
                <a:latin typeface="맑은 고딕"/>
              </a:rPr>
              <a:t>② 상세 1/5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기능 정확성 (Functional Correctness) (QA-FC-1)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1384280" cy="56692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정의  </a:t>
            </a:r>
            <a:r>
              <a:rPr sz="1400" b="1">
                <a:solidFill>
                  <a:srgbClr val="1F3864"/>
                </a:solidFill>
                <a:latin typeface="맑은 고딕"/>
              </a:rPr>
              <a:t>협상이 도달한 결과가, 도달할 수 있었던 최적 합의안 효용의 몇 %인가 — 달성률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91640"/>
            <a:ext cx="5760720" cy="3017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왜 중요한가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협상 시스템의 존재 이유 — 빨라도, 덜 새도, 나쁜 합의안이면 무의미 (서열 1위)</a:t>
            </a:r>
          </a:p>
          <a:p>
            <a:pPr>
              <a:spcAft>
                <a:spcPts val="0"/>
              </a:spcAft>
            </a:pPr>
            <a:r>
              <a:rPr sz="500" b="0">
                <a:solidFill>
                  <a:srgbClr val="262626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측정 방식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선호를 봉인 생성 → 채점기만 전체를 보고 최적 x*를 산출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62626"/>
                </a:solidFill>
                <a:latin typeface="맑은 고딕"/>
              </a:rPr>
              <a:t>달성률 = U(도달) ÷ U(x*)</a:t>
            </a:r>
          </a:p>
          <a:p>
            <a:pPr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  <a:latin typeface="맑은 고딕"/>
              </a:rPr>
              <a:t>결렬이 정답인 판에서 정확히 결렬하면 만점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91640"/>
            <a:ext cx="53949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별점 체계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057400"/>
          <a:ext cx="5394960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★5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★2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★1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★0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≥0.95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≥0.90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≥0.85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≥0.80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≥0.70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미만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0" y="2880360"/>
            <a:ext cx="5394960" cy="173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맑은 고딕"/>
              </a:rPr>
              <a:t>경계 근거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맑은 고딕"/>
              </a:rPr>
              <a:t>만점 1.0부터 5%p 계단 (★1만 0.70-0.80)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맑은 고딕"/>
              </a:rPr>
              <a:t>과대평가 방어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맑은 고딕"/>
              </a:rPr>
              <a:t>무작위 선택 평균(R̄)을 병기하고, 무작위 평균 이하면 별점과 무관하게 즉시 결함</a:t>
            </a:r>
          </a:p>
        </p:txBody>
      </p:sp>
      <p:pic>
        <p:nvPicPr>
          <p:cNvPr id="8" name="Picture 7" descr="61-2-FC-달성률-개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64608"/>
            <a:ext cx="4799474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DEEBF7"/>
                </a:solidFill>
                <a:latin typeface="맑은 고딕"/>
              </a:rPr>
              <a:t>② 상세 2/5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자원-메모리 (Resource Utilization) (QA-RU-1)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1384280" cy="56692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정의  </a:t>
            </a:r>
            <a:r>
              <a:rPr sz="1400" b="1">
                <a:solidFill>
                  <a:srgbClr val="1F3864"/>
                </a:solidFill>
                <a:latin typeface="맑은 고딕"/>
              </a:rPr>
              <a:t>협상 중 가장 무거운 단말의 순간 피크가, 협상 몫(128MB)의 몇 %인가 — 사용률 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91640"/>
            <a:ext cx="5760720" cy="3017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왜 중요한가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온디바이스 전제 — 초과하면 앱이 죽는다(OOM). "더 사면 된다"가 없다</a:t>
            </a:r>
          </a:p>
          <a:p>
            <a:pPr>
              <a:spcAft>
                <a:spcPts val="0"/>
              </a:spcAft>
            </a:pPr>
            <a:r>
              <a:rPr sz="500" b="0">
                <a:solidFill>
                  <a:srgbClr val="262626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측정 방식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프로토콜 상태를 라운드마다 실측 — 최대 부하 단말 1대 기준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맑은 고딕"/>
              </a:rPr>
              <a:t>(죽는 것은 전원의 합이 아니라 한 대)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62626"/>
                </a:solidFill>
                <a:latin typeface="맑은 고딕"/>
              </a:rPr>
              <a:t>판정 = 케이스 P95 (OOM은 꼬리 사건)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한도 유도: 앱 힙 256MB × 75%(GC 여유 25% 차감) − 64MB(앱 기본) = 128MB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91640"/>
            <a:ext cx="53949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별점 체계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057400"/>
          <a:ext cx="5394960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★5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★2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★1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결함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≤0.01%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≤0.1%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≤1%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≤10%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≤100%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초과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0" y="2880360"/>
            <a:ext cx="5394960" cy="173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맑은 고딕"/>
              </a:rPr>
              <a:t>경계 근거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맑은 고딕"/>
              </a:rPr>
              <a:t>로그 사다리 — 1칸 = 10배 여유. 조합이 지수로 자라는 도메인에서 선형 등분은 변별력을 잃는다</a:t>
            </a:r>
          </a:p>
        </p:txBody>
      </p:sp>
      <p:pic>
        <p:nvPicPr>
          <p:cNvPr id="8" name="Picture 7" descr="61-3-RU-한도-유도-개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64608"/>
            <a:ext cx="4082587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DEEBF7"/>
                </a:solidFill>
                <a:latin typeface="맑은 고딕"/>
              </a:rPr>
              <a:t>② 상세 3/5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기밀성 (Confidentiality) (QA-CF-2)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1384280" cy="56692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정의  </a:t>
            </a:r>
            <a:r>
              <a:rPr sz="1400" b="1">
                <a:solidFill>
                  <a:srgbClr val="1F3864"/>
                </a:solidFill>
                <a:latin typeface="맑은 고딕"/>
              </a:rPr>
              <a:t>협상이 끝난 뒤에도 내 선호(전체 후보 서열)가 얼마나 비밀로 남는가 — 잔여 비밀률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91640"/>
            <a:ext cx="5760720" cy="3017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왜 중요한가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메시지는 암호화돼도 제안·수락의 패턴이 선호를 흘린다 — 일정·취향은 개인정보</a:t>
            </a:r>
          </a:p>
          <a:p>
            <a:pPr>
              <a:spcAft>
                <a:spcPts val="0"/>
              </a:spcAft>
            </a:pPr>
            <a:r>
              <a:rPr sz="500" b="0">
                <a:solidFill>
                  <a:srgbClr val="262626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측정 방식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나를 가장 많이 아는 관찰자가 내 후보 몇 개를 지목·확인했는지 센다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분모 = 전체 후보 (거부 후보의 서열도 비밀)</a:t>
            </a:r>
          </a:p>
          <a:p>
            <a:pPr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  <a:latin typeface="맑은 고딕"/>
              </a:rPr>
              <a:t>집계는 합의 완료 세션만 · 참여자 평균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91640"/>
            <a:ext cx="53949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별점 체계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057400"/>
          <a:ext cx="5394960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★5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★2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★1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★0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&gt;80%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&gt;60%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&gt;40%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&gt;20%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&gt;0%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0%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0" y="2880360"/>
            <a:ext cx="5394960" cy="173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맑은 고딕"/>
              </a:rPr>
              <a:t>경계 근거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맑은 고딕"/>
              </a:rPr>
              <a:t>무노출 100% - 전량 공개 0% 사이 20%p 등분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맑은 고딕"/>
              </a:rPr>
              <a:t>해석 앵커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맑은 고딕"/>
              </a:rPr>
              <a:t>1:1 협상의 실측 잔여 ≈ 71% → "★4 이상 = 일반 2인 협상 수준으로 지킨다"</a:t>
            </a:r>
          </a:p>
        </p:txBody>
      </p:sp>
      <p:pic>
        <p:nvPicPr>
          <p:cNvPr id="8" name="Picture 7" descr="61-4-CF-잔여-비밀률-개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64608"/>
            <a:ext cx="3241884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DEEBF7"/>
                </a:solidFill>
                <a:latin typeface="맑은 고딕"/>
              </a:rPr>
              <a:t>② 상세 4/5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시간 성능 (Time Behaviour) (QA-TB-1)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1384280" cy="56692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정의  </a:t>
            </a:r>
            <a:r>
              <a:rPr sz="1400" b="1">
                <a:solidFill>
                  <a:srgbClr val="1F3864"/>
                </a:solidFill>
                <a:latin typeface="맑은 고딕"/>
              </a:rPr>
              <a:t>기본 방식(naive) 대비 협상 시간을 얼마나 줄이는가 — 시간 비율 ρ = T_설계 ÷ T_naive의 P95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91640"/>
            <a:ext cx="5760720" cy="3017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왜 중요한가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"약속 잡아줘" 뒤에 사용자가 기다리는 시간 — 느리면 사람이 직접 하는 게 빠르다</a:t>
            </a:r>
          </a:p>
          <a:p>
            <a:pPr>
              <a:spcAft>
                <a:spcPts val="0"/>
              </a:spcAft>
            </a:pPr>
            <a:r>
              <a:rPr sz="500" b="0">
                <a:solidFill>
                  <a:srgbClr val="262626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측정 방식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합성 시간 모델(통신 75ms + 평가÷N 1.4µs + 전송 20Mbps — 재현 가능)로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같은 케이스를 설계안·naive 양쪽 계산해 비율</a:t>
            </a:r>
          </a:p>
          <a:p>
            <a:pPr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  <a:latin typeface="맑은 고딕"/>
              </a:rPr>
              <a:t>판정 = P95 — "평소 빠른가"가 아니라 "느린 꼬리에서도 보장되는가" (SLO p95/p99 관행)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91640"/>
            <a:ext cx="53949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별점 체계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057400"/>
          <a:ext cx="5394960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★5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★2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★1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★0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≤0.2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≤0.4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≤0.6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≤0.8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≤1.0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&gt;1 결함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0" y="2880360"/>
            <a:ext cx="5394960" cy="173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맑은 고딕"/>
              </a:rPr>
              <a:t>경계 근거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맑은 고딕"/>
              </a:rPr>
              <a:t>naive 등가 1.0과 순간 완료 0 사이 0.2 등분. ρ&gt;1 = naive만도 못함 — 즉시 결함</a:t>
            </a:r>
          </a:p>
        </p:txBody>
      </p:sp>
      <p:pic>
        <p:nvPicPr>
          <p:cNvPr id="8" name="Picture 7" descr="61-1-P95-판정-개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64608"/>
            <a:ext cx="3987775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DEEBF7"/>
                </a:solidFill>
                <a:latin typeface="맑은 고딕"/>
              </a:rPr>
              <a:t>② 상세 5/5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확장성-의제 (Scalability) (QA-SC-2)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1384280" cy="56692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정의  </a:t>
            </a:r>
            <a:r>
              <a:rPr sz="1400" b="1">
                <a:solidFill>
                  <a:srgbClr val="1F3864"/>
                </a:solidFill>
                <a:latin typeface="맑은 고딕"/>
              </a:rPr>
              <a:t>메모리 한도 안에서 협상을 정상 완결할 수 있는 최대 의제(축) 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91640"/>
            <a:ext cx="5760720" cy="3017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왜 중요한가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후보 조합은 축 수에 지수적 — 20축이면 수천억 개, "펼쳐놓고 고르기" 자체가 불가능</a:t>
            </a:r>
          </a:p>
          <a:p>
            <a:pPr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  <a:latin typeface="맑은 고딕"/>
              </a:rPr>
              <a:t>견디는 한계 = 제품이 다룰 협상의 복잡도</a:t>
            </a:r>
          </a:p>
          <a:p>
            <a:pPr>
              <a:spcAft>
                <a:spcPts val="0"/>
              </a:spcAft>
            </a:pPr>
            <a:r>
              <a:rPr sz="500" b="0">
                <a:solidFill>
                  <a:srgbClr val="262626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측정 방식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의제 수를 4축부터 늘려가며(스윕) 128MB 한도 안에서 정상 완결하는 최대 축 수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맑은 고딕"/>
              </a:rPr>
              <a:t>(결렬 실행은 수용의 증거로 세지 않는다)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91640"/>
            <a:ext cx="53949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별점 체계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057400"/>
          <a:ext cx="5394960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★5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★2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★1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결함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≥12축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9-11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7-8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5-6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미만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0" y="2880360"/>
            <a:ext cx="5394960" cy="1737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맑은 고딕"/>
              </a:rPr>
              <a:t>경계 근거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맑은 고딕"/>
              </a:rPr>
              <a:t>하한 4축 = 기준 시나리오 요구 · 상한 12축 = 실사용 최대(여행급 협의 포화 + 인지 한계 7±2 + ANAC 실세계 도메인) — 사이는 로그 등분</a:t>
            </a:r>
          </a:p>
        </p:txBody>
      </p:sp>
      <p:pic>
        <p:nvPicPr>
          <p:cNvPr id="8" name="Picture 7" descr="61-5-SC-조합-폭발-개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64608"/>
            <a:ext cx="3892393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DEEBF7"/>
                </a:solidFill>
                <a:latin typeface="맑은 고딕"/>
              </a:rPr>
              <a:t>③ 결과 요약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설계 문제(DP) 1 — 다자 협상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1384280" cy="50292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맑은 고딕"/>
              </a:rPr>
              <a:t>종합 우위는 방안 2 — 보완판 "방안 2+"는 전 축 우위 (상세: 슬라이드 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27632"/>
            <a:ext cx="1138428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맑은 고딕"/>
              </a:rPr>
              <a:t>측정 판 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정본 480건 전수 — 참여자 3-50명 × 검증 유형 5종 (미끼* 포함 변별 판)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맑은 고딕"/>
              </a:rPr>
              <a:t>비교 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방안 1-A (투표형 — 만장일치 첫 후보로 즉시 합의)  vs  방안 2 (순위 수집형 — 전원 제출 후 최적 선택)</a:t>
            </a:r>
          </a:p>
          <a:p>
            <a:pPr>
              <a:spcAft>
                <a:spcPts val="0"/>
              </a:spcAft>
            </a:pPr>
            <a:r>
              <a:rPr sz="1100" b="1">
                <a:solidFill>
                  <a:srgbClr val="2E74B5"/>
                </a:solidFill>
                <a:latin typeface="맑은 고딕"/>
              </a:rPr>
              <a:t>비고  </a:t>
            </a:r>
            <a:r>
              <a:rPr sz="1100" b="0">
                <a:solidFill>
                  <a:srgbClr val="595959"/>
                </a:solidFill>
                <a:latin typeface="맑은 고딕"/>
              </a:rPr>
              <a:t>자원-메모리·확장성-의제는 DP2(조합 폭발 도메인)에서 변별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834640"/>
          <a:ext cx="1138428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194560"/>
                <a:gridCol w="2194560"/>
                <a:gridCol w="3886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QA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방안 1-A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방안 2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우세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기능 정확성 (달성률)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0.873 ★3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맑은 고딕"/>
                        </a:rPr>
                        <a:t>0.949 ★4 †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방안 2 — 승 259 : 패 29 (무 192)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기밀성 (잔여 비밀률)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맑은 고딕"/>
                        </a:rPr>
                        <a:t>68.3% ★4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51.7% ★3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방안 1-A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시간 (ρ P95)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맑은 고딕"/>
                        </a:rPr>
                        <a:t>0.543 ★3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0.660 ★2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방안 1-A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1480" y="4983480"/>
            <a:ext cx="1138428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맑은 고딕"/>
              </a:rPr>
              <a:t>"정확한 방안 2 vs 빠르고 은밀한 1-A"의 구조적 트레이드오프 — 서열 1위(기능 정확성) 기준 종합 우위는 방안 2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바닥 요건 완벽: 결렬 정답 96건 전건 정확 결렬 · 기능 요구(FR) 위반 0 · ρ&gt;1 결함 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355080"/>
            <a:ext cx="113842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맑은 고딕"/>
              </a:rPr>
              <a:t>*미끼 = 먼저 눈에 띄는 차선 후보 — "빨리 닫히는 방안이 낮은 안에 잡히는가"의 검증 장치  ·  †원값 0.9499 — ★5 경계(0.95) 직하라 내림 표기  ·  데이터셋: functional-ext2 (60번)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DEEBF7"/>
                </a:solidFill>
                <a:latin typeface="맑은 고딕"/>
              </a:rPr>
              <a:t>④ 상세 1/2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DP1 다자 협상 — 격차는 어디서 오나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1384280" cy="50292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맑은 고딕"/>
              </a:rPr>
              <a:t>방안 2는 인원이 늘어도 평평, 1-A는 단조 하락 — N=30부터 전패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737360"/>
          <a:ext cx="4206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17320"/>
                <a:gridCol w="14173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N (참여자)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1-A 달성률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방안 2 달성률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0.938 ★4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0.954 ★5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0.871 ★3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0.955 ★5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0.842 ★2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0.944 ★4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0.835 ★2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0.949 ★4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937760" y="1691640"/>
            <a:ext cx="6858000" cy="4206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2E74B5"/>
                </a:solidFill>
                <a:latin typeface="맑은 고딕"/>
              </a:rPr>
              <a:t>기능 정확성 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1-A는 "정답을 못 찾는" 게 아니라 "더 좋은 답을 기다리지 못하는" 방안 — 격차는 전부 미끼 3유형(합계 288건)에서 나고 그중 방안 2가 259건(약 9할) 승. 정답이 유일한 판은 만점 동률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E74B5"/>
                </a:solidFill>
                <a:latin typeface="맑은 고딕"/>
              </a:rPr>
              <a:t>기밀성 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1-A는 전 구간 1:1 협상 수준(71%) 근방을 지키고, 방안 2는 합의 후보가 깊은 판에서 30%까지 하락</a:t>
            </a:r>
          </a:p>
          <a:p>
            <a:pPr>
              <a:spcAft>
                <a:spcPts val="0"/>
              </a:spcAft>
            </a:pPr>
            <a:r>
              <a:rPr sz="1200" b="1">
                <a:solidFill>
                  <a:srgbClr val="2E74B5"/>
                </a:solidFill>
                <a:latin typeface="맑은 고딕"/>
              </a:rPr>
              <a:t>시간 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절대 시간은 둘 다 50인 협상 3초 이내(naive 64초) — 변별은 소인원 느린 꼬리 (N=3에서 방안 2 P95 0.87 vs 1-A 0.61)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355080"/>
            <a:ext cx="113842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맑은 고딕"/>
              </a:rPr>
              <a:t>공정성: 방안 2를 겨냥한 함정 변형도 미끼 2유형 표본의 44%(84건)에 포함 — 그 판에서는 방안 2도 ★1 (한쪽 편 데이터가 아님)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DEEBF7"/>
                </a:solidFill>
                <a:latin typeface="맑은 고딕"/>
              </a:rPr>
              <a:t>④ 상세 2/2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DP1 다자 협상 — 방안 2의 약점은 보완 가능한가: "방안 2+"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1384280" cy="50292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맑은 고딕"/>
              </a:rPr>
              <a:t>택틱 3종으로 열세 2축(기밀·시간)을 모두 역전 — 방안 2+ = 전 축 ★4-5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691640"/>
          <a:ext cx="1138428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989320"/>
                <a:gridCol w="38404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택틱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실측 효과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전달 기억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바퀴마다 같은 후보를 재전송하던 낭비 제거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시간 개선 (무손실)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적응 배치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라운드당 제출을 1→2→4→8개로 가속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라운드 약 40% 감소 (N=50, 방안 2+ 기준)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커밋 매칭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봉인(해시) 제출 — 게시판 중재자(BB)는 일치만 판정, 성립 후보 1개만 공개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맑은 고딕"/>
                        </a:rPr>
                        <a:t>잔여 비밀 52 → 92% (정확성·라운드 불변)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3794760"/>
          <a:ext cx="11384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66294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방안 2 (기존)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방안 2+ (택틱 적용)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기능 정확성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0.949 ★4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맑은 고딕"/>
                        </a:rPr>
                        <a:t>0.987 ★5  (동시 완성 중 최선 선별 — 오히려 상승)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기밀성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51.7% ★3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맑은 고딕"/>
                        </a:rPr>
                        <a:t>92.1% ★5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시간 (ρ P95)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0.660 ★2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맑은 고딕"/>
                        </a:rPr>
                        <a:t>0.383 ★4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1480" y="5806440"/>
            <a:ext cx="113842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안전성 불변: 합의/결렬 케이스 완전 동일 · 결렬 오합의 0 · FR 0 · 결과가 달라진 73건은 71승 2패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355080"/>
            <a:ext cx="113842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맑은 고딕"/>
              </a:rPr>
              <a:t>유의: 커밋 매칭은 참여자 간 공유 솔트 전제(중재자-참여자 공모 시 무력화) — 신뢰 모델 상세는 62번 §5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DEEBF7"/>
                </a:solidFill>
                <a:latin typeface="맑은 고딕"/>
              </a:rPr>
              <a:t>③ 결과 요약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설계 문제(DP) 2 — 복합 의제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1384280" cy="50292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맑은 고딕"/>
              </a:rPr>
              <a:t>종합 우위는 pool — 단, 의제 16축 이하 조건부 (근거: 슬라이드 13)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27632"/>
            <a:ext cx="1138428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맑은 고딕"/>
              </a:rPr>
              <a:t>측정 판 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정본 500건 전수 — 의제 4-20축, 조합 최대 약 6×10¹¹ (경로 함정* 53 · 현실 모사 302 · 결렬 정답 45 · 규모 100)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맑은 고딕"/>
              </a:rPr>
              <a:t>비교  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seq2 (의제를 한 축씩 순차 확정 — 경로 의존)  vs  pool (조합 풀로 한 판에 협상 — 풀이 지수 성장)</a:t>
            </a:r>
          </a:p>
          <a:p>
            <a:pPr>
              <a:spcAft>
                <a:spcPts val="0"/>
              </a:spcAft>
            </a:pPr>
            <a:r>
              <a:rPr sz="1100" b="1">
                <a:solidFill>
                  <a:srgbClr val="2E74B5"/>
                </a:solidFill>
                <a:latin typeface="맑은 고딕"/>
              </a:rPr>
              <a:t>약칭  </a:t>
            </a:r>
            <a:r>
              <a:rPr sz="1100" b="0">
                <a:solidFill>
                  <a:srgbClr val="595959"/>
                </a:solidFill>
                <a:latin typeface="맑은 고딕"/>
              </a:rPr>
              <a:t>이하 seq2·pool (각각 방안 1·방안 2 — DP1의 방안 번호와 별개)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834640"/>
          <a:ext cx="1138428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560320"/>
                <a:gridCol w="3108960"/>
                <a:gridCol w="260604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QA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seq2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pool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우세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기능 정확성 (달성률)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0.880 ★3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맑은 고딕"/>
                        </a:rPr>
                        <a:t>0.941 ★4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pool — 승 186 : 패 143 (무 71)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자원-메모리 (r P95)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맑은 고딕"/>
                        </a:rPr>
                        <a:t>0.30% ★3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48.2% ★1 (한도 초과 11건)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seq2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시간 (ρ P95)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4.24 ★0 (결함 152건)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62626"/>
                          </a:solidFill>
                          <a:latin typeface="맑은 고딕"/>
                        </a:rPr>
                        <a:t>0.633 ★2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pool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1480" y="4983480"/>
            <a:ext cx="1138428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맑은 고딕"/>
              </a:rPr>
              <a:t>"품질·시간의 pool vs 메모리의 seq2" — 서열 1위(기능 정확성)·4위(시간)가 pool 우세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바닥 요건 완벽: 결렬 정답 45건 전건 정확 결렬 · FR 위반 0 · 무작위 이하 없음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355080"/>
            <a:ext cx="113842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맑은 고딕"/>
              </a:rPr>
              <a:t>*경로 함정 = 앞 축의 인기값이 뒤 축의 좋은 값을 막는 판 — 축별 확정의 경로 의존 검증 장치  ·  데이터셋: FIN (63번)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DEEBF7"/>
                </a:solidFill>
                <a:latin typeface="맑은 고딕"/>
              </a:rPr>
              <a:t>④ 상세 1/2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DP2 복합 의제 — 격차는 어디서 오나: 경로 의존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1384280" cy="50292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맑은 고딕"/>
              </a:rPr>
              <a:t>격차의 출처는 경로 함정 — seq2는 53건 중 43건 결렬, pool은 53/53 합의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91640"/>
            <a:ext cx="11384280" cy="3017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5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함정 없는 현실 판(302건)에서는 근소: 0.917 vs 0.930 — 함정 판에서 갈린다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E74B5"/>
                </a:solidFill>
                <a:latin typeface="맑은 고딕"/>
              </a:rPr>
              <a:t>seq2  </a:t>
            </a:r>
            <a:r>
              <a:rPr sz="1250" b="0">
                <a:solidFill>
                  <a:srgbClr val="262626"/>
                </a:solidFill>
                <a:latin typeface="맑은 고딕"/>
              </a:rPr>
              <a:t>앞 축 미끼를 확정한 뒤 봉쇄를 발견 → 백트랙이 세션 상한 안에 회복 실패 (달성률 0.569 — 억지 합의는 아니어서 FR 위반 0)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E74B5"/>
                </a:solidFill>
                <a:latin typeface="맑은 고딕"/>
              </a:rPr>
              <a:t>pool  </a:t>
            </a:r>
            <a:r>
              <a:rPr sz="1250" b="0">
                <a:solidFill>
                  <a:srgbClr val="262626"/>
                </a:solidFill>
                <a:latin typeface="맑은 고딕"/>
              </a:rPr>
              <a:t>조합 풀에서 봉쇄를 우회 (0.955)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E74B5"/>
                </a:solidFill>
                <a:latin typeface="맑은 고딕"/>
              </a:rPr>
              <a:t>같은 함정이 시간도 가른다  </a:t>
            </a:r>
            <a:r>
              <a:rPr sz="1250" b="0">
                <a:solidFill>
                  <a:srgbClr val="262626"/>
                </a:solidFill>
                <a:latin typeface="맑은 고딕"/>
              </a:rPr>
              <a:t>함정 판 라운드 121 vs 9 (T 중앙 16.6s vs 1.3s). seq2의 ρ&gt;1 결함 152건(30%) 대부분(150건) = 함정 백트랙(49) + 소규모 현실 판 축별 오버헤드(101)</a:t>
            </a:r>
          </a:p>
          <a:p>
            <a:pPr>
              <a:spcAft>
                <a:spcPts val="0"/>
              </a:spcAft>
            </a:pPr>
            <a:r>
              <a:rPr sz="1250" b="1">
                <a:solidFill>
                  <a:srgbClr val="262626"/>
                </a:solidFill>
                <a:latin typeface="맑은 고딕"/>
              </a:rPr>
              <a:t>대규모(규모 트랙)에서는 14축부터 두 방안 모두 최악 ρ ≤ 0.21, 18축부터 ≤ 0.003</a:t>
            </a:r>
            <a:r>
              <a:rPr sz="1250" b="0">
                <a:solidFill>
                  <a:srgbClr val="262626"/>
                </a:solidFill>
                <a:latin typeface="맑은 고딕"/>
              </a:rPr>
              <a:t> — "전체 공간을 만들지 않는 설계"의 존재 이유가 수치로 확인</a:t>
            </a:r>
          </a:p>
        </p:txBody>
      </p:sp>
      <p:pic>
        <p:nvPicPr>
          <p:cNvPr id="5" name="Picture 4" descr="fig-tb-rho-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28032"/>
            <a:ext cx="3067395" cy="18745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35040" y="5029200"/>
            <a:ext cx="576072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2E74B5"/>
                </a:solidFill>
                <a:latin typeface="맑은 고딕"/>
              </a:rPr>
              <a:t>그림: 시간 비율 ρ의 밀도 (63번 §H)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seq2(파랑)는 경계(naive 등가) 오른쪽에 두 번째 봉우리 — P95 격차(4.24 vs 0.63)의 실체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DEEBF7"/>
                </a:solidFill>
                <a:latin typeface="맑은 고딕"/>
              </a:rPr>
              <a:t>④ 상세 2/2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DP2 복합 의제 — pool의 조건: 메모리 규모 성장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1384280" cy="50292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맑은 고딕"/>
              </a:rPr>
              <a:t>pool은 18축부터 한도 초과 — 안전 확인된 마지막 지점 16축이 적용 경계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91640"/>
            <a:ext cx="11384280" cy="3017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500"/>
              </a:spcAft>
            </a:pPr>
            <a:r>
              <a:rPr sz="1250" b="1">
                <a:solidFill>
                  <a:srgbClr val="2E74B5"/>
                </a:solidFill>
                <a:latin typeface="맑은 고딕"/>
              </a:rPr>
              <a:t>seq2  </a:t>
            </a:r>
            <a:r>
              <a:rPr sz="1250" b="0">
                <a:solidFill>
                  <a:srgbClr val="262626"/>
                </a:solidFill>
                <a:latin typeface="맑은 고딕"/>
              </a:rPr>
              <a:t>P95 0.39MB · 최악 1.2MB — 전 구간 한도의 1% 미만으로 평평 (축값 목록만 유지)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E74B5"/>
                </a:solidFill>
                <a:latin typeface="맑은 고딕"/>
              </a:rPr>
              <a:t>pool  </a:t>
            </a:r>
            <a:r>
              <a:rPr sz="1250" b="0">
                <a:solidFill>
                  <a:srgbClr val="262626"/>
                </a:solidFill>
                <a:latin typeface="맑은 고딕"/>
              </a:rPr>
              <a:t>지수 성장 — 12축 0.5MB → 18축 42MB → 20축 110MB(중앙). 한도(128MB) 초과 11건은 전부 18축 이상, 최악 4.7GB(k 심화 폭주 꼬리) → 즉시 결함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소규모에서는 오히려 pool이 가볍다(같은 케이스 짝 비교 중앙 0.55배) — 중앙값 기준 역전은 11축부터 (판정 P95 기준 8축부터)</a:t>
            </a:r>
          </a:p>
          <a:p>
            <a:pPr>
              <a:spcAft>
                <a:spcPts val="0"/>
              </a:spcAft>
            </a:pPr>
            <a:r>
              <a:rPr sz="1250" b="1">
                <a:solidFill>
                  <a:srgbClr val="2E74B5"/>
                </a:solidFill>
                <a:latin typeface="맑은 고딕"/>
              </a:rPr>
              <a:t>적용 권고  </a:t>
            </a:r>
            <a:r>
              <a:rPr sz="1250" b="1">
                <a:solidFill>
                  <a:srgbClr val="262626"/>
                </a:solidFill>
                <a:latin typeface="맑은 고딕"/>
              </a:rPr>
              <a:t>의제 16축 이하에서 pool 채택 (스윕 실측: 16축까지 전부 정상, 18축부터 초과). 그 이상은 seq2 전환 또는 pool에 k 상한·의제 분할 보완 (63번 부록 K)</a:t>
            </a:r>
          </a:p>
        </p:txBody>
      </p:sp>
      <p:pic>
        <p:nvPicPr>
          <p:cNvPr id="5" name="Picture 4" descr="fig-ru-r-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28032"/>
            <a:ext cx="3067395" cy="18745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35040" y="5029200"/>
            <a:ext cx="576072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2E74B5"/>
                </a:solidFill>
                <a:latin typeface="맑은 고딕"/>
              </a:rPr>
              <a:t>그림: 사용률 r의 밀도 (63번 §H)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262626"/>
                </a:solidFill>
                <a:latin typeface="맑은 고딕"/>
              </a:rPr>
              <a:t>두 방안의 봉우리는 비슷하나 pool(빨강)만 오른쪽으로 세 자릿수 넘는 꼬리 — "평소엔 동급, 규모 꼬리에서 죽는다"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DEEBF7"/>
                </a:solidFill>
                <a:latin typeface="맑은 고딕"/>
              </a:rPr>
              <a:t>종합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스코어카드와 의사결정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54864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다자 협상 DP — 방안 2 채택 + 택틱 = 방안 2+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508760"/>
          <a:ext cx="54864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88720"/>
                <a:gridCol w="1188720"/>
                <a:gridCol w="118872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QA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1-A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방안 2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방안 2+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기능 정확성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맑은 고딕"/>
                        </a:rPr>
                        <a:t>★5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기밀성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맑은 고딕"/>
                        </a:rPr>
                        <a:t>★5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시간 (P95)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★2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0" y="1051560"/>
            <a:ext cx="53949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E74B5"/>
                </a:solidFill>
                <a:latin typeface="맑은 고딕"/>
              </a:rPr>
              <a:t>복합 의제 DP — pool 조건부 채택 (16축 이하)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508760"/>
          <a:ext cx="5394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737360"/>
                <a:gridCol w="173736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QA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seq2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pool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기능 정확성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맑은 고딕"/>
                        </a:rPr>
                        <a:t>★4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자원 (P95)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맑은 고딕"/>
                        </a:rPr>
                        <a:t>★3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★1 (결함 11)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시간 (P95)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★0 (결함 152)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맑은 고딕"/>
                        </a:rPr>
                        <a:t>★2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확장성-의제*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★4 이상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맑은 고딕"/>
                        </a:rPr>
                        <a:t>★4 이상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4709160"/>
            <a:ext cx="1138428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E74B5"/>
                </a:solidFill>
                <a:latin typeface="맑은 고딕"/>
              </a:rPr>
              <a:t>두 DP를 관통하는 교훈</a:t>
            </a:r>
          </a:p>
          <a:p>
            <a:pPr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맑은 고딕"/>
              </a:rPr>
              <a:t>"기다렸다 최적을 고르는 설계(방안 2 계열)가 품질을 이기고, 그 대가(노출·메모리·꼬리 지연)는 택틱과 적용 조건으로 통제 가능하다."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55080"/>
            <a:ext cx="113842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맑은 고딕"/>
              </a:rPr>
              <a:t>*구 4-10축 스윕의 관측 하한(상한 도달, censored) — 정식 재판정 후속 과제  ·  수치 출처: 60·62·63 (모든 값은 raw에서 재검산 가능)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