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1" r:id="rId2"/>
    <p:sldId id="260" r:id="rId3"/>
    <p:sldId id="256" r:id="rId4"/>
    <p:sldId id="257" r:id="rId5"/>
    <p:sldId id="258" r:id="rId6"/>
    <p:sldId id="259" r:id="rId7"/>
  </p:sldIdLst>
  <p:sldSz cx="14287500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523"/>
    <p:restoredTop sz="96154"/>
  </p:normalViewPr>
  <p:slideViewPr>
    <p:cSldViewPr snapToGrid="0" snapToObjects="1">
      <p:cViewPr varScale="1">
        <p:scale>
          <a:sx n="91" d="100"/>
          <a:sy n="91" d="100"/>
        </p:scale>
        <p:origin x="968" y="2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FCDCE-7D3E-B8C7-0367-1937108FA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nector 6">
            <a:extLst>
              <a:ext uri="{FF2B5EF4-FFF2-40B4-BE49-F238E27FC236}">
                <a16:creationId xmlns:a16="http://schemas.microsoft.com/office/drawing/2014/main" id="{05725103-9AB8-E70C-6CD5-F249B536CB9E}"/>
              </a:ext>
            </a:extLst>
          </p:cNvPr>
          <p:cNvCxnSpPr/>
          <p:nvPr/>
        </p:nvCxnSpPr>
        <p:spPr>
          <a:xfrm>
            <a:off x="7143750" y="1118329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75E9637-E05E-E82F-B9BD-31470D838208}"/>
              </a:ext>
            </a:extLst>
          </p:cNvPr>
          <p:cNvSpPr/>
          <p:nvPr/>
        </p:nvSpPr>
        <p:spPr>
          <a:xfrm>
            <a:off x="1809750" y="546829"/>
            <a:ext cx="3619500" cy="3762375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19050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5EA6C0C-7903-74F7-2D8C-031C5D5BFC4A}"/>
              </a:ext>
            </a:extLst>
          </p:cNvPr>
          <p:cNvSpPr/>
          <p:nvPr/>
        </p:nvSpPr>
        <p:spPr>
          <a:xfrm>
            <a:off x="2095500" y="1070704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/ Sweep Controller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마감·바퀴 제어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462AD93-47C8-287E-443E-08A571326364}"/>
              </a:ext>
            </a:extLst>
          </p:cNvPr>
          <p:cNvSpPr/>
          <p:nvPr/>
        </p:nvSpPr>
        <p:spPr>
          <a:xfrm>
            <a:off x="3714750" y="1070704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Anonymous Offer Distributor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제안자 귀속 제거 후 배포</a:t>
            </a:r>
          </a:p>
        </p:txBody>
      </p:sp>
      <p:sp>
        <p:nvSpPr>
          <p:cNvPr id="12" name="Can 11">
            <a:extLst>
              <a:ext uri="{FF2B5EF4-FFF2-40B4-BE49-F238E27FC236}">
                <a16:creationId xmlns:a16="http://schemas.microsoft.com/office/drawing/2014/main" id="{752E43BC-D45B-9208-0584-EC9DE77627D3}"/>
              </a:ext>
            </a:extLst>
          </p:cNvPr>
          <p:cNvSpPr/>
          <p:nvPr/>
        </p:nvSpPr>
        <p:spPr>
          <a:xfrm>
            <a:off x="2095500" y="1880329"/>
            <a:ext cx="1428750" cy="685800"/>
          </a:xfrm>
          <a:prstGeom prst="can">
            <a:avLst/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68580" rIns="19050" bIns="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Current Round State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현재 후보 목록 + O/X 행렬</a:t>
            </a:r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91EBF2F5-87B7-6DC7-42E7-E13160E81FE3}"/>
              </a:ext>
            </a:extLst>
          </p:cNvPr>
          <p:cNvSpPr/>
          <p:nvPr/>
        </p:nvSpPr>
        <p:spPr>
          <a:xfrm>
            <a:off x="3762375" y="1813654"/>
            <a:ext cx="1333500" cy="819150"/>
          </a:xfrm>
          <a:prstGeom prst="diamond">
            <a:avLst/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293370" tIns="-131064" rIns="-293370" bIns="-131064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Unanimity Evaluator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∃c ∈ Ck : 전원 O 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D3AE83A8-7D4A-F8A6-BA07-00773B57F004}"/>
              </a:ext>
            </a:extLst>
          </p:cNvPr>
          <p:cNvSpPr/>
          <p:nvPr/>
        </p:nvSpPr>
        <p:spPr>
          <a:xfrm>
            <a:off x="2095500" y="2880454"/>
            <a:ext cx="3048000" cy="523875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 w="9525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순위 정보 없음 → 결선투표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B0C63AE3-C7F5-FE5E-4C6D-F404DECD7725}"/>
              </a:ext>
            </a:extLst>
          </p:cNvPr>
          <p:cNvSpPr/>
          <p:nvPr/>
        </p:nvSpPr>
        <p:spPr>
          <a:xfrm>
            <a:off x="2905125" y="3642454"/>
            <a:ext cx="1428750" cy="4000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성립 시에만 종료 통지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DA75B56-9224-4CF5-18E3-EF784BE7217B}"/>
              </a:ext>
            </a:extLst>
          </p:cNvPr>
          <p:cNvSpPr/>
          <p:nvPr/>
        </p:nvSpPr>
        <p:spPr>
          <a:xfrm>
            <a:off x="381000" y="1213579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7FFC641-67E7-7914-55C2-52D214551CA8}"/>
              </a:ext>
            </a:extLst>
          </p:cNvPr>
          <p:cNvSpPr/>
          <p:nvPr/>
        </p:nvSpPr>
        <p:spPr>
          <a:xfrm>
            <a:off x="381000" y="2118454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829ED230-7638-759F-54DC-CF414BD91929}"/>
              </a:ext>
            </a:extLst>
          </p:cNvPr>
          <p:cNvSpPr/>
          <p:nvPr/>
        </p:nvSpPr>
        <p:spPr>
          <a:xfrm>
            <a:off x="381000" y="3023329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19" name="Connector 18">
            <a:extLst>
              <a:ext uri="{FF2B5EF4-FFF2-40B4-BE49-F238E27FC236}">
                <a16:creationId xmlns:a16="http://schemas.microsoft.com/office/drawing/2014/main" id="{EA8C9729-2FA2-95C4-A62E-5E421195CD6A}"/>
              </a:ext>
            </a:extLst>
          </p:cNvPr>
          <p:cNvCxnSpPr>
            <a:stCxn id="16" idx="3"/>
            <a:endCxn id="9" idx="1"/>
          </p:cNvCxnSpPr>
          <p:nvPr/>
        </p:nvCxnSpPr>
        <p:spPr>
          <a:xfrm>
            <a:off x="1047750" y="1451704"/>
            <a:ext cx="762000" cy="976312"/>
          </a:xfrm>
          <a:prstGeom prst="bentConnector3">
            <a:avLst/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>
            <a:extLst>
              <a:ext uri="{FF2B5EF4-FFF2-40B4-BE49-F238E27FC236}">
                <a16:creationId xmlns:a16="http://schemas.microsoft.com/office/drawing/2014/main" id="{8B0F2DCC-D4C0-D39C-E8DD-D825BD79D6B1}"/>
              </a:ext>
            </a:extLst>
          </p:cNvPr>
          <p:cNvCxnSpPr>
            <a:stCxn id="17" idx="3"/>
            <a:endCxn id="9" idx="1"/>
          </p:cNvCxnSpPr>
          <p:nvPr/>
        </p:nvCxnSpPr>
        <p:spPr>
          <a:xfrm>
            <a:off x="1047750" y="2356579"/>
            <a:ext cx="762000" cy="71437"/>
          </a:xfrm>
          <a:prstGeom prst="bentConnector3">
            <a:avLst/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>
            <a:extLst>
              <a:ext uri="{FF2B5EF4-FFF2-40B4-BE49-F238E27FC236}">
                <a16:creationId xmlns:a16="http://schemas.microsoft.com/office/drawing/2014/main" id="{0D658C17-91E8-026E-3FEE-014A2DE8D263}"/>
              </a:ext>
            </a:extLst>
          </p:cNvPr>
          <p:cNvCxnSpPr>
            <a:stCxn id="18" idx="3"/>
            <a:endCxn id="9" idx="1"/>
          </p:cNvCxnSpPr>
          <p:nvPr/>
        </p:nvCxnSpPr>
        <p:spPr>
          <a:xfrm flipV="1">
            <a:off x="1047750" y="2428016"/>
            <a:ext cx="762000" cy="833438"/>
          </a:xfrm>
          <a:prstGeom prst="bentConnector3">
            <a:avLst/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581A019-9E67-6CA2-E090-E295D8840056}"/>
              </a:ext>
            </a:extLst>
          </p:cNvPr>
          <p:cNvSpPr txBox="1"/>
          <p:nvPr/>
        </p:nvSpPr>
        <p:spPr>
          <a:xfrm>
            <a:off x="238125" y="765904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B85450"/>
                </a:solidFill>
                <a:latin typeface="Arial"/>
                <a:ea typeface="맑은 고딕"/>
                <a:cs typeface="Arial"/>
              </a:rPr>
              <a:t>사설 SAO 채널·offer / reply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2A6F460D-3CFE-6371-9C4E-6A41D01AC043}"/>
              </a:ext>
            </a:extLst>
          </p:cNvPr>
          <p:cNvSpPr/>
          <p:nvPr/>
        </p:nvSpPr>
        <p:spPr>
          <a:xfrm>
            <a:off x="8858250" y="546828"/>
            <a:ext cx="3619500" cy="376237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34BB6FA0-1BD2-6BDE-55B7-E19AC4ACE681}"/>
              </a:ext>
            </a:extLst>
          </p:cNvPr>
          <p:cNvSpPr/>
          <p:nvPr/>
        </p:nvSpPr>
        <p:spPr>
          <a:xfrm>
            <a:off x="9144000" y="107070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/ Sweep Controller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마감·바퀴 제어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5287CFF9-7E2D-65B6-EBA0-9679BF9B0B25}"/>
              </a:ext>
            </a:extLst>
          </p:cNvPr>
          <p:cNvSpPr/>
          <p:nvPr/>
        </p:nvSpPr>
        <p:spPr>
          <a:xfrm>
            <a:off x="10763250" y="107070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Proposal Receiver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후보 1개 제출 수신</a:t>
            </a:r>
          </a:p>
        </p:txBody>
      </p:sp>
      <p:sp>
        <p:nvSpPr>
          <p:cNvPr id="28" name="Can 27">
            <a:extLst>
              <a:ext uri="{FF2B5EF4-FFF2-40B4-BE49-F238E27FC236}">
                <a16:creationId xmlns:a16="http://schemas.microsoft.com/office/drawing/2014/main" id="{27A7953A-9C5F-E67F-7779-5042A122E52D}"/>
              </a:ext>
            </a:extLst>
          </p:cNvPr>
          <p:cNvSpPr/>
          <p:nvPr/>
        </p:nvSpPr>
        <p:spPr>
          <a:xfrm>
            <a:off x="9144000" y="1851753"/>
            <a:ext cx="3048000" cy="742950"/>
          </a:xfrm>
          <a:prstGeom prst="can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74295" rIns="19050" bIns="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Blackboard State (P0 내부)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Si(k): 참여자별 누적 제안 + 제출 라운드</a:t>
            </a:r>
          </a:p>
        </p:txBody>
      </p:sp>
      <p:sp>
        <p:nvSpPr>
          <p:cNvPr id="29" name="Diamond 28">
            <a:extLst>
              <a:ext uri="{FF2B5EF4-FFF2-40B4-BE49-F238E27FC236}">
                <a16:creationId xmlns:a16="http://schemas.microsoft.com/office/drawing/2014/main" id="{B9CF53F7-8940-FE1B-806F-D4DD97C4B97B}"/>
              </a:ext>
            </a:extLst>
          </p:cNvPr>
          <p:cNvSpPr/>
          <p:nvPr/>
        </p:nvSpPr>
        <p:spPr>
          <a:xfrm>
            <a:off x="9191625" y="2766153"/>
            <a:ext cx="1381125" cy="781050"/>
          </a:xfrm>
          <a:prstGeom prst="diamond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303848" tIns="-124968" rIns="-303848" bIns="-124968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Intersection Evaluator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S1(k) ∩ … ∩ SN(k) ≠ ∅ ?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E5CB84E5-5E9D-0EAA-0F0C-63E80E2016E2}"/>
              </a:ext>
            </a:extLst>
          </p:cNvPr>
          <p:cNvSpPr/>
          <p:nvPr/>
        </p:nvSpPr>
        <p:spPr>
          <a:xfrm>
            <a:off x="10763250" y="288045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순위 합 → 표준편차 → 결선투표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B6B0660C-133F-500C-0C34-2FA3291423A8}"/>
              </a:ext>
            </a:extLst>
          </p:cNvPr>
          <p:cNvSpPr/>
          <p:nvPr/>
        </p:nvSpPr>
        <p:spPr>
          <a:xfrm>
            <a:off x="9953625" y="3642453"/>
            <a:ext cx="1428750" cy="4000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성립 시 종료 통지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FE1A4352-994B-CADC-A488-A84D775BA01E}"/>
              </a:ext>
            </a:extLst>
          </p:cNvPr>
          <p:cNvSpPr/>
          <p:nvPr/>
        </p:nvSpPr>
        <p:spPr>
          <a:xfrm>
            <a:off x="12858750" y="121357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B326A763-A43D-C818-CD7D-85B04B7DFB45}"/>
              </a:ext>
            </a:extLst>
          </p:cNvPr>
          <p:cNvSpPr/>
          <p:nvPr/>
        </p:nvSpPr>
        <p:spPr>
          <a:xfrm>
            <a:off x="12858750" y="2118453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7C665B74-0ADF-D9EC-C9E4-A07322BA297B}"/>
              </a:ext>
            </a:extLst>
          </p:cNvPr>
          <p:cNvSpPr/>
          <p:nvPr/>
        </p:nvSpPr>
        <p:spPr>
          <a:xfrm>
            <a:off x="12858750" y="302332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35" name="Connector 34">
            <a:extLst>
              <a:ext uri="{FF2B5EF4-FFF2-40B4-BE49-F238E27FC236}">
                <a16:creationId xmlns:a16="http://schemas.microsoft.com/office/drawing/2014/main" id="{5340C347-45C7-2BCF-7274-24D22E38E95B}"/>
              </a:ext>
            </a:extLst>
          </p:cNvPr>
          <p:cNvCxnSpPr>
            <a:stCxn id="32" idx="1"/>
            <a:endCxn id="25" idx="3"/>
          </p:cNvCxnSpPr>
          <p:nvPr/>
        </p:nvCxnSpPr>
        <p:spPr>
          <a:xfrm flipH="1">
            <a:off x="12477750" y="1451703"/>
            <a:ext cx="381000" cy="976312"/>
          </a:xfrm>
          <a:prstGeom prst="bentConnector3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>
            <a:extLst>
              <a:ext uri="{FF2B5EF4-FFF2-40B4-BE49-F238E27FC236}">
                <a16:creationId xmlns:a16="http://schemas.microsoft.com/office/drawing/2014/main" id="{3830A6FF-7501-FB95-96BA-9DEF2FAD757A}"/>
              </a:ext>
            </a:extLst>
          </p:cNvPr>
          <p:cNvCxnSpPr>
            <a:stCxn id="33" idx="1"/>
            <a:endCxn id="25" idx="3"/>
          </p:cNvCxnSpPr>
          <p:nvPr/>
        </p:nvCxnSpPr>
        <p:spPr>
          <a:xfrm flipH="1">
            <a:off x="12477750" y="2356578"/>
            <a:ext cx="381000" cy="71437"/>
          </a:xfrm>
          <a:prstGeom prst="bentConnector3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>
            <a:extLst>
              <a:ext uri="{FF2B5EF4-FFF2-40B4-BE49-F238E27FC236}">
                <a16:creationId xmlns:a16="http://schemas.microsoft.com/office/drawing/2014/main" id="{A66CF3C0-D51B-DB51-3229-2264E910DE43}"/>
              </a:ext>
            </a:extLst>
          </p:cNvPr>
          <p:cNvCxnSpPr>
            <a:stCxn id="34" idx="1"/>
            <a:endCxn id="25" idx="3"/>
          </p:cNvCxnSpPr>
          <p:nvPr/>
        </p:nvCxnSpPr>
        <p:spPr>
          <a:xfrm flipH="1" flipV="1">
            <a:off x="12477750" y="2428015"/>
            <a:ext cx="381000" cy="833438"/>
          </a:xfrm>
          <a:prstGeom prst="bentConnector3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8BE4B905-0866-E6A7-5339-A185AC85B2DA}"/>
              </a:ext>
            </a:extLst>
          </p:cNvPr>
          <p:cNvSpPr txBox="1"/>
          <p:nvPr/>
        </p:nvSpPr>
        <p:spPr>
          <a:xfrm>
            <a:off x="12382500" y="765903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6C8EBF"/>
                </a:solidFill>
                <a:latin typeface="Arial"/>
                <a:ea typeface="맑은 고딕"/>
                <a:cs typeface="Arial"/>
              </a:rPr>
              <a:t>사설 채널·후보 제출만</a:t>
            </a:r>
          </a:p>
        </p:txBody>
      </p:sp>
      <p:sp>
        <p:nvSpPr>
          <p:cNvPr id="41" name="Rounded Rectangle 6">
            <a:extLst>
              <a:ext uri="{FF2B5EF4-FFF2-40B4-BE49-F238E27FC236}">
                <a16:creationId xmlns:a16="http://schemas.microsoft.com/office/drawing/2014/main" id="{01FAAEF0-4059-0F8A-B81C-4283E8C45EF0}"/>
              </a:ext>
            </a:extLst>
          </p:cNvPr>
          <p:cNvSpPr/>
          <p:nvPr/>
        </p:nvSpPr>
        <p:spPr>
          <a:xfrm>
            <a:off x="762000" y="4639924"/>
            <a:ext cx="5715000" cy="57150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1 제안 목록 C1</a:t>
            </a: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 → X   ·   P2 → A   ·   P3 → B</a:t>
            </a:r>
          </a:p>
        </p:txBody>
      </p:sp>
      <p:sp>
        <p:nvSpPr>
          <p:cNvPr id="42" name="Rounded Rectangle 7">
            <a:extLst>
              <a:ext uri="{FF2B5EF4-FFF2-40B4-BE49-F238E27FC236}">
                <a16:creationId xmlns:a16="http://schemas.microsoft.com/office/drawing/2014/main" id="{6C0E9EB8-6F5F-F0BE-F269-262EFE914632}"/>
              </a:ext>
            </a:extLst>
          </p:cNvPr>
          <p:cNvSpPr/>
          <p:nvPr/>
        </p:nvSpPr>
        <p:spPr>
          <a:xfrm>
            <a:off x="1363102" y="6048453"/>
            <a:ext cx="1845796" cy="1288959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23875" tIns="19050" rIns="19050" bIns="19050" rtlCol="0" anchor="ctr">
            <a:noAutofit/>
          </a:bodyPr>
          <a:lstStyle/>
          <a:p>
            <a:pPr algn="l">
              <a:tabLst>
                <a:tab pos="952500" algn="l"/>
                <a:tab pos="1543050" algn="l"/>
                <a:tab pos="2133600" algn="l"/>
              </a:tabLst>
            </a:pPr>
            <a:endParaRPr sz="975" b="0" dirty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43" name="Rounded Rectangle 8">
            <a:extLst>
              <a:ext uri="{FF2B5EF4-FFF2-40B4-BE49-F238E27FC236}">
                <a16:creationId xmlns:a16="http://schemas.microsoft.com/office/drawing/2014/main" id="{2A88DA33-3CC6-8456-4E47-A0179D09D9A7}"/>
              </a:ext>
            </a:extLst>
          </p:cNvPr>
          <p:cNvSpPr/>
          <p:nvPr/>
        </p:nvSpPr>
        <p:spPr>
          <a:xfrm>
            <a:off x="4429125" y="5640049"/>
            <a:ext cx="2047875" cy="1000125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Accept1(c) = ∧i vote(i,c)</a:t>
            </a:r>
          </a:p>
          <a:p>
            <a:pPr algn="ctr"/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Accept1(X) = O ∧ O ∧ O = true</a:t>
            </a:r>
          </a:p>
        </p:txBody>
      </p:sp>
      <p:sp>
        <p:nvSpPr>
          <p:cNvPr id="44" name="Oval 9">
            <a:extLst>
              <a:ext uri="{FF2B5EF4-FFF2-40B4-BE49-F238E27FC236}">
                <a16:creationId xmlns:a16="http://schemas.microsoft.com/office/drawing/2014/main" id="{0FF297AA-6C26-3215-69E0-48A87FE095E9}"/>
              </a:ext>
            </a:extLst>
          </p:cNvPr>
          <p:cNvSpPr/>
          <p:nvPr/>
        </p:nvSpPr>
        <p:spPr>
          <a:xfrm>
            <a:off x="4762500" y="6878299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45" name="Connector 10">
            <a:extLst>
              <a:ext uri="{FF2B5EF4-FFF2-40B4-BE49-F238E27FC236}">
                <a16:creationId xmlns:a16="http://schemas.microsoft.com/office/drawing/2014/main" id="{1462AD60-3E17-9C10-B03B-0304C5364425}"/>
              </a:ext>
            </a:extLst>
          </p:cNvPr>
          <p:cNvCxnSpPr>
            <a:cxnSpLocks/>
            <a:stCxn id="41" idx="2"/>
            <a:endCxn id="42" idx="0"/>
          </p:cNvCxnSpPr>
          <p:nvPr/>
        </p:nvCxnSpPr>
        <p:spPr>
          <a:xfrm rot="5400000">
            <a:off x="2534236" y="4963188"/>
            <a:ext cx="837029" cy="1333500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11">
            <a:extLst>
              <a:ext uri="{FF2B5EF4-FFF2-40B4-BE49-F238E27FC236}">
                <a16:creationId xmlns:a16="http://schemas.microsoft.com/office/drawing/2014/main" id="{A8CBF2F3-8318-1359-19D0-14118FA38F66}"/>
              </a:ext>
            </a:extLst>
          </p:cNvPr>
          <p:cNvCxnSpPr>
            <a:cxnSpLocks/>
            <a:stCxn id="42" idx="3"/>
            <a:endCxn id="43" idx="1"/>
          </p:cNvCxnSpPr>
          <p:nvPr/>
        </p:nvCxnSpPr>
        <p:spPr>
          <a:xfrm flipV="1">
            <a:off x="3208898" y="6140112"/>
            <a:ext cx="1220227" cy="552821"/>
          </a:xfrm>
          <a:prstGeom prst="bentConnector3">
            <a:avLst>
              <a:gd name="adj1" fmla="val 50000"/>
            </a:avLst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12">
            <a:extLst>
              <a:ext uri="{FF2B5EF4-FFF2-40B4-BE49-F238E27FC236}">
                <a16:creationId xmlns:a16="http://schemas.microsoft.com/office/drawing/2014/main" id="{340CE7E8-3A5D-A276-CD1B-B3284134AFC8}"/>
              </a:ext>
            </a:extLst>
          </p:cNvPr>
          <p:cNvCxnSpPr>
            <a:stCxn id="43" idx="2"/>
            <a:endCxn id="44" idx="0"/>
          </p:cNvCxnSpPr>
          <p:nvPr/>
        </p:nvCxnSpPr>
        <p:spPr>
          <a:xfrm>
            <a:off x="5453062" y="6640174"/>
            <a:ext cx="0" cy="238125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Hexagon 13">
            <a:extLst>
              <a:ext uri="{FF2B5EF4-FFF2-40B4-BE49-F238E27FC236}">
                <a16:creationId xmlns:a16="http://schemas.microsoft.com/office/drawing/2014/main" id="{D330EA6D-228B-31AE-0960-0395B0C8BF84}"/>
              </a:ext>
            </a:extLst>
          </p:cNvPr>
          <p:cNvSpPr/>
          <p:nvPr/>
        </p:nvSpPr>
        <p:spPr>
          <a:xfrm>
            <a:off x="2381250" y="7878424"/>
            <a:ext cx="952500" cy="523875"/>
          </a:xfrm>
          <a:prstGeom prst="hexagon">
            <a:avLst>
              <a:gd name="adj" fmla="val 36363"/>
              <a:gd name="vf" fmla="val 11547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</p:txBody>
      </p:sp>
      <p:sp>
        <p:nvSpPr>
          <p:cNvPr id="49" name="Rounded Rectangle 17">
            <a:extLst>
              <a:ext uri="{FF2B5EF4-FFF2-40B4-BE49-F238E27FC236}">
                <a16:creationId xmlns:a16="http://schemas.microsoft.com/office/drawing/2014/main" id="{0A051D69-5941-7DFB-04FA-9B82CF37E5EC}"/>
              </a:ext>
            </a:extLst>
          </p:cNvPr>
          <p:cNvSpPr/>
          <p:nvPr/>
        </p:nvSpPr>
        <p:spPr>
          <a:xfrm>
            <a:off x="7620000" y="4643516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S3={B}</a:t>
            </a:r>
          </a:p>
        </p:txBody>
      </p:sp>
      <p:sp>
        <p:nvSpPr>
          <p:cNvPr id="50" name="Rounded Rectangle 18">
            <a:extLst>
              <a:ext uri="{FF2B5EF4-FFF2-40B4-BE49-F238E27FC236}">
                <a16:creationId xmlns:a16="http://schemas.microsoft.com/office/drawing/2014/main" id="{CDDB3CB0-9E34-AC9D-9E21-5C67592907DD}"/>
              </a:ext>
            </a:extLst>
          </p:cNvPr>
          <p:cNvSpPr/>
          <p:nvPr/>
        </p:nvSpPr>
        <p:spPr>
          <a:xfrm>
            <a:off x="9239250" y="4643516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R2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S3={B,E}</a:t>
            </a:r>
          </a:p>
        </p:txBody>
      </p:sp>
      <p:sp>
        <p:nvSpPr>
          <p:cNvPr id="51" name="Rounded Rectangle 19">
            <a:extLst>
              <a:ext uri="{FF2B5EF4-FFF2-40B4-BE49-F238E27FC236}">
                <a16:creationId xmlns:a16="http://schemas.microsoft.com/office/drawing/2014/main" id="{E7B01B86-75F3-9DFE-ED8E-CC6A81742817}"/>
              </a:ext>
            </a:extLst>
          </p:cNvPr>
          <p:cNvSpPr/>
          <p:nvPr/>
        </p:nvSpPr>
        <p:spPr>
          <a:xfrm>
            <a:off x="10858500" y="4643516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R3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S3={B,E,G}</a:t>
            </a:r>
          </a:p>
        </p:txBody>
      </p:sp>
      <p:sp>
        <p:nvSpPr>
          <p:cNvPr id="52" name="Rounded Rectangle 20">
            <a:extLst>
              <a:ext uri="{FF2B5EF4-FFF2-40B4-BE49-F238E27FC236}">
                <a16:creationId xmlns:a16="http://schemas.microsoft.com/office/drawing/2014/main" id="{E93CF54E-9951-71AA-282B-E24A51A9E5BD}"/>
              </a:ext>
            </a:extLst>
          </p:cNvPr>
          <p:cNvSpPr/>
          <p:nvPr/>
        </p:nvSpPr>
        <p:spPr>
          <a:xfrm>
            <a:off x="12477750" y="4643516"/>
            <a:ext cx="1238250" cy="10001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S1={X,C,F,H}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S2={A,D,X,I}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S3={B,E,G,X}</a:t>
            </a:r>
          </a:p>
        </p:txBody>
      </p:sp>
      <p:cxnSp>
        <p:nvCxnSpPr>
          <p:cNvPr id="53" name="Connector 21">
            <a:extLst>
              <a:ext uri="{FF2B5EF4-FFF2-40B4-BE49-F238E27FC236}">
                <a16:creationId xmlns:a16="http://schemas.microsoft.com/office/drawing/2014/main" id="{44C763B8-9D7F-E295-D399-5BD6DD2C5217}"/>
              </a:ext>
            </a:extLst>
          </p:cNvPr>
          <p:cNvCxnSpPr>
            <a:stCxn id="49" idx="3"/>
            <a:endCxn id="50" idx="1"/>
          </p:cNvCxnSpPr>
          <p:nvPr/>
        </p:nvCxnSpPr>
        <p:spPr>
          <a:xfrm>
            <a:off x="8810625" y="5143578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22">
            <a:extLst>
              <a:ext uri="{FF2B5EF4-FFF2-40B4-BE49-F238E27FC236}">
                <a16:creationId xmlns:a16="http://schemas.microsoft.com/office/drawing/2014/main" id="{3ED7AC95-5CF0-8772-04D1-12064069A67F}"/>
              </a:ext>
            </a:extLst>
          </p:cNvPr>
          <p:cNvCxnSpPr>
            <a:stCxn id="50" idx="3"/>
            <a:endCxn id="51" idx="1"/>
          </p:cNvCxnSpPr>
          <p:nvPr/>
        </p:nvCxnSpPr>
        <p:spPr>
          <a:xfrm>
            <a:off x="10429875" y="5143578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23">
            <a:extLst>
              <a:ext uri="{FF2B5EF4-FFF2-40B4-BE49-F238E27FC236}">
                <a16:creationId xmlns:a16="http://schemas.microsoft.com/office/drawing/2014/main" id="{46C4511C-ABB4-7AC2-A4F4-4AA27A7208E8}"/>
              </a:ext>
            </a:extLst>
          </p:cNvPr>
          <p:cNvCxnSpPr>
            <a:stCxn id="51" idx="3"/>
            <a:endCxn id="52" idx="1"/>
          </p:cNvCxnSpPr>
          <p:nvPr/>
        </p:nvCxnSpPr>
        <p:spPr>
          <a:xfrm>
            <a:off x="12049125" y="5143578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24">
            <a:extLst>
              <a:ext uri="{FF2B5EF4-FFF2-40B4-BE49-F238E27FC236}">
                <a16:creationId xmlns:a16="http://schemas.microsoft.com/office/drawing/2014/main" id="{120325C9-3F91-6BD4-D93A-A0B46C6399E4}"/>
              </a:ext>
            </a:extLst>
          </p:cNvPr>
          <p:cNvSpPr/>
          <p:nvPr/>
        </p:nvSpPr>
        <p:spPr>
          <a:xfrm>
            <a:off x="7667625" y="5881766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7" name="Rounded Rectangle 25">
            <a:extLst>
              <a:ext uri="{FF2B5EF4-FFF2-40B4-BE49-F238E27FC236}">
                <a16:creationId xmlns:a16="http://schemas.microsoft.com/office/drawing/2014/main" id="{169E6919-9F27-0D03-794A-D1A345F52717}"/>
              </a:ext>
            </a:extLst>
          </p:cNvPr>
          <p:cNvSpPr/>
          <p:nvPr/>
        </p:nvSpPr>
        <p:spPr>
          <a:xfrm>
            <a:off x="9286875" y="5881766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8" name="Rounded Rectangle 26">
            <a:extLst>
              <a:ext uri="{FF2B5EF4-FFF2-40B4-BE49-F238E27FC236}">
                <a16:creationId xmlns:a16="http://schemas.microsoft.com/office/drawing/2014/main" id="{1AF4AD5A-0C10-ED6D-0BA3-2891A51E1174}"/>
              </a:ext>
            </a:extLst>
          </p:cNvPr>
          <p:cNvSpPr/>
          <p:nvPr/>
        </p:nvSpPr>
        <p:spPr>
          <a:xfrm>
            <a:off x="10906125" y="5881766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9" name="Rounded Rectangle 27">
            <a:extLst>
              <a:ext uri="{FF2B5EF4-FFF2-40B4-BE49-F238E27FC236}">
                <a16:creationId xmlns:a16="http://schemas.microsoft.com/office/drawing/2014/main" id="{88CB928E-58B5-799C-1B07-9B9670807D9F}"/>
              </a:ext>
            </a:extLst>
          </p:cNvPr>
          <p:cNvSpPr/>
          <p:nvPr/>
        </p:nvSpPr>
        <p:spPr>
          <a:xfrm>
            <a:off x="12525375" y="5881766"/>
            <a:ext cx="1143000" cy="333375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{X}</a:t>
            </a:r>
          </a:p>
        </p:txBody>
      </p:sp>
      <p:sp>
        <p:nvSpPr>
          <p:cNvPr id="60" name="Rounded Rectangle 28">
            <a:extLst>
              <a:ext uri="{FF2B5EF4-FFF2-40B4-BE49-F238E27FC236}">
                <a16:creationId xmlns:a16="http://schemas.microsoft.com/office/drawing/2014/main" id="{F956E09C-D3B7-317A-3388-61038AB47C8D}"/>
              </a:ext>
            </a:extLst>
          </p:cNvPr>
          <p:cNvSpPr/>
          <p:nvPr/>
        </p:nvSpPr>
        <p:spPr>
          <a:xfrm>
            <a:off x="8572500" y="6596141"/>
            <a:ext cx="2857500" cy="11906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G(k) = S1(k) ∩ S2(k) ∩ S3(k)</a:t>
            </a:r>
          </a:p>
          <a:p>
            <a:pPr algn="ctr"/>
            <a:endParaRPr sz="105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G(1)=G(2)=G(3)=∅</a:t>
            </a: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G(4)={X}</a:t>
            </a:r>
          </a:p>
        </p:txBody>
      </p:sp>
      <p:sp>
        <p:nvSpPr>
          <p:cNvPr id="61" name="Oval 29">
            <a:extLst>
              <a:ext uri="{FF2B5EF4-FFF2-40B4-BE49-F238E27FC236}">
                <a16:creationId xmlns:a16="http://schemas.microsoft.com/office/drawing/2014/main" id="{7A49FB80-D900-9DFC-866A-2552D29D7457}"/>
              </a:ext>
            </a:extLst>
          </p:cNvPr>
          <p:cNvSpPr/>
          <p:nvPr/>
        </p:nvSpPr>
        <p:spPr>
          <a:xfrm>
            <a:off x="11906250" y="6834266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62" name="Connector 30">
            <a:extLst>
              <a:ext uri="{FF2B5EF4-FFF2-40B4-BE49-F238E27FC236}">
                <a16:creationId xmlns:a16="http://schemas.microsoft.com/office/drawing/2014/main" id="{D12A3078-F8E4-78DD-672E-45A06A9581A0}"/>
              </a:ext>
            </a:extLst>
          </p:cNvPr>
          <p:cNvCxnSpPr>
            <a:stCxn id="60" idx="3"/>
            <a:endCxn id="61" idx="1"/>
          </p:cNvCxnSpPr>
          <p:nvPr/>
        </p:nvCxnSpPr>
        <p:spPr>
          <a:xfrm flipV="1">
            <a:off x="11430000" y="7167641"/>
            <a:ext cx="476250" cy="23812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Hexagon 31">
            <a:extLst>
              <a:ext uri="{FF2B5EF4-FFF2-40B4-BE49-F238E27FC236}">
                <a16:creationId xmlns:a16="http://schemas.microsoft.com/office/drawing/2014/main" id="{9895ADE4-761E-A984-B940-E77DA98BDD19}"/>
              </a:ext>
            </a:extLst>
          </p:cNvPr>
          <p:cNvSpPr/>
          <p:nvPr/>
        </p:nvSpPr>
        <p:spPr>
          <a:xfrm>
            <a:off x="10191750" y="8072516"/>
            <a:ext cx="952500" cy="523875"/>
          </a:xfrm>
          <a:prstGeom prst="hexagon">
            <a:avLst>
              <a:gd name="adj" fmla="val 36363"/>
              <a:gd name="vf" fmla="val 11547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EBCA2A02-86FC-F1DC-8CCB-3C3D3906A2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3999001"/>
              </p:ext>
            </p:extLst>
          </p:nvPr>
        </p:nvGraphicFramePr>
        <p:xfrm>
          <a:off x="1479965" y="6177337"/>
          <a:ext cx="1591848" cy="99030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7962">
                  <a:extLst>
                    <a:ext uri="{9D8B030D-6E8A-4147-A177-3AD203B41FA5}">
                      <a16:colId xmlns:a16="http://schemas.microsoft.com/office/drawing/2014/main" val="3932960737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3940649164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4203034792"/>
                    </a:ext>
                  </a:extLst>
                </a:gridCol>
                <a:gridCol w="397962">
                  <a:extLst>
                    <a:ext uri="{9D8B030D-6E8A-4147-A177-3AD203B41FA5}">
                      <a16:colId xmlns:a16="http://schemas.microsoft.com/office/drawing/2014/main" val="1107228868"/>
                    </a:ext>
                  </a:extLst>
                </a:gridCol>
              </a:tblGrid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A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B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C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6094117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P1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54612516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P2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47985705"/>
                  </a:ext>
                </a:extLst>
              </a:tr>
              <a:tr h="247576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P3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X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tabLst>
                          <a:tab pos="952500" algn="l"/>
                          <a:tab pos="1543050" algn="l"/>
                          <a:tab pos="2133600" algn="l"/>
                        </a:tabLst>
                      </a:pPr>
                      <a:r>
                        <a:rPr lang="en-US" altLang="ko-KR" sz="975" b="0" kern="1200" dirty="0">
                          <a:solidFill>
                            <a:srgbClr val="000000"/>
                          </a:solidFill>
                          <a:latin typeface="Arial"/>
                          <a:ea typeface="맑은 고딕"/>
                          <a:cs typeface="Arial"/>
                        </a:rPr>
                        <a:t>O</a:t>
                      </a:r>
                      <a:endParaRPr lang="ko-KR" altLang="en-US" sz="975" b="0" kern="1200" dirty="0">
                        <a:solidFill>
                          <a:srgbClr val="000000"/>
                        </a:solidFill>
                        <a:latin typeface="Arial"/>
                        <a:ea typeface="맑은 고딕"/>
                        <a:cs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9979317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41078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53E055-BAA2-2AF1-2E6A-00A2AFA9FF18}"/>
              </a:ext>
            </a:extLst>
          </p:cNvPr>
          <p:cNvSpPr txBox="1"/>
          <p:nvPr/>
        </p:nvSpPr>
        <p:spPr>
          <a:xfrm>
            <a:off x="5257233" y="3750177"/>
            <a:ext cx="3166251" cy="132343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kumimoji="1" lang="ko-KR" altLang="en-US" sz="8000" dirty="0"/>
              <a:t>보</a:t>
            </a:r>
            <a:r>
              <a:rPr kumimoji="1" lang="en-US" altLang="ko-KR" sz="8000" dirty="0"/>
              <a:t> </a:t>
            </a:r>
            <a:r>
              <a:rPr kumimoji="1" lang="ko-KR" altLang="en-US" sz="8000" dirty="0"/>
              <a:t>   관</a:t>
            </a:r>
          </a:p>
        </p:txBody>
      </p:sp>
    </p:spTree>
    <p:extLst>
      <p:ext uri="{BB962C8B-B14F-4D97-AF65-F5344CB8AC3E}">
        <p14:creationId xmlns:p14="http://schemas.microsoft.com/office/powerpoint/2010/main" val="15445189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nector 6"/>
          <p:cNvCxnSpPr/>
          <p:nvPr/>
        </p:nvCxnSpPr>
        <p:spPr>
          <a:xfrm>
            <a:off x="7143750" y="1118329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809750" y="546829"/>
            <a:ext cx="3619500" cy="3762375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19050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95500" y="1070704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/ Sweep Controller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마감·바퀴 제어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14750" y="1070704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Anonymous Offer Distributor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제안자 귀속 제거 후 배포</a:t>
            </a:r>
          </a:p>
        </p:txBody>
      </p:sp>
      <p:sp>
        <p:nvSpPr>
          <p:cNvPr id="12" name="Can 11"/>
          <p:cNvSpPr/>
          <p:nvPr/>
        </p:nvSpPr>
        <p:spPr>
          <a:xfrm>
            <a:off x="2095500" y="1880329"/>
            <a:ext cx="1428750" cy="685800"/>
          </a:xfrm>
          <a:prstGeom prst="can">
            <a:avLst/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68580" rIns="19050" bIns="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Current Round State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현재 후보 목록 + O/X 행렬</a:t>
            </a:r>
          </a:p>
        </p:txBody>
      </p:sp>
      <p:sp>
        <p:nvSpPr>
          <p:cNvPr id="13" name="Diamond 12"/>
          <p:cNvSpPr/>
          <p:nvPr/>
        </p:nvSpPr>
        <p:spPr>
          <a:xfrm>
            <a:off x="3762375" y="1813654"/>
            <a:ext cx="1333500" cy="819150"/>
          </a:xfrm>
          <a:prstGeom prst="diamond">
            <a:avLst/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293370" tIns="-131064" rIns="-293370" bIns="-131064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Unanimity Evaluator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∃c ∈ Ck : 전원 O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95500" y="2880454"/>
            <a:ext cx="3048000" cy="523875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 w="9525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순위 정보 없음 → 결선투표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05125" y="3642454"/>
            <a:ext cx="1428750" cy="4000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성립 시에만 종료 통지</a:t>
            </a:r>
          </a:p>
        </p:txBody>
      </p:sp>
      <p:sp>
        <p:nvSpPr>
          <p:cNvPr id="16" name="Oval 15"/>
          <p:cNvSpPr/>
          <p:nvPr/>
        </p:nvSpPr>
        <p:spPr>
          <a:xfrm>
            <a:off x="381000" y="1213579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17" name="Oval 16"/>
          <p:cNvSpPr/>
          <p:nvPr/>
        </p:nvSpPr>
        <p:spPr>
          <a:xfrm>
            <a:off x="381000" y="2118454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18" name="Oval 17"/>
          <p:cNvSpPr/>
          <p:nvPr/>
        </p:nvSpPr>
        <p:spPr>
          <a:xfrm>
            <a:off x="381000" y="3023329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19" name="Connector 18"/>
          <p:cNvCxnSpPr>
            <a:stCxn id="16" idx="3"/>
            <a:endCxn id="9" idx="1"/>
          </p:cNvCxnSpPr>
          <p:nvPr/>
        </p:nvCxnSpPr>
        <p:spPr>
          <a:xfrm>
            <a:off x="1047750" y="1451704"/>
            <a:ext cx="762000" cy="976312"/>
          </a:xfrm>
          <a:prstGeom prst="bentConnector3">
            <a:avLst/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17" idx="3"/>
            <a:endCxn id="9" idx="1"/>
          </p:cNvCxnSpPr>
          <p:nvPr/>
        </p:nvCxnSpPr>
        <p:spPr>
          <a:xfrm>
            <a:off x="1047750" y="2356579"/>
            <a:ext cx="762000" cy="71437"/>
          </a:xfrm>
          <a:prstGeom prst="bentConnector3">
            <a:avLst/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18" idx="3"/>
            <a:endCxn id="9" idx="1"/>
          </p:cNvCxnSpPr>
          <p:nvPr/>
        </p:nvCxnSpPr>
        <p:spPr>
          <a:xfrm flipV="1">
            <a:off x="1047750" y="2428016"/>
            <a:ext cx="762000" cy="833438"/>
          </a:xfrm>
          <a:prstGeom prst="bentConnector3">
            <a:avLst/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38125" y="765904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B85450"/>
                </a:solidFill>
                <a:latin typeface="Arial"/>
                <a:ea typeface="맑은 고딕"/>
                <a:cs typeface="Arial"/>
              </a:rPr>
              <a:t>사설 SAO 채널·offer / reply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58250" y="546828"/>
            <a:ext cx="3619500" cy="376237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107070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/ Sweep Controller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마감·바퀴 제어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763250" y="107070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Proposal Receiver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후보 1개 제출 수신</a:t>
            </a:r>
          </a:p>
        </p:txBody>
      </p:sp>
      <p:sp>
        <p:nvSpPr>
          <p:cNvPr id="28" name="Can 27"/>
          <p:cNvSpPr/>
          <p:nvPr/>
        </p:nvSpPr>
        <p:spPr>
          <a:xfrm>
            <a:off x="9144000" y="1851753"/>
            <a:ext cx="3048000" cy="742950"/>
          </a:xfrm>
          <a:prstGeom prst="can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74295" rIns="19050" bIns="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Blackboard State (P0 내부)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Si(k): 참여자별 누적 제안 + 제출 라운드</a:t>
            </a:r>
          </a:p>
        </p:txBody>
      </p:sp>
      <p:sp>
        <p:nvSpPr>
          <p:cNvPr id="29" name="Diamond 28"/>
          <p:cNvSpPr/>
          <p:nvPr/>
        </p:nvSpPr>
        <p:spPr>
          <a:xfrm>
            <a:off x="9191625" y="2766153"/>
            <a:ext cx="1381125" cy="781050"/>
          </a:xfrm>
          <a:prstGeom prst="diamond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303848" tIns="-124968" rIns="-303848" bIns="-124968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Intersection Evaluator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S1(k) ∩ … ∩ SN(k) ≠ ∅ 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63250" y="2880453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순위 합 → 표준편차 → 결선투표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53625" y="3642453"/>
            <a:ext cx="1428750" cy="4000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성립 시 종료 통지</a:t>
            </a:r>
          </a:p>
        </p:txBody>
      </p:sp>
      <p:sp>
        <p:nvSpPr>
          <p:cNvPr id="32" name="Oval 31"/>
          <p:cNvSpPr/>
          <p:nvPr/>
        </p:nvSpPr>
        <p:spPr>
          <a:xfrm>
            <a:off x="12858750" y="121357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33" name="Oval 32"/>
          <p:cNvSpPr/>
          <p:nvPr/>
        </p:nvSpPr>
        <p:spPr>
          <a:xfrm>
            <a:off x="12858750" y="2118453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34" name="Oval 33"/>
          <p:cNvSpPr/>
          <p:nvPr/>
        </p:nvSpPr>
        <p:spPr>
          <a:xfrm>
            <a:off x="12858750" y="3023328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35" name="Connector 34"/>
          <p:cNvCxnSpPr>
            <a:stCxn id="32" idx="1"/>
            <a:endCxn id="25" idx="3"/>
          </p:cNvCxnSpPr>
          <p:nvPr/>
        </p:nvCxnSpPr>
        <p:spPr>
          <a:xfrm flipH="1">
            <a:off x="12477750" y="1451703"/>
            <a:ext cx="381000" cy="976312"/>
          </a:xfrm>
          <a:prstGeom prst="bentConnector3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stCxn id="33" idx="1"/>
            <a:endCxn id="25" idx="3"/>
          </p:cNvCxnSpPr>
          <p:nvPr/>
        </p:nvCxnSpPr>
        <p:spPr>
          <a:xfrm flipH="1">
            <a:off x="12477750" y="2356578"/>
            <a:ext cx="381000" cy="71437"/>
          </a:xfrm>
          <a:prstGeom prst="bentConnector3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34" idx="1"/>
            <a:endCxn id="25" idx="3"/>
          </p:cNvCxnSpPr>
          <p:nvPr/>
        </p:nvCxnSpPr>
        <p:spPr>
          <a:xfrm flipH="1" flipV="1">
            <a:off x="12477750" y="2428015"/>
            <a:ext cx="381000" cy="833438"/>
          </a:xfrm>
          <a:prstGeom prst="bentConnector3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2382500" y="765903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6C8EBF"/>
                </a:solidFill>
                <a:latin typeface="Arial"/>
                <a:ea typeface="맑은 고딕"/>
                <a:cs typeface="Arial"/>
              </a:rPr>
              <a:t>사설 채널·후보 제출만</a:t>
            </a:r>
          </a:p>
        </p:txBody>
      </p:sp>
      <p:sp>
        <p:nvSpPr>
          <p:cNvPr id="41" name="Rounded Rectangle 6">
            <a:extLst>
              <a:ext uri="{FF2B5EF4-FFF2-40B4-BE49-F238E27FC236}">
                <a16:creationId xmlns:a16="http://schemas.microsoft.com/office/drawing/2014/main" id="{30462378-CB9C-C26D-2392-AC44F7BBBC23}"/>
              </a:ext>
            </a:extLst>
          </p:cNvPr>
          <p:cNvSpPr/>
          <p:nvPr/>
        </p:nvSpPr>
        <p:spPr>
          <a:xfrm>
            <a:off x="762000" y="4639924"/>
            <a:ext cx="5715000" cy="57150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1 제안 목록 C1</a:t>
            </a: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 → X   ·   P2 → A   ·   P3 → B</a:t>
            </a:r>
          </a:p>
        </p:txBody>
      </p:sp>
      <p:sp>
        <p:nvSpPr>
          <p:cNvPr id="42" name="Rounded Rectangle 7">
            <a:extLst>
              <a:ext uri="{FF2B5EF4-FFF2-40B4-BE49-F238E27FC236}">
                <a16:creationId xmlns:a16="http://schemas.microsoft.com/office/drawing/2014/main" id="{B822ED8D-AF63-8128-9F72-EB1551FDCF74}"/>
              </a:ext>
            </a:extLst>
          </p:cNvPr>
          <p:cNvSpPr/>
          <p:nvPr/>
        </p:nvSpPr>
        <p:spPr>
          <a:xfrm>
            <a:off x="762000" y="5497174"/>
            <a:ext cx="3429000" cy="1809750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23875" tIns="19050" rIns="19050" bIns="19050" rtlCol="0" anchor="ctr">
            <a:noAutofit/>
          </a:bodyPr>
          <a:lstStyle/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lang="en-US" sz="975" b="1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O/X </a:t>
            </a:r>
            <a:r>
              <a:rPr lang="ko-KR" altLang="en-US" sz="975" b="1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행렬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endParaRPr lang="ko-KR" altLang="en-US" sz="975" b="1" dirty="0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lang="ko-KR" altLang="en-US" sz="975" b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	</a:t>
            </a:r>
            <a:r>
              <a:rPr lang="en-US" sz="975" b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	A	B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lang="en-US" sz="975" b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	O	X	O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lang="en-US" sz="975" b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	O	O	X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lang="en-US" sz="975" b="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P3	O	X	O</a:t>
            </a:r>
          </a:p>
        </p:txBody>
      </p:sp>
      <p:sp>
        <p:nvSpPr>
          <p:cNvPr id="43" name="Rounded Rectangle 8">
            <a:extLst>
              <a:ext uri="{FF2B5EF4-FFF2-40B4-BE49-F238E27FC236}">
                <a16:creationId xmlns:a16="http://schemas.microsoft.com/office/drawing/2014/main" id="{88050290-D801-06F3-830E-468D5BAE4A29}"/>
              </a:ext>
            </a:extLst>
          </p:cNvPr>
          <p:cNvSpPr/>
          <p:nvPr/>
        </p:nvSpPr>
        <p:spPr>
          <a:xfrm>
            <a:off x="4429125" y="5640049"/>
            <a:ext cx="2047875" cy="1000125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Accept1(c) = ∧i vote(i,c)</a:t>
            </a:r>
          </a:p>
          <a:p>
            <a:pPr algn="ctr"/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Accept1(X) = O ∧ O ∧ O = true</a:t>
            </a:r>
          </a:p>
        </p:txBody>
      </p:sp>
      <p:sp>
        <p:nvSpPr>
          <p:cNvPr id="44" name="Oval 9">
            <a:extLst>
              <a:ext uri="{FF2B5EF4-FFF2-40B4-BE49-F238E27FC236}">
                <a16:creationId xmlns:a16="http://schemas.microsoft.com/office/drawing/2014/main" id="{078B7BCE-EDE2-57F6-8ED0-E28120558323}"/>
              </a:ext>
            </a:extLst>
          </p:cNvPr>
          <p:cNvSpPr/>
          <p:nvPr/>
        </p:nvSpPr>
        <p:spPr>
          <a:xfrm>
            <a:off x="4762500" y="6878299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45" name="Connector 10">
            <a:extLst>
              <a:ext uri="{FF2B5EF4-FFF2-40B4-BE49-F238E27FC236}">
                <a16:creationId xmlns:a16="http://schemas.microsoft.com/office/drawing/2014/main" id="{61DE528A-E91D-348C-C528-709D2B4F9EF5}"/>
              </a:ext>
            </a:extLst>
          </p:cNvPr>
          <p:cNvCxnSpPr>
            <a:cxnSpLocks/>
            <a:stCxn id="41" idx="2"/>
            <a:endCxn id="42" idx="0"/>
          </p:cNvCxnSpPr>
          <p:nvPr/>
        </p:nvCxnSpPr>
        <p:spPr>
          <a:xfrm flipH="1">
            <a:off x="2476500" y="5211424"/>
            <a:ext cx="1143000" cy="285750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11">
            <a:extLst>
              <a:ext uri="{FF2B5EF4-FFF2-40B4-BE49-F238E27FC236}">
                <a16:creationId xmlns:a16="http://schemas.microsoft.com/office/drawing/2014/main" id="{BF0F60A1-1280-CD07-64A3-C7508142E5B0}"/>
              </a:ext>
            </a:extLst>
          </p:cNvPr>
          <p:cNvCxnSpPr>
            <a:cxnSpLocks/>
            <a:stCxn id="42" idx="3"/>
            <a:endCxn id="43" idx="1"/>
          </p:cNvCxnSpPr>
          <p:nvPr/>
        </p:nvCxnSpPr>
        <p:spPr>
          <a:xfrm flipV="1">
            <a:off x="4191000" y="6140111"/>
            <a:ext cx="238125" cy="261938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12">
            <a:extLst>
              <a:ext uri="{FF2B5EF4-FFF2-40B4-BE49-F238E27FC236}">
                <a16:creationId xmlns:a16="http://schemas.microsoft.com/office/drawing/2014/main" id="{D6F1EF52-CB59-BE9D-BA26-F8090C7EB79D}"/>
              </a:ext>
            </a:extLst>
          </p:cNvPr>
          <p:cNvCxnSpPr>
            <a:stCxn id="43" idx="2"/>
            <a:endCxn id="44" idx="0"/>
          </p:cNvCxnSpPr>
          <p:nvPr/>
        </p:nvCxnSpPr>
        <p:spPr>
          <a:xfrm>
            <a:off x="5453062" y="6640174"/>
            <a:ext cx="0" cy="238125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Hexagon 13">
            <a:extLst>
              <a:ext uri="{FF2B5EF4-FFF2-40B4-BE49-F238E27FC236}">
                <a16:creationId xmlns:a16="http://schemas.microsoft.com/office/drawing/2014/main" id="{979E1648-DDFC-E1A9-F3EE-BEC4536AE565}"/>
              </a:ext>
            </a:extLst>
          </p:cNvPr>
          <p:cNvSpPr/>
          <p:nvPr/>
        </p:nvSpPr>
        <p:spPr>
          <a:xfrm>
            <a:off x="2381250" y="7878424"/>
            <a:ext cx="952500" cy="523875"/>
          </a:xfrm>
          <a:prstGeom prst="hexagon">
            <a:avLst>
              <a:gd name="adj" fmla="val 36363"/>
              <a:gd name="vf" fmla="val 11547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</p:txBody>
      </p:sp>
      <p:sp>
        <p:nvSpPr>
          <p:cNvPr id="49" name="Rounded Rectangle 17">
            <a:extLst>
              <a:ext uri="{FF2B5EF4-FFF2-40B4-BE49-F238E27FC236}">
                <a16:creationId xmlns:a16="http://schemas.microsoft.com/office/drawing/2014/main" id="{41FE730E-C0CC-6BF6-5F5B-D865CC1688C7}"/>
              </a:ext>
            </a:extLst>
          </p:cNvPr>
          <p:cNvSpPr/>
          <p:nvPr/>
        </p:nvSpPr>
        <p:spPr>
          <a:xfrm>
            <a:off x="7620000" y="4643516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S3={B}</a:t>
            </a:r>
          </a:p>
        </p:txBody>
      </p:sp>
      <p:sp>
        <p:nvSpPr>
          <p:cNvPr id="50" name="Rounded Rectangle 18">
            <a:extLst>
              <a:ext uri="{FF2B5EF4-FFF2-40B4-BE49-F238E27FC236}">
                <a16:creationId xmlns:a16="http://schemas.microsoft.com/office/drawing/2014/main" id="{BE940A6D-EB72-4A4A-24F9-B4003EFF005E}"/>
              </a:ext>
            </a:extLst>
          </p:cNvPr>
          <p:cNvSpPr/>
          <p:nvPr/>
        </p:nvSpPr>
        <p:spPr>
          <a:xfrm>
            <a:off x="9239250" y="4643516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R2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S3={B,E}</a:t>
            </a:r>
          </a:p>
        </p:txBody>
      </p:sp>
      <p:sp>
        <p:nvSpPr>
          <p:cNvPr id="51" name="Rounded Rectangle 19">
            <a:extLst>
              <a:ext uri="{FF2B5EF4-FFF2-40B4-BE49-F238E27FC236}">
                <a16:creationId xmlns:a16="http://schemas.microsoft.com/office/drawing/2014/main" id="{41EDD28D-3B91-7F21-1F4F-379A82A40F3D}"/>
              </a:ext>
            </a:extLst>
          </p:cNvPr>
          <p:cNvSpPr/>
          <p:nvPr/>
        </p:nvSpPr>
        <p:spPr>
          <a:xfrm>
            <a:off x="10858500" y="4643516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R3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S3={B,E,G}</a:t>
            </a:r>
          </a:p>
        </p:txBody>
      </p:sp>
      <p:sp>
        <p:nvSpPr>
          <p:cNvPr id="52" name="Rounded Rectangle 20">
            <a:extLst>
              <a:ext uri="{FF2B5EF4-FFF2-40B4-BE49-F238E27FC236}">
                <a16:creationId xmlns:a16="http://schemas.microsoft.com/office/drawing/2014/main" id="{B212ADE3-22C0-6271-6F30-BE9774E51CA0}"/>
              </a:ext>
            </a:extLst>
          </p:cNvPr>
          <p:cNvSpPr/>
          <p:nvPr/>
        </p:nvSpPr>
        <p:spPr>
          <a:xfrm>
            <a:off x="12477750" y="4643516"/>
            <a:ext cx="1238250" cy="10001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S1={X,C,F,H}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S2={A,D,X,I}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S3={B,E,G,X}</a:t>
            </a:r>
          </a:p>
        </p:txBody>
      </p:sp>
      <p:cxnSp>
        <p:nvCxnSpPr>
          <p:cNvPr id="53" name="Connector 21">
            <a:extLst>
              <a:ext uri="{FF2B5EF4-FFF2-40B4-BE49-F238E27FC236}">
                <a16:creationId xmlns:a16="http://schemas.microsoft.com/office/drawing/2014/main" id="{60FA3DA2-1747-DCB4-2077-E9DF8D098182}"/>
              </a:ext>
            </a:extLst>
          </p:cNvPr>
          <p:cNvCxnSpPr>
            <a:stCxn id="49" idx="3"/>
            <a:endCxn id="50" idx="1"/>
          </p:cNvCxnSpPr>
          <p:nvPr/>
        </p:nvCxnSpPr>
        <p:spPr>
          <a:xfrm>
            <a:off x="8810625" y="5143578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22">
            <a:extLst>
              <a:ext uri="{FF2B5EF4-FFF2-40B4-BE49-F238E27FC236}">
                <a16:creationId xmlns:a16="http://schemas.microsoft.com/office/drawing/2014/main" id="{43A22010-621C-8F3B-0F2A-A42050FA4330}"/>
              </a:ext>
            </a:extLst>
          </p:cNvPr>
          <p:cNvCxnSpPr>
            <a:stCxn id="50" idx="3"/>
            <a:endCxn id="51" idx="1"/>
          </p:cNvCxnSpPr>
          <p:nvPr/>
        </p:nvCxnSpPr>
        <p:spPr>
          <a:xfrm>
            <a:off x="10429875" y="5143578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23">
            <a:extLst>
              <a:ext uri="{FF2B5EF4-FFF2-40B4-BE49-F238E27FC236}">
                <a16:creationId xmlns:a16="http://schemas.microsoft.com/office/drawing/2014/main" id="{E9A7851E-ACB8-FCE7-49B2-C52AE5589C86}"/>
              </a:ext>
            </a:extLst>
          </p:cNvPr>
          <p:cNvCxnSpPr>
            <a:stCxn id="51" idx="3"/>
            <a:endCxn id="52" idx="1"/>
          </p:cNvCxnSpPr>
          <p:nvPr/>
        </p:nvCxnSpPr>
        <p:spPr>
          <a:xfrm>
            <a:off x="12049125" y="5143578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24">
            <a:extLst>
              <a:ext uri="{FF2B5EF4-FFF2-40B4-BE49-F238E27FC236}">
                <a16:creationId xmlns:a16="http://schemas.microsoft.com/office/drawing/2014/main" id="{726F1A27-600E-F585-AAEB-6A8E5C0390DD}"/>
              </a:ext>
            </a:extLst>
          </p:cNvPr>
          <p:cNvSpPr/>
          <p:nvPr/>
        </p:nvSpPr>
        <p:spPr>
          <a:xfrm>
            <a:off x="7667625" y="5881766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7" name="Rounded Rectangle 25">
            <a:extLst>
              <a:ext uri="{FF2B5EF4-FFF2-40B4-BE49-F238E27FC236}">
                <a16:creationId xmlns:a16="http://schemas.microsoft.com/office/drawing/2014/main" id="{52341FED-271A-AD58-B477-D1B1BB20A7F3}"/>
              </a:ext>
            </a:extLst>
          </p:cNvPr>
          <p:cNvSpPr/>
          <p:nvPr/>
        </p:nvSpPr>
        <p:spPr>
          <a:xfrm>
            <a:off x="9286875" y="5881766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8" name="Rounded Rectangle 26">
            <a:extLst>
              <a:ext uri="{FF2B5EF4-FFF2-40B4-BE49-F238E27FC236}">
                <a16:creationId xmlns:a16="http://schemas.microsoft.com/office/drawing/2014/main" id="{E9183DAF-4B05-A8B5-142D-2EF3F591F213}"/>
              </a:ext>
            </a:extLst>
          </p:cNvPr>
          <p:cNvSpPr/>
          <p:nvPr/>
        </p:nvSpPr>
        <p:spPr>
          <a:xfrm>
            <a:off x="10906125" y="5881766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59" name="Rounded Rectangle 27">
            <a:extLst>
              <a:ext uri="{FF2B5EF4-FFF2-40B4-BE49-F238E27FC236}">
                <a16:creationId xmlns:a16="http://schemas.microsoft.com/office/drawing/2014/main" id="{4407F10A-C794-E47A-9186-027A4FE9E399}"/>
              </a:ext>
            </a:extLst>
          </p:cNvPr>
          <p:cNvSpPr/>
          <p:nvPr/>
        </p:nvSpPr>
        <p:spPr>
          <a:xfrm>
            <a:off x="12525375" y="5881766"/>
            <a:ext cx="1143000" cy="333375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{X}</a:t>
            </a:r>
          </a:p>
        </p:txBody>
      </p:sp>
      <p:sp>
        <p:nvSpPr>
          <p:cNvPr id="60" name="Rounded Rectangle 28">
            <a:extLst>
              <a:ext uri="{FF2B5EF4-FFF2-40B4-BE49-F238E27FC236}">
                <a16:creationId xmlns:a16="http://schemas.microsoft.com/office/drawing/2014/main" id="{0D74829F-0DF2-BE3C-5450-EBF4909A2A3B}"/>
              </a:ext>
            </a:extLst>
          </p:cNvPr>
          <p:cNvSpPr/>
          <p:nvPr/>
        </p:nvSpPr>
        <p:spPr>
          <a:xfrm>
            <a:off x="8572500" y="6596141"/>
            <a:ext cx="2857500" cy="11906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G(k) = S1(k) ∩ S2(k) ∩ S3(k)</a:t>
            </a:r>
          </a:p>
          <a:p>
            <a:pPr algn="ctr"/>
            <a:endParaRPr sz="105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G(1)=G(2)=G(3)=∅</a:t>
            </a: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G(4)={X}</a:t>
            </a:r>
          </a:p>
        </p:txBody>
      </p:sp>
      <p:sp>
        <p:nvSpPr>
          <p:cNvPr id="61" name="Oval 29">
            <a:extLst>
              <a:ext uri="{FF2B5EF4-FFF2-40B4-BE49-F238E27FC236}">
                <a16:creationId xmlns:a16="http://schemas.microsoft.com/office/drawing/2014/main" id="{0A47F715-C354-A18C-D9DE-6A07D18F6157}"/>
              </a:ext>
            </a:extLst>
          </p:cNvPr>
          <p:cNvSpPr/>
          <p:nvPr/>
        </p:nvSpPr>
        <p:spPr>
          <a:xfrm>
            <a:off x="11906250" y="6834266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62" name="Connector 30">
            <a:extLst>
              <a:ext uri="{FF2B5EF4-FFF2-40B4-BE49-F238E27FC236}">
                <a16:creationId xmlns:a16="http://schemas.microsoft.com/office/drawing/2014/main" id="{F47E882E-0725-5E05-9C38-AF1FB54C7352}"/>
              </a:ext>
            </a:extLst>
          </p:cNvPr>
          <p:cNvCxnSpPr>
            <a:stCxn id="60" idx="3"/>
            <a:endCxn id="61" idx="1"/>
          </p:cNvCxnSpPr>
          <p:nvPr/>
        </p:nvCxnSpPr>
        <p:spPr>
          <a:xfrm flipV="1">
            <a:off x="11430000" y="7167641"/>
            <a:ext cx="476250" cy="23812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Hexagon 31">
            <a:extLst>
              <a:ext uri="{FF2B5EF4-FFF2-40B4-BE49-F238E27FC236}">
                <a16:creationId xmlns:a16="http://schemas.microsoft.com/office/drawing/2014/main" id="{A4A177AB-0793-55E6-8917-4DE5C0659C79}"/>
              </a:ext>
            </a:extLst>
          </p:cNvPr>
          <p:cNvSpPr/>
          <p:nvPr/>
        </p:nvSpPr>
        <p:spPr>
          <a:xfrm>
            <a:off x="10191750" y="8072516"/>
            <a:ext cx="952500" cy="523875"/>
          </a:xfrm>
          <a:prstGeom prst="hexagon">
            <a:avLst>
              <a:gd name="adj" fmla="val 36363"/>
              <a:gd name="vf" fmla="val 11547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nector 4"/>
          <p:cNvCxnSpPr/>
          <p:nvPr/>
        </p:nvCxnSpPr>
        <p:spPr>
          <a:xfrm>
            <a:off x="7143750" y="1524000"/>
            <a:ext cx="0" cy="6858000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62000" y="2143125"/>
            <a:ext cx="5715000" cy="57150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1 제안 목록 C1</a:t>
            </a: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 → X   ·   P2 → A   ·   P3 → 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3000375"/>
            <a:ext cx="3429000" cy="1809750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23875" tIns="19050" rIns="19050" bIns="19050" rtlCol="0" anchor="ctr">
            <a:noAutofit/>
          </a:bodyPr>
          <a:lstStyle/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O/X 행렬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	X	A	B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	O	X	O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	O	O	X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P3	O	X	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9125" y="3143250"/>
            <a:ext cx="2047875" cy="1000125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Accept1(c) = ∧i vote(i,c)</a:t>
            </a:r>
          </a:p>
          <a:p>
            <a:pPr algn="ctr"/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Accept1(X) = O ∧ O ∧ O = true</a:t>
            </a:r>
          </a:p>
        </p:txBody>
      </p:sp>
      <p:sp>
        <p:nvSpPr>
          <p:cNvPr id="10" name="Oval 9"/>
          <p:cNvSpPr/>
          <p:nvPr/>
        </p:nvSpPr>
        <p:spPr>
          <a:xfrm>
            <a:off x="4762500" y="4381500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11" name="Connector 10"/>
          <p:cNvCxnSpPr>
            <a:stCxn id="7" idx="2"/>
            <a:endCxn id="8" idx="0"/>
          </p:cNvCxnSpPr>
          <p:nvPr/>
        </p:nvCxnSpPr>
        <p:spPr>
          <a:xfrm flipH="1">
            <a:off x="2476500" y="2714625"/>
            <a:ext cx="1143000" cy="285750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8" idx="3"/>
            <a:endCxn id="9" idx="1"/>
          </p:cNvCxnSpPr>
          <p:nvPr/>
        </p:nvCxnSpPr>
        <p:spPr>
          <a:xfrm flipV="1">
            <a:off x="4191000" y="3643312"/>
            <a:ext cx="238125" cy="261938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9" idx="2"/>
            <a:endCxn id="10" idx="0"/>
          </p:cNvCxnSpPr>
          <p:nvPr/>
        </p:nvCxnSpPr>
        <p:spPr>
          <a:xfrm>
            <a:off x="5453062" y="4143375"/>
            <a:ext cx="0" cy="238125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Hexagon 13"/>
          <p:cNvSpPr/>
          <p:nvPr/>
        </p:nvSpPr>
        <p:spPr>
          <a:xfrm>
            <a:off x="2381250" y="5381625"/>
            <a:ext cx="952500" cy="523875"/>
          </a:xfrm>
          <a:prstGeom prst="hexagon">
            <a:avLst>
              <a:gd name="adj" fmla="val 36363"/>
              <a:gd name="vf" fmla="val 11547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20000" y="238125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S3={B}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9250" y="238125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R2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S3={B,E}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858500" y="238125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R3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S3={B,E,G}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477750" y="2381250"/>
            <a:ext cx="1238250" cy="10001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S1={X,C,F,H}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S2={A,D,X,I}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S3={B,E,G,X}</a:t>
            </a:r>
          </a:p>
        </p:txBody>
      </p:sp>
      <p:cxnSp>
        <p:nvCxnSpPr>
          <p:cNvPr id="22" name="Connector 21"/>
          <p:cNvCxnSpPr>
            <a:stCxn id="18" idx="3"/>
            <a:endCxn id="19" idx="1"/>
          </p:cNvCxnSpPr>
          <p:nvPr/>
        </p:nvCxnSpPr>
        <p:spPr>
          <a:xfrm>
            <a:off x="8810625" y="288131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19" idx="3"/>
            <a:endCxn id="20" idx="1"/>
          </p:cNvCxnSpPr>
          <p:nvPr/>
        </p:nvCxnSpPr>
        <p:spPr>
          <a:xfrm>
            <a:off x="10429875" y="288131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20" idx="3"/>
            <a:endCxn id="21" idx="1"/>
          </p:cNvCxnSpPr>
          <p:nvPr/>
        </p:nvCxnSpPr>
        <p:spPr>
          <a:xfrm>
            <a:off x="12049125" y="288131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667625" y="361950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86875" y="361950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906125" y="361950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525375" y="3619500"/>
            <a:ext cx="1143000" cy="333375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{X}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72500" y="4333875"/>
            <a:ext cx="2857500" cy="11906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G(k) = S1(k) ∩ S2(k) ∩ S3(k)</a:t>
            </a:r>
          </a:p>
          <a:p>
            <a:pPr algn="ctr"/>
            <a:endParaRPr sz="105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G(1)=G(2)=G(3)=∅</a:t>
            </a: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G(4)={X}</a:t>
            </a:r>
          </a:p>
        </p:txBody>
      </p:sp>
      <p:sp>
        <p:nvSpPr>
          <p:cNvPr id="30" name="Oval 29"/>
          <p:cNvSpPr/>
          <p:nvPr/>
        </p:nvSpPr>
        <p:spPr>
          <a:xfrm>
            <a:off x="11906250" y="4572000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31" name="Connector 30"/>
          <p:cNvCxnSpPr>
            <a:stCxn id="29" idx="3"/>
            <a:endCxn id="30" idx="1"/>
          </p:cNvCxnSpPr>
          <p:nvPr/>
        </p:nvCxnSpPr>
        <p:spPr>
          <a:xfrm flipV="1">
            <a:off x="11430000" y="4905375"/>
            <a:ext cx="476250" cy="23812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Hexagon 31"/>
          <p:cNvSpPr/>
          <p:nvPr/>
        </p:nvSpPr>
        <p:spPr>
          <a:xfrm>
            <a:off x="10191750" y="5810250"/>
            <a:ext cx="952500" cy="523875"/>
          </a:xfrm>
          <a:prstGeom prst="hexagon">
            <a:avLst>
              <a:gd name="adj" fmla="val 36363"/>
              <a:gd name="vf" fmla="val 11547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A8AC7-8DB0-E318-DA8B-C15D7D27E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C004B46-78F6-7392-8AB1-1450B2D79A01}"/>
              </a:ext>
            </a:extLst>
          </p:cNvPr>
          <p:cNvSpPr txBox="1"/>
          <p:nvPr/>
        </p:nvSpPr>
        <p:spPr>
          <a:xfrm>
            <a:off x="381000" y="190500"/>
            <a:ext cx="8572500" cy="3238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1-A vs 방안 2 — 정적 구조·책임 비교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EA4ABE-0F1F-5C98-2262-4BA3ED780CFE}"/>
              </a:ext>
            </a:extLst>
          </p:cNvPr>
          <p:cNvSpPr txBox="1"/>
          <p:nvPr/>
        </p:nvSpPr>
        <p:spPr>
          <a:xfrm>
            <a:off x="381000" y="523875"/>
            <a:ext cx="11430000" cy="22860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rial"/>
                <a:ea typeface="맑은 고딕"/>
                <a:cs typeface="Arial"/>
              </a:rPr>
              <a:t>두 방안 모두 P0 중심 Star 토폴로지이며, 핵심 차이는 P0 내부의 상태 모델과 판정 알고리즘이다.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96C87711-6B1E-D243-3B95-C6A2FE155286}"/>
              </a:ext>
            </a:extLst>
          </p:cNvPr>
          <p:cNvSpPr/>
          <p:nvPr/>
        </p:nvSpPr>
        <p:spPr>
          <a:xfrm>
            <a:off x="381000" y="838200"/>
            <a:ext cx="1238250" cy="24765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1-A 고유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0052F74-D821-292F-A395-0D034FB43B85}"/>
              </a:ext>
            </a:extLst>
          </p:cNvPr>
          <p:cNvSpPr/>
          <p:nvPr/>
        </p:nvSpPr>
        <p:spPr>
          <a:xfrm>
            <a:off x="1714500" y="838200"/>
            <a:ext cx="1238250" cy="2476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2 고유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F6016EF-57A9-284D-C7DC-5B022640F9D1}"/>
              </a:ext>
            </a:extLst>
          </p:cNvPr>
          <p:cNvSpPr/>
          <p:nvPr/>
        </p:nvSpPr>
        <p:spPr>
          <a:xfrm>
            <a:off x="3048000" y="838200"/>
            <a:ext cx="1143000" cy="2476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공통 책임</a:t>
            </a:r>
          </a:p>
        </p:txBody>
      </p: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E064A321-3181-F649-6519-5FFD6E35AED6}"/>
              </a:ext>
            </a:extLst>
          </p:cNvPr>
          <p:cNvCxnSpPr/>
          <p:nvPr/>
        </p:nvCxnSpPr>
        <p:spPr>
          <a:xfrm>
            <a:off x="7143750" y="1238250"/>
            <a:ext cx="0" cy="6334125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20D4A7CD-DB46-7721-0F4B-4A1DD62E5CA6}"/>
              </a:ext>
            </a:extLst>
          </p:cNvPr>
          <p:cNvSpPr/>
          <p:nvPr/>
        </p:nvSpPr>
        <p:spPr>
          <a:xfrm>
            <a:off x="381000" y="1238250"/>
            <a:ext cx="6477000" cy="38100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1-A · 순차 SAO 투표형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DDD4ED5-4873-1AF3-6F1A-13B4631CEFD6}"/>
              </a:ext>
            </a:extLst>
          </p:cNvPr>
          <p:cNvSpPr/>
          <p:nvPr/>
        </p:nvSpPr>
        <p:spPr>
          <a:xfrm>
            <a:off x="1809750" y="1952625"/>
            <a:ext cx="3619500" cy="3762375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19050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4DEE635-CAB5-481F-31C8-006D490CD0A6}"/>
              </a:ext>
            </a:extLst>
          </p:cNvPr>
          <p:cNvSpPr/>
          <p:nvPr/>
        </p:nvSpPr>
        <p:spPr>
          <a:xfrm>
            <a:off x="2095500" y="2476500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/ Sweep Controller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마감·바퀴 제어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8BB32600-36ED-F7AA-E6DD-94961C85E09A}"/>
              </a:ext>
            </a:extLst>
          </p:cNvPr>
          <p:cNvSpPr/>
          <p:nvPr/>
        </p:nvSpPr>
        <p:spPr>
          <a:xfrm>
            <a:off x="3714750" y="2476500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Anonymous Offer Distributor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제안자 귀속 제거 후 배포</a:t>
            </a:r>
          </a:p>
        </p:txBody>
      </p:sp>
      <p:sp>
        <p:nvSpPr>
          <p:cNvPr id="12" name="Can 11">
            <a:extLst>
              <a:ext uri="{FF2B5EF4-FFF2-40B4-BE49-F238E27FC236}">
                <a16:creationId xmlns:a16="http://schemas.microsoft.com/office/drawing/2014/main" id="{7783BAA4-6110-E4F8-4578-BB819A41DA6C}"/>
              </a:ext>
            </a:extLst>
          </p:cNvPr>
          <p:cNvSpPr/>
          <p:nvPr/>
        </p:nvSpPr>
        <p:spPr>
          <a:xfrm>
            <a:off x="2095500" y="3286125"/>
            <a:ext cx="1428750" cy="685800"/>
          </a:xfrm>
          <a:prstGeom prst="can">
            <a:avLst/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68580" rIns="19050" bIns="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Current Round State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현재 후보 목록 + O/X 행렬</a:t>
            </a:r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C8B24FE0-6B04-6CB6-9B16-19D74CC84C56}"/>
              </a:ext>
            </a:extLst>
          </p:cNvPr>
          <p:cNvSpPr/>
          <p:nvPr/>
        </p:nvSpPr>
        <p:spPr>
          <a:xfrm>
            <a:off x="3762375" y="3219450"/>
            <a:ext cx="1333500" cy="819150"/>
          </a:xfrm>
          <a:prstGeom prst="diamond">
            <a:avLst/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293370" tIns="-131064" rIns="-293370" bIns="-131064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Unanimity Evaluator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∃c ∈ Ck : 전원 O 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01AF0AA-CC28-B8D0-CC54-30B8A250815D}"/>
              </a:ext>
            </a:extLst>
          </p:cNvPr>
          <p:cNvSpPr/>
          <p:nvPr/>
        </p:nvSpPr>
        <p:spPr>
          <a:xfrm>
            <a:off x="2095500" y="4286250"/>
            <a:ext cx="3048000" cy="523875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 w="9525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순위 정보 없음 → 결선투표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7F97B6C-9F2E-E9CE-3A78-23B8DB1E093F}"/>
              </a:ext>
            </a:extLst>
          </p:cNvPr>
          <p:cNvSpPr/>
          <p:nvPr/>
        </p:nvSpPr>
        <p:spPr>
          <a:xfrm>
            <a:off x="2905125" y="5048250"/>
            <a:ext cx="1428750" cy="4000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성립 시에만 종료 통지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459E6C0-67D8-68B2-0FC1-12224D95DD14}"/>
              </a:ext>
            </a:extLst>
          </p:cNvPr>
          <p:cNvSpPr/>
          <p:nvPr/>
        </p:nvSpPr>
        <p:spPr>
          <a:xfrm>
            <a:off x="381000" y="2619375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EADC29DD-96FB-136A-2C1E-4A09C36ABCF8}"/>
              </a:ext>
            </a:extLst>
          </p:cNvPr>
          <p:cNvSpPr/>
          <p:nvPr/>
        </p:nvSpPr>
        <p:spPr>
          <a:xfrm>
            <a:off x="381000" y="3524250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8C22ABDA-1CA9-0EFA-BA58-F74B4821DF5F}"/>
              </a:ext>
            </a:extLst>
          </p:cNvPr>
          <p:cNvSpPr/>
          <p:nvPr/>
        </p:nvSpPr>
        <p:spPr>
          <a:xfrm>
            <a:off x="381000" y="4429125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19" name="Connector 18">
            <a:extLst>
              <a:ext uri="{FF2B5EF4-FFF2-40B4-BE49-F238E27FC236}">
                <a16:creationId xmlns:a16="http://schemas.microsoft.com/office/drawing/2014/main" id="{0CADDEEE-E448-42C3-9D73-590C9C81FEAA}"/>
              </a:ext>
            </a:extLst>
          </p:cNvPr>
          <p:cNvCxnSpPr>
            <a:stCxn id="16" idx="3"/>
            <a:endCxn id="9" idx="1"/>
          </p:cNvCxnSpPr>
          <p:nvPr/>
        </p:nvCxnSpPr>
        <p:spPr>
          <a:xfrm>
            <a:off x="1047750" y="2857500"/>
            <a:ext cx="762000" cy="976312"/>
          </a:xfrm>
          <a:prstGeom prst="bentConnector3">
            <a:avLst/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>
            <a:extLst>
              <a:ext uri="{FF2B5EF4-FFF2-40B4-BE49-F238E27FC236}">
                <a16:creationId xmlns:a16="http://schemas.microsoft.com/office/drawing/2014/main" id="{F1D60C2C-84F9-7220-382F-F1FE32B8327A}"/>
              </a:ext>
            </a:extLst>
          </p:cNvPr>
          <p:cNvCxnSpPr>
            <a:stCxn id="17" idx="3"/>
            <a:endCxn id="9" idx="1"/>
          </p:cNvCxnSpPr>
          <p:nvPr/>
        </p:nvCxnSpPr>
        <p:spPr>
          <a:xfrm>
            <a:off x="1047750" y="3762375"/>
            <a:ext cx="762000" cy="71437"/>
          </a:xfrm>
          <a:prstGeom prst="bentConnector3">
            <a:avLst/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>
            <a:extLst>
              <a:ext uri="{FF2B5EF4-FFF2-40B4-BE49-F238E27FC236}">
                <a16:creationId xmlns:a16="http://schemas.microsoft.com/office/drawing/2014/main" id="{78FB0A2F-8220-27F2-0743-D48A53AD1826}"/>
              </a:ext>
            </a:extLst>
          </p:cNvPr>
          <p:cNvCxnSpPr>
            <a:stCxn id="18" idx="3"/>
            <a:endCxn id="9" idx="1"/>
          </p:cNvCxnSpPr>
          <p:nvPr/>
        </p:nvCxnSpPr>
        <p:spPr>
          <a:xfrm flipV="1">
            <a:off x="1047750" y="3833812"/>
            <a:ext cx="762000" cy="833438"/>
          </a:xfrm>
          <a:prstGeom prst="bentConnector3">
            <a:avLst/>
          </a:prstGeom>
          <a:ln w="9525">
            <a:solidFill>
              <a:srgbClr val="B8545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04F7B5A-2B5E-2180-98BF-DB02306B31C1}"/>
              </a:ext>
            </a:extLst>
          </p:cNvPr>
          <p:cNvSpPr txBox="1"/>
          <p:nvPr/>
        </p:nvSpPr>
        <p:spPr>
          <a:xfrm>
            <a:off x="238125" y="2171700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B85450"/>
                </a:solidFill>
                <a:latin typeface="Arial"/>
                <a:ea typeface="맑은 고딕"/>
                <a:cs typeface="Arial"/>
              </a:rPr>
              <a:t>사설 SAO 채널·offer / reply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B33492B1-8122-4837-4A01-5CAE7D8AC05F}"/>
              </a:ext>
            </a:extLst>
          </p:cNvPr>
          <p:cNvSpPr/>
          <p:nvPr/>
        </p:nvSpPr>
        <p:spPr>
          <a:xfrm>
            <a:off x="381000" y="6048375"/>
            <a:ext cx="6477000" cy="714375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19050" rIns="19050" bIns="19050" rtlCol="0" anchor="ctr">
            <a:noAutofit/>
          </a:bodyPr>
          <a:lstStyle/>
          <a:p>
            <a:pPr algn="l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핵심 상태: 라운드 단위로 교체</a:t>
            </a:r>
          </a:p>
          <a:p>
            <a:pPr algn="l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판정 근거: 명시적 수락 신호 O/X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9DABD61-CB23-C693-1BEE-D71985829019}"/>
              </a:ext>
            </a:extLst>
          </p:cNvPr>
          <p:cNvSpPr/>
          <p:nvPr/>
        </p:nvSpPr>
        <p:spPr>
          <a:xfrm>
            <a:off x="7429500" y="1238250"/>
            <a:ext cx="6477000" cy="38100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2 · 누적 공통제안형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D51B6884-0D99-70BC-5208-9BE727F5E37E}"/>
              </a:ext>
            </a:extLst>
          </p:cNvPr>
          <p:cNvSpPr/>
          <p:nvPr/>
        </p:nvSpPr>
        <p:spPr>
          <a:xfrm>
            <a:off x="8858250" y="1952625"/>
            <a:ext cx="3619500" cy="376237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95250" rIns="19050" bIns="19050" rtlCol="0" anchor="t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P0 담당자 단말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D3DE5D1D-AAC8-FE29-A99D-D86E8BDF4948}"/>
              </a:ext>
            </a:extLst>
          </p:cNvPr>
          <p:cNvSpPr/>
          <p:nvPr/>
        </p:nvSpPr>
        <p:spPr>
          <a:xfrm>
            <a:off x="9144000" y="2476500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/ Sweep Controller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 마감·바퀴 제어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120542F1-F6C3-D715-C1F2-A1AE14D97E2E}"/>
              </a:ext>
            </a:extLst>
          </p:cNvPr>
          <p:cNvSpPr/>
          <p:nvPr/>
        </p:nvSpPr>
        <p:spPr>
          <a:xfrm>
            <a:off x="10763250" y="2476500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Proposal Receiver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후보 1개 제출 수신</a:t>
            </a:r>
          </a:p>
        </p:txBody>
      </p:sp>
      <p:sp>
        <p:nvSpPr>
          <p:cNvPr id="28" name="Can 27">
            <a:extLst>
              <a:ext uri="{FF2B5EF4-FFF2-40B4-BE49-F238E27FC236}">
                <a16:creationId xmlns:a16="http://schemas.microsoft.com/office/drawing/2014/main" id="{FD1B2085-FBA1-4550-60F9-CF7D1A6749DE}"/>
              </a:ext>
            </a:extLst>
          </p:cNvPr>
          <p:cNvSpPr/>
          <p:nvPr/>
        </p:nvSpPr>
        <p:spPr>
          <a:xfrm>
            <a:off x="9144000" y="3257550"/>
            <a:ext cx="3048000" cy="742950"/>
          </a:xfrm>
          <a:prstGeom prst="can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-74295" rIns="19050" bIns="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Blackboard State (P0 내부)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Si(k): 참여자별 누적 제안 + 제출 라운드</a:t>
            </a:r>
          </a:p>
        </p:txBody>
      </p:sp>
      <p:sp>
        <p:nvSpPr>
          <p:cNvPr id="29" name="Diamond 28">
            <a:extLst>
              <a:ext uri="{FF2B5EF4-FFF2-40B4-BE49-F238E27FC236}">
                <a16:creationId xmlns:a16="http://schemas.microsoft.com/office/drawing/2014/main" id="{F7AED035-F2F3-39FC-B566-CF2EA39BE440}"/>
              </a:ext>
            </a:extLst>
          </p:cNvPr>
          <p:cNvSpPr/>
          <p:nvPr/>
        </p:nvSpPr>
        <p:spPr>
          <a:xfrm>
            <a:off x="9191625" y="4171950"/>
            <a:ext cx="1381125" cy="781050"/>
          </a:xfrm>
          <a:prstGeom prst="diamond">
            <a:avLst/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303848" tIns="-124968" rIns="-303848" bIns="-124968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Intersection Evaluator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S1(k) ∩ … ∩ SN(k) ≠ ∅ ?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BC4D6B98-6FE3-0281-FCE6-52E1CD730CAF}"/>
              </a:ext>
            </a:extLst>
          </p:cNvPr>
          <p:cNvSpPr/>
          <p:nvPr/>
        </p:nvSpPr>
        <p:spPr>
          <a:xfrm>
            <a:off x="10763250" y="4286250"/>
            <a:ext cx="1428750" cy="55245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TieBreaker plug-in</a:t>
            </a:r>
          </a:p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순위 합 → 표준편차 → 결선투표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93BF58BF-43E9-76AA-9E4C-00C916D238A3}"/>
              </a:ext>
            </a:extLst>
          </p:cNvPr>
          <p:cNvSpPr/>
          <p:nvPr/>
        </p:nvSpPr>
        <p:spPr>
          <a:xfrm>
            <a:off x="9953625" y="5048250"/>
            <a:ext cx="1428750" cy="400050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성립 시 종료 통지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EAAA62C7-0260-8C88-93E6-7A05454C3935}"/>
              </a:ext>
            </a:extLst>
          </p:cNvPr>
          <p:cNvSpPr/>
          <p:nvPr/>
        </p:nvSpPr>
        <p:spPr>
          <a:xfrm>
            <a:off x="12858750" y="2619375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9C528059-6622-66A8-21F9-4AFFE9368381}"/>
              </a:ext>
            </a:extLst>
          </p:cNvPr>
          <p:cNvSpPr/>
          <p:nvPr/>
        </p:nvSpPr>
        <p:spPr>
          <a:xfrm>
            <a:off x="12858750" y="3524250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0741A149-BD94-6CB7-91D2-093F776639E5}"/>
              </a:ext>
            </a:extLst>
          </p:cNvPr>
          <p:cNvSpPr/>
          <p:nvPr/>
        </p:nvSpPr>
        <p:spPr>
          <a:xfrm>
            <a:off x="12858750" y="4429125"/>
            <a:ext cx="666750" cy="476250"/>
          </a:xfrm>
          <a:prstGeom prst="ellipse">
            <a:avLst/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P(N-1)</a:t>
            </a:r>
          </a:p>
        </p:txBody>
      </p:sp>
      <p:cxnSp>
        <p:nvCxnSpPr>
          <p:cNvPr id="35" name="Connector 34">
            <a:extLst>
              <a:ext uri="{FF2B5EF4-FFF2-40B4-BE49-F238E27FC236}">
                <a16:creationId xmlns:a16="http://schemas.microsoft.com/office/drawing/2014/main" id="{5E6237D1-344A-847F-D4CD-D003230F1CC4}"/>
              </a:ext>
            </a:extLst>
          </p:cNvPr>
          <p:cNvCxnSpPr>
            <a:stCxn id="32" idx="1"/>
            <a:endCxn id="25" idx="3"/>
          </p:cNvCxnSpPr>
          <p:nvPr/>
        </p:nvCxnSpPr>
        <p:spPr>
          <a:xfrm flipH="1">
            <a:off x="12477750" y="2857500"/>
            <a:ext cx="381000" cy="976312"/>
          </a:xfrm>
          <a:prstGeom prst="bentConnector3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>
            <a:extLst>
              <a:ext uri="{FF2B5EF4-FFF2-40B4-BE49-F238E27FC236}">
                <a16:creationId xmlns:a16="http://schemas.microsoft.com/office/drawing/2014/main" id="{35AE4E6B-CA9F-04A1-D186-0729F32037FD}"/>
              </a:ext>
            </a:extLst>
          </p:cNvPr>
          <p:cNvCxnSpPr>
            <a:stCxn id="33" idx="1"/>
            <a:endCxn id="25" idx="3"/>
          </p:cNvCxnSpPr>
          <p:nvPr/>
        </p:nvCxnSpPr>
        <p:spPr>
          <a:xfrm flipH="1">
            <a:off x="12477750" y="3762375"/>
            <a:ext cx="381000" cy="71437"/>
          </a:xfrm>
          <a:prstGeom prst="bentConnector3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>
            <a:extLst>
              <a:ext uri="{FF2B5EF4-FFF2-40B4-BE49-F238E27FC236}">
                <a16:creationId xmlns:a16="http://schemas.microsoft.com/office/drawing/2014/main" id="{5CA727A7-081B-A3C8-EDB7-B834977A8F6A}"/>
              </a:ext>
            </a:extLst>
          </p:cNvPr>
          <p:cNvCxnSpPr>
            <a:stCxn id="34" idx="1"/>
            <a:endCxn id="25" idx="3"/>
          </p:cNvCxnSpPr>
          <p:nvPr/>
        </p:nvCxnSpPr>
        <p:spPr>
          <a:xfrm flipH="1" flipV="1">
            <a:off x="12477750" y="3833812"/>
            <a:ext cx="381000" cy="833438"/>
          </a:xfrm>
          <a:prstGeom prst="bentConnector3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2CC8C9AC-C1B5-6645-E766-30448C88A125}"/>
              </a:ext>
            </a:extLst>
          </p:cNvPr>
          <p:cNvSpPr txBox="1"/>
          <p:nvPr/>
        </p:nvSpPr>
        <p:spPr>
          <a:xfrm>
            <a:off x="12382500" y="2171700"/>
            <a:ext cx="1714500" cy="2095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750" b="0">
                <a:solidFill>
                  <a:srgbClr val="6C8EBF"/>
                </a:solidFill>
                <a:latin typeface="Arial"/>
                <a:ea typeface="맑은 고딕"/>
                <a:cs typeface="Arial"/>
              </a:rPr>
              <a:t>사설 채널·후보 제출만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25245F0B-FE73-BC43-2AA5-1CDA5AB9F189}"/>
              </a:ext>
            </a:extLst>
          </p:cNvPr>
          <p:cNvSpPr/>
          <p:nvPr/>
        </p:nvSpPr>
        <p:spPr>
          <a:xfrm>
            <a:off x="7429500" y="6048375"/>
            <a:ext cx="6477000" cy="71437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19050" rIns="19050" bIns="19050" rtlCol="0" anchor="ctr">
            <a:noAutofit/>
          </a:bodyPr>
          <a:lstStyle/>
          <a:p>
            <a:pPr algn="l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핵심 상태: 라운드가 지나도 누적</a:t>
            </a:r>
          </a:p>
          <a:p>
            <a:pPr algn="l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판정 근거: 모든 참여자가 같은 후보를 직접 제안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0B437E95-FDE4-7B58-C1A7-D9425383ADF0}"/>
              </a:ext>
            </a:extLst>
          </p:cNvPr>
          <p:cNvSpPr/>
          <p:nvPr/>
        </p:nvSpPr>
        <p:spPr>
          <a:xfrm>
            <a:off x="1714500" y="7191375"/>
            <a:ext cx="10858500" cy="571500"/>
          </a:xfrm>
          <a:prstGeom prst="roundRect">
            <a:avLst>
              <a:gd name="adj" fmla="val 15000"/>
            </a:avLst>
          </a:prstGeom>
          <a:solidFill>
            <a:srgbClr val="E1D5E7"/>
          </a:solidFill>
          <a:ln w="9525">
            <a:solidFill>
              <a:srgbClr val="967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Architect 포인트  │  외부 배치 모양은 유사하다. 1-A는 현재 후보의 수락 신호를 집계하고, 2는 누적 제안 집합의 교집합을 계산한다.</a:t>
            </a:r>
          </a:p>
        </p:txBody>
      </p:sp>
    </p:spTree>
    <p:extLst>
      <p:ext uri="{BB962C8B-B14F-4D97-AF65-F5344CB8AC3E}">
        <p14:creationId xmlns:p14="http://schemas.microsoft.com/office/powerpoint/2010/main" val="36922449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2C026-3D3C-C9DE-8876-456B378D7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7324DFB-6ABA-98F5-DD39-A1576BDA6520}"/>
              </a:ext>
            </a:extLst>
          </p:cNvPr>
          <p:cNvSpPr txBox="1"/>
          <p:nvPr/>
        </p:nvSpPr>
        <p:spPr>
          <a:xfrm>
            <a:off x="381000" y="190500"/>
            <a:ext cx="9525000" cy="32385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1-A vs 방안 2 — 합의 판정·상태 진화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1E02A6-2568-9C58-A7F9-4EE39ADB5FC8}"/>
              </a:ext>
            </a:extLst>
          </p:cNvPr>
          <p:cNvSpPr txBox="1"/>
          <p:nvPr/>
        </p:nvSpPr>
        <p:spPr>
          <a:xfrm>
            <a:off x="381000" y="523875"/>
            <a:ext cx="11906250" cy="228600"/>
          </a:xfrm>
          <a:prstGeom prst="rect">
            <a:avLst/>
          </a:prstGeom>
          <a:noFill/>
          <a:effectLst/>
        </p:spPr>
        <p:txBody>
          <a:bodyPr wrap="square" lIns="19050" tIns="19050" rIns="19050" bIns="19050" anchor="ctr">
            <a:noAutofit/>
          </a:bodyPr>
          <a:lstStyle/>
          <a:p>
            <a:pPr algn="ctr"/>
            <a:r>
              <a:rPr sz="900" b="0">
                <a:solidFill>
                  <a:srgbClr val="555555"/>
                </a:solidFill>
                <a:latin typeface="Arial"/>
                <a:ea typeface="맑은 고딕"/>
                <a:cs typeface="Arial"/>
              </a:rPr>
              <a:t>동일한 선호 사례에서 ‘수락 표명’과 ‘직접 제안’이 성립 시점을 어떻게 바꾸는지를 비교한다.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34FFA10-33E3-F116-9E4A-BC618D3E87BE}"/>
              </a:ext>
            </a:extLst>
          </p:cNvPr>
          <p:cNvSpPr/>
          <p:nvPr/>
        </p:nvSpPr>
        <p:spPr>
          <a:xfrm>
            <a:off x="1524000" y="876300"/>
            <a:ext cx="11239500" cy="428625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9525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예시 전제  │  X는 P1의 1순위, P2의 3순위, P3의 4순위이며 세 참여자 모두에게 revised threshold 이상이다.</a:t>
            </a:r>
          </a:p>
        </p:txBody>
      </p: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92FAC611-B669-DCA0-A17D-6437DEB18AC9}"/>
              </a:ext>
            </a:extLst>
          </p:cNvPr>
          <p:cNvCxnSpPr/>
          <p:nvPr/>
        </p:nvCxnSpPr>
        <p:spPr>
          <a:xfrm>
            <a:off x="7143750" y="1524000"/>
            <a:ext cx="0" cy="6858000"/>
          </a:xfrm>
          <a:prstGeom prst="line">
            <a:avLst/>
          </a:prstGeom>
          <a:ln w="9525">
            <a:solidFill>
              <a:srgbClr val="99999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170DEB8-E182-6691-CE69-FF254E4CFCD1}"/>
              </a:ext>
            </a:extLst>
          </p:cNvPr>
          <p:cNvSpPr/>
          <p:nvPr/>
        </p:nvSpPr>
        <p:spPr>
          <a:xfrm>
            <a:off x="381000" y="1524000"/>
            <a:ext cx="6477000" cy="381000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1-A · 현재 라운드의 전원 O로 증명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EE014CF-2F71-F9E1-8D54-BDFEF0CEC429}"/>
              </a:ext>
            </a:extLst>
          </p:cNvPr>
          <p:cNvSpPr/>
          <p:nvPr/>
        </p:nvSpPr>
        <p:spPr>
          <a:xfrm>
            <a:off x="762000" y="2143125"/>
            <a:ext cx="5715000" cy="57150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Round 1 제안 목록 C1</a:t>
            </a: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 → X   ·   P2 → A   ·   P3 → B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B0370EB-3A4E-058C-BEFB-55476C7B12E9}"/>
              </a:ext>
            </a:extLst>
          </p:cNvPr>
          <p:cNvSpPr/>
          <p:nvPr/>
        </p:nvSpPr>
        <p:spPr>
          <a:xfrm>
            <a:off x="762000" y="3000375"/>
            <a:ext cx="3429000" cy="1809750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23875" tIns="19050" rIns="19050" bIns="19050" rtlCol="0" anchor="ctr">
            <a:noAutofit/>
          </a:bodyPr>
          <a:lstStyle/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O/X 행렬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	X	A	B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P1	O	X	O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	O	O	X</a:t>
            </a:r>
          </a:p>
          <a:p>
            <a:pPr algn="l">
              <a:tabLst>
                <a:tab pos="952500" algn="l"/>
                <a:tab pos="1543050" algn="l"/>
                <a:tab pos="2133600" algn="l"/>
              </a:tabLst>
            </a:pPr>
            <a:r>
              <a:rPr sz="97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P3	O	X	O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846C409-381C-39D9-FD15-9CACB4CB4AD8}"/>
              </a:ext>
            </a:extLst>
          </p:cNvPr>
          <p:cNvSpPr/>
          <p:nvPr/>
        </p:nvSpPr>
        <p:spPr>
          <a:xfrm>
            <a:off x="4429125" y="3143250"/>
            <a:ext cx="2047875" cy="1000125"/>
          </a:xfrm>
          <a:prstGeom prst="roundRect">
            <a:avLst>
              <a:gd name="adj" fmla="val 1500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Accept1(c) = ∧i vote(i,c)</a:t>
            </a:r>
          </a:p>
          <a:p>
            <a:pPr algn="ctr"/>
            <a:endParaRPr sz="975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Accept1(X) = O ∧ O ∧ O = true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BD5B14F-5AC5-B0DD-178C-89C68DE566CA}"/>
              </a:ext>
            </a:extLst>
          </p:cNvPr>
          <p:cNvSpPr/>
          <p:nvPr/>
        </p:nvSpPr>
        <p:spPr>
          <a:xfrm>
            <a:off x="4762500" y="4381500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11" name="Connector 10">
            <a:extLst>
              <a:ext uri="{FF2B5EF4-FFF2-40B4-BE49-F238E27FC236}">
                <a16:creationId xmlns:a16="http://schemas.microsoft.com/office/drawing/2014/main" id="{2368838A-7DF6-5009-AADC-260CF9F4C763}"/>
              </a:ext>
            </a:extLst>
          </p:cNvPr>
          <p:cNvCxnSpPr>
            <a:stCxn id="7" idx="2"/>
            <a:endCxn id="8" idx="0"/>
          </p:cNvCxnSpPr>
          <p:nvPr/>
        </p:nvCxnSpPr>
        <p:spPr>
          <a:xfrm flipH="1">
            <a:off x="2476500" y="2714625"/>
            <a:ext cx="1143000" cy="285750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B609F0E6-2A56-EA9B-5525-C4AF04FA2283}"/>
              </a:ext>
            </a:extLst>
          </p:cNvPr>
          <p:cNvCxnSpPr>
            <a:stCxn id="8" idx="3"/>
            <a:endCxn id="9" idx="1"/>
          </p:cNvCxnSpPr>
          <p:nvPr/>
        </p:nvCxnSpPr>
        <p:spPr>
          <a:xfrm flipV="1">
            <a:off x="4191000" y="3643312"/>
            <a:ext cx="238125" cy="261938"/>
          </a:xfrm>
          <a:prstGeom prst="bentConnector3">
            <a:avLst/>
          </a:prstGeom>
          <a:ln w="9525">
            <a:solidFill>
              <a:srgbClr val="B8545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974C7A5C-4269-3BFD-07D3-2DFABE63D5F8}"/>
              </a:ext>
            </a:extLst>
          </p:cNvPr>
          <p:cNvCxnSpPr>
            <a:stCxn id="9" idx="2"/>
            <a:endCxn id="10" idx="0"/>
          </p:cNvCxnSpPr>
          <p:nvPr/>
        </p:nvCxnSpPr>
        <p:spPr>
          <a:xfrm>
            <a:off x="5453062" y="4143375"/>
            <a:ext cx="0" cy="238125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Hexagon 13">
            <a:extLst>
              <a:ext uri="{FF2B5EF4-FFF2-40B4-BE49-F238E27FC236}">
                <a16:creationId xmlns:a16="http://schemas.microsoft.com/office/drawing/2014/main" id="{0534F5E8-F88D-1910-DA6C-13070406965F}"/>
              </a:ext>
            </a:extLst>
          </p:cNvPr>
          <p:cNvSpPr/>
          <p:nvPr/>
        </p:nvSpPr>
        <p:spPr>
          <a:xfrm>
            <a:off x="2381250" y="5381625"/>
            <a:ext cx="952500" cy="523875"/>
          </a:xfrm>
          <a:prstGeom prst="hexagon">
            <a:avLst>
              <a:gd name="adj" fmla="val 36363"/>
              <a:gd name="vf" fmla="val 115470"/>
            </a:avLst>
          </a:prstGeom>
          <a:solidFill>
            <a:srgbClr val="F8CECC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66B4DB0-DF18-8029-9EDE-0CC85411D350}"/>
              </a:ext>
            </a:extLst>
          </p:cNvPr>
          <p:cNvSpPr/>
          <p:nvPr/>
        </p:nvSpPr>
        <p:spPr>
          <a:xfrm>
            <a:off x="1047750" y="6191250"/>
            <a:ext cx="5143500" cy="66675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 w="9525">
            <a:solidFill>
              <a:srgbClr val="B85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즉시 종료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P2·P3가 X를 직접 제안할 때까지 기다리지 않음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50FB081-C847-9B24-4D13-4C978C60CF0D}"/>
              </a:ext>
            </a:extLst>
          </p:cNvPr>
          <p:cNvSpPr/>
          <p:nvPr/>
        </p:nvSpPr>
        <p:spPr>
          <a:xfrm>
            <a:off x="1047750" y="7096125"/>
            <a:ext cx="5143500" cy="666750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 w="9525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판정 정보: threshold 통과 여부만 알 수 있음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후보별 전원 순위는 알 수 없음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7696C756-5912-CABD-7FFF-85B3EE6F528E}"/>
              </a:ext>
            </a:extLst>
          </p:cNvPr>
          <p:cNvSpPr/>
          <p:nvPr/>
        </p:nvSpPr>
        <p:spPr>
          <a:xfrm>
            <a:off x="7429500" y="1524000"/>
            <a:ext cx="6477000" cy="381000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방안 2 · 누적 제안 집합의 교집합으로 증명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C95C6C3A-9689-DD4A-6296-EAF8B1EAC94A}"/>
              </a:ext>
            </a:extLst>
          </p:cNvPr>
          <p:cNvSpPr/>
          <p:nvPr/>
        </p:nvSpPr>
        <p:spPr>
          <a:xfrm>
            <a:off x="7620000" y="238125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R1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S3={B}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8BD36B32-6F8B-4FF3-D865-2E2384FD675D}"/>
              </a:ext>
            </a:extLst>
          </p:cNvPr>
          <p:cNvSpPr/>
          <p:nvPr/>
        </p:nvSpPr>
        <p:spPr>
          <a:xfrm>
            <a:off x="9239250" y="238125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R2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S3={B,E}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F1C5495-792C-C85C-F758-C0AF949E05D6}"/>
              </a:ext>
            </a:extLst>
          </p:cNvPr>
          <p:cNvSpPr/>
          <p:nvPr/>
        </p:nvSpPr>
        <p:spPr>
          <a:xfrm>
            <a:off x="10858500" y="2381250"/>
            <a:ext cx="1190625" cy="1000125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R3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S2={A,D,X}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S3={B,E,G}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F17DCEEE-DD4B-1F37-E2CA-9A0D9D4A52D1}"/>
              </a:ext>
            </a:extLst>
          </p:cNvPr>
          <p:cNvSpPr/>
          <p:nvPr/>
        </p:nvSpPr>
        <p:spPr>
          <a:xfrm>
            <a:off x="12477750" y="2381250"/>
            <a:ext cx="1238250" cy="10001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19050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S1={X,C,F,H}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S2={A,D,X,I}</a:t>
            </a:r>
          </a:p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S3={B,E,G,X}</a:t>
            </a:r>
          </a:p>
        </p:txBody>
      </p:sp>
      <p:cxnSp>
        <p:nvCxnSpPr>
          <p:cNvPr id="22" name="Connector 21">
            <a:extLst>
              <a:ext uri="{FF2B5EF4-FFF2-40B4-BE49-F238E27FC236}">
                <a16:creationId xmlns:a16="http://schemas.microsoft.com/office/drawing/2014/main" id="{CB21FFAA-DB68-5435-32DC-D94C31F94131}"/>
              </a:ext>
            </a:extLst>
          </p:cNvPr>
          <p:cNvCxnSpPr>
            <a:stCxn id="18" idx="3"/>
            <a:endCxn id="19" idx="1"/>
          </p:cNvCxnSpPr>
          <p:nvPr/>
        </p:nvCxnSpPr>
        <p:spPr>
          <a:xfrm>
            <a:off x="8810625" y="288131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>
            <a:extLst>
              <a:ext uri="{FF2B5EF4-FFF2-40B4-BE49-F238E27FC236}">
                <a16:creationId xmlns:a16="http://schemas.microsoft.com/office/drawing/2014/main" id="{E6D59D2C-500D-626F-633D-9629D5A144E6}"/>
              </a:ext>
            </a:extLst>
          </p:cNvPr>
          <p:cNvCxnSpPr>
            <a:stCxn id="19" idx="3"/>
            <a:endCxn id="20" idx="1"/>
          </p:cNvCxnSpPr>
          <p:nvPr/>
        </p:nvCxnSpPr>
        <p:spPr>
          <a:xfrm>
            <a:off x="10429875" y="288131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>
            <a:extLst>
              <a:ext uri="{FF2B5EF4-FFF2-40B4-BE49-F238E27FC236}">
                <a16:creationId xmlns:a16="http://schemas.microsoft.com/office/drawing/2014/main" id="{8102F223-B3F4-00FB-A5D4-A98C7FB0DE3D}"/>
              </a:ext>
            </a:extLst>
          </p:cNvPr>
          <p:cNvCxnSpPr>
            <a:stCxn id="20" idx="3"/>
            <a:endCxn id="21" idx="1"/>
          </p:cNvCxnSpPr>
          <p:nvPr/>
        </p:nvCxnSpPr>
        <p:spPr>
          <a:xfrm>
            <a:off x="12049125" y="2881312"/>
            <a:ext cx="428625" cy="0"/>
          </a:xfrm>
          <a:prstGeom prst="line">
            <a:avLst/>
          </a:prstGeom>
          <a:ln w="9525">
            <a:solidFill>
              <a:srgbClr val="6C8E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A0C0282F-34EF-8185-5671-D48683A2F599}"/>
              </a:ext>
            </a:extLst>
          </p:cNvPr>
          <p:cNvSpPr/>
          <p:nvPr/>
        </p:nvSpPr>
        <p:spPr>
          <a:xfrm>
            <a:off x="7667625" y="361950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5D64709B-7E23-A63F-0430-32BF14520806}"/>
              </a:ext>
            </a:extLst>
          </p:cNvPr>
          <p:cNvSpPr/>
          <p:nvPr/>
        </p:nvSpPr>
        <p:spPr>
          <a:xfrm>
            <a:off x="9286875" y="361950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1E37A857-BAC7-F6F4-77EE-5C122BC8BB13}"/>
              </a:ext>
            </a:extLst>
          </p:cNvPr>
          <p:cNvSpPr/>
          <p:nvPr/>
        </p:nvSpPr>
        <p:spPr>
          <a:xfrm>
            <a:off x="10906125" y="3619500"/>
            <a:ext cx="1095375" cy="333375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9525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825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∅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6DC9775-3EA6-7F4D-DB0C-A3909D065AFA}"/>
              </a:ext>
            </a:extLst>
          </p:cNvPr>
          <p:cNvSpPr/>
          <p:nvPr/>
        </p:nvSpPr>
        <p:spPr>
          <a:xfrm>
            <a:off x="12525375" y="3619500"/>
            <a:ext cx="1143000" cy="333375"/>
          </a:xfrm>
          <a:prstGeom prst="roundRect">
            <a:avLst>
              <a:gd name="adj" fmla="val 15000"/>
            </a:avLst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∩Si = {X}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3FFF6792-2A36-2D4D-66E0-074125D1AA88}"/>
              </a:ext>
            </a:extLst>
          </p:cNvPr>
          <p:cNvSpPr/>
          <p:nvPr/>
        </p:nvSpPr>
        <p:spPr>
          <a:xfrm>
            <a:off x="8572500" y="4333875"/>
            <a:ext cx="2857500" cy="1190625"/>
          </a:xfrm>
          <a:prstGeom prst="roundRect">
            <a:avLst>
              <a:gd name="adj" fmla="val 1500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G(k) = S1(k) ∩ S2(k) ∩ S3(k)</a:t>
            </a:r>
          </a:p>
          <a:p>
            <a:pPr algn="ctr"/>
            <a:endParaRPr sz="1050" b="1">
              <a:solidFill>
                <a:srgbClr val="000000"/>
              </a:solidFill>
              <a:latin typeface="Arial"/>
              <a:ea typeface="맑은 고딕"/>
              <a:cs typeface="Arial"/>
            </a:endParaRP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G(1)=G(2)=G(3)=∅</a:t>
            </a:r>
          </a:p>
          <a:p>
            <a:pPr algn="ctr"/>
            <a:r>
              <a:rPr sz="105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G(4)={X}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AE9C60AA-DFFF-5237-B2E0-9477DA2352A5}"/>
              </a:ext>
            </a:extLst>
          </p:cNvPr>
          <p:cNvSpPr/>
          <p:nvPr/>
        </p:nvSpPr>
        <p:spPr>
          <a:xfrm>
            <a:off x="11906250" y="4572000"/>
            <a:ext cx="1381125" cy="666750"/>
          </a:xfrm>
          <a:prstGeom prst="ellipse">
            <a:avLst/>
          </a:prstGeom>
          <a:solidFill>
            <a:srgbClr val="D5E8D4"/>
          </a:solidFill>
          <a:ln w="1905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-57150" tIns="0" rIns="-57150" bIns="0" rtlCol="0" anchor="ctr">
            <a:noAutofit/>
          </a:bodyPr>
          <a:lstStyle/>
          <a:p>
            <a:pPr algn="ctr"/>
            <a:r>
              <a:rPr sz="112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X 성립</a:t>
            </a:r>
          </a:p>
        </p:txBody>
      </p:sp>
      <p:cxnSp>
        <p:nvCxnSpPr>
          <p:cNvPr id="31" name="Connector 30">
            <a:extLst>
              <a:ext uri="{FF2B5EF4-FFF2-40B4-BE49-F238E27FC236}">
                <a16:creationId xmlns:a16="http://schemas.microsoft.com/office/drawing/2014/main" id="{F40A4B04-FEBE-46BF-B79D-0768B234AC59}"/>
              </a:ext>
            </a:extLst>
          </p:cNvPr>
          <p:cNvCxnSpPr>
            <a:stCxn id="29" idx="3"/>
            <a:endCxn id="30" idx="1"/>
          </p:cNvCxnSpPr>
          <p:nvPr/>
        </p:nvCxnSpPr>
        <p:spPr>
          <a:xfrm flipV="1">
            <a:off x="11430000" y="4905375"/>
            <a:ext cx="476250" cy="23812"/>
          </a:xfrm>
          <a:prstGeom prst="bentConnector3">
            <a:avLst/>
          </a:prstGeom>
          <a:ln w="19050">
            <a:solidFill>
              <a:srgbClr val="82B36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Hexagon 31">
            <a:extLst>
              <a:ext uri="{FF2B5EF4-FFF2-40B4-BE49-F238E27FC236}">
                <a16:creationId xmlns:a16="http://schemas.microsoft.com/office/drawing/2014/main" id="{BE91B5C7-9E6E-FC9A-ABB8-AE180BF28D20}"/>
              </a:ext>
            </a:extLst>
          </p:cNvPr>
          <p:cNvSpPr/>
          <p:nvPr/>
        </p:nvSpPr>
        <p:spPr>
          <a:xfrm>
            <a:off x="10191750" y="5810250"/>
            <a:ext cx="952500" cy="523875"/>
          </a:xfrm>
          <a:prstGeom prst="hexagon">
            <a:avLst>
              <a:gd name="adj" fmla="val 36363"/>
              <a:gd name="vf" fmla="val 115470"/>
            </a:avLst>
          </a:prstGeom>
          <a:solidFill>
            <a:srgbClr val="DAE8FC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R4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213BC4CE-83CC-23D1-99FE-13685E4C19FD}"/>
              </a:ext>
            </a:extLst>
          </p:cNvPr>
          <p:cNvSpPr/>
          <p:nvPr/>
        </p:nvSpPr>
        <p:spPr>
          <a:xfrm>
            <a:off x="8096250" y="6572250"/>
            <a:ext cx="5143500" cy="666750"/>
          </a:xfrm>
          <a:prstGeom prst="roundRect">
            <a:avLst>
              <a:gd name="adj" fmla="val 15000"/>
            </a:avLst>
          </a:prstGeom>
          <a:solidFill>
            <a:srgbClr val="F4F8FF"/>
          </a:solidFill>
          <a:ln w="952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P3가 X를 직접 제안할 때 종료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‘수락 가능’만으로는 공통 제안으로 인정하지 않음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E719A953-9D53-F111-E990-7EC7E891FB03}"/>
              </a:ext>
            </a:extLst>
          </p:cNvPr>
          <p:cNvSpPr/>
          <p:nvPr/>
        </p:nvSpPr>
        <p:spPr>
          <a:xfrm>
            <a:off x="8096250" y="7477125"/>
            <a:ext cx="5143500" cy="666750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 w="9525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판정 정보: 누가 어느 라운드에 후보를 제출했는지 축적</a:t>
            </a:r>
          </a:p>
          <a:p>
            <a:pPr algn="ctr"/>
            <a:r>
              <a:rPr sz="900" b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라운드=순위이므로 순위 합 기반 동률 해소 가능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917676F4-7C24-5E12-0178-CC749411A6E0}"/>
              </a:ext>
            </a:extLst>
          </p:cNvPr>
          <p:cNvSpPr/>
          <p:nvPr/>
        </p:nvSpPr>
        <p:spPr>
          <a:xfrm>
            <a:off x="2476500" y="8429625"/>
            <a:ext cx="9334500" cy="457200"/>
          </a:xfrm>
          <a:prstGeom prst="roundRect">
            <a:avLst>
              <a:gd name="adj" fmla="val 15000"/>
            </a:avLst>
          </a:prstGeom>
          <a:solidFill>
            <a:srgbClr val="E1D5E7"/>
          </a:solidFill>
          <a:ln w="9525">
            <a:solidFill>
              <a:srgbClr val="967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9050" tIns="19050" rIns="19050" bIns="19050" rtlCol="0" anchor="ctr">
            <a:noAutofit/>
          </a:bodyPr>
          <a:lstStyle/>
          <a:p>
            <a:pPr algn="ctr"/>
            <a:r>
              <a:rPr sz="975" b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결정적 차이  │  1-A의 증거는 ‘현재 O’이고, 2의 증거는 ‘과거부터 누적된 직접 제안’이다.</a:t>
            </a:r>
          </a:p>
        </p:txBody>
      </p:sp>
    </p:spTree>
    <p:extLst>
      <p:ext uri="{BB962C8B-B14F-4D97-AF65-F5344CB8AC3E}">
        <p14:creationId xmlns:p14="http://schemas.microsoft.com/office/powerpoint/2010/main" val="33809373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1551</Words>
  <Application>Microsoft Macintosh PowerPoint</Application>
  <PresentationFormat>사용자 지정</PresentationFormat>
  <Paragraphs>288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종인 이</cp:lastModifiedBy>
  <cp:revision>11</cp:revision>
  <dcterms:created xsi:type="dcterms:W3CDTF">2013-01-27T09:14:16Z</dcterms:created>
  <dcterms:modified xsi:type="dcterms:W3CDTF">2026-08-12T10:15:38Z</dcterms:modified>
  <cp:category/>
</cp:coreProperties>
</file>