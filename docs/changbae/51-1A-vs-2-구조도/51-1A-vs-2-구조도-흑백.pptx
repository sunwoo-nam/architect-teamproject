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42875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73"/>
  </p:normalViewPr>
  <p:slideViewPr>
    <p:cSldViewPr snapToGrid="0" snapToObjects="1">
      <p:cViewPr varScale="1">
        <p:scale>
          <a:sx n="86" d="100"/>
          <a:sy n="86" d="100"/>
        </p:scale>
        <p:origin x="1224" y="2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90500"/>
            <a:ext cx="8572500" cy="323850"/>
          </a:xfrm>
          <a:prstGeom prst="rect">
            <a:avLst/>
          </a:prstGeom>
          <a:noFill/>
          <a:effectLst/>
        </p:spPr>
        <p:txBody>
          <a:bodyPr wrap="square" lIns="19050" tIns="19050" rIns="19050" bIns="19050" anchor="ctr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방안 1-A vs 방안 2 — 정적 구조·책임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523875"/>
            <a:ext cx="11430000" cy="228600"/>
          </a:xfrm>
          <a:prstGeom prst="rect">
            <a:avLst/>
          </a:prstGeom>
          <a:noFill/>
          <a:effectLst/>
        </p:spPr>
        <p:txBody>
          <a:bodyPr wrap="square" lIns="19050" tIns="19050" rIns="19050" bIns="19050" anchor="ctr">
            <a:noAutofit/>
          </a:bodyPr>
          <a:lstStyle/>
          <a:p>
            <a:pPr algn="l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두 방안 모두 P0 중심 Star 토폴로지이며, 핵심 차이는 P0 내부의 상태 모델과 판정 알고리즘이다.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1000" y="838200"/>
            <a:ext cx="1238250" cy="24765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방안 1-A 고유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14500" y="838200"/>
            <a:ext cx="1238250" cy="24765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방안 2 고유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48000" y="838200"/>
            <a:ext cx="1143000" cy="24765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공통 책임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143750" y="1238250"/>
            <a:ext cx="0" cy="590550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81000" y="1238250"/>
            <a:ext cx="6477000" cy="38100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1125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방안 1-A · 순차 SAO 투표형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09750" y="1952625"/>
            <a:ext cx="3619500" cy="3762375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95250" rIns="19050" bIns="19050" rtlCol="0" anchor="t">
            <a:no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P0 담당자 단말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95500" y="2476500"/>
            <a:ext cx="1428750" cy="55245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Round / Sweep Controller</a:t>
            </a:r>
          </a:p>
          <a:p>
            <a:pPr algn="ctr"/>
            <a:r>
              <a:rPr sz="825" b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라운드</a:t>
            </a:r>
            <a:r>
              <a:rPr sz="825" b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825" b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마감·바퀴</a:t>
            </a:r>
            <a:r>
              <a:rPr sz="825" b="0" dirty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 </a:t>
            </a:r>
            <a:r>
              <a:rPr sz="825" b="0" dirty="0" err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제어</a:t>
            </a:r>
            <a:endParaRPr sz="825" b="0" dirty="0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714750" y="2476500"/>
            <a:ext cx="1428750" cy="55245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Anonymous Offer Distributor</a:t>
            </a:r>
          </a:p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제안자 귀속 제거 후 배포</a:t>
            </a:r>
          </a:p>
        </p:txBody>
      </p:sp>
      <p:sp>
        <p:nvSpPr>
          <p:cNvPr id="12" name="Can 11"/>
          <p:cNvSpPr/>
          <p:nvPr/>
        </p:nvSpPr>
        <p:spPr>
          <a:xfrm>
            <a:off x="2095500" y="3286125"/>
            <a:ext cx="1428750" cy="685800"/>
          </a:xfrm>
          <a:prstGeom prst="can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-68580" rIns="19050" bIns="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Current Round State</a:t>
            </a:r>
          </a:p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현재 후보 목록 + O/X 행렬</a:t>
            </a:r>
          </a:p>
        </p:txBody>
      </p:sp>
      <p:sp>
        <p:nvSpPr>
          <p:cNvPr id="13" name="Diamond 12"/>
          <p:cNvSpPr/>
          <p:nvPr/>
        </p:nvSpPr>
        <p:spPr>
          <a:xfrm>
            <a:off x="3762375" y="3219450"/>
            <a:ext cx="1333500" cy="819150"/>
          </a:xfrm>
          <a:prstGeom prst="diamond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-293370" tIns="-131064" rIns="-293370" bIns="-131064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Unanimity Evaluator</a:t>
            </a:r>
          </a:p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∃c ∈ Ck : 전원 O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95500" y="4286250"/>
            <a:ext cx="3048000" cy="523875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TieBreaker plug-in</a:t>
            </a:r>
          </a:p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순위 정보 없음 → 결선투표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05125" y="5048250"/>
            <a:ext cx="1428750" cy="40005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성립 시에만 종료 통지</a:t>
            </a:r>
          </a:p>
        </p:txBody>
      </p:sp>
      <p:sp>
        <p:nvSpPr>
          <p:cNvPr id="16" name="Oval 15"/>
          <p:cNvSpPr/>
          <p:nvPr/>
        </p:nvSpPr>
        <p:spPr>
          <a:xfrm>
            <a:off x="381000" y="2619375"/>
            <a:ext cx="666750" cy="476250"/>
          </a:xfrm>
          <a:prstGeom prst="ellipse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-57150" tIns="0" rIns="-57150" bIns="0" rtlCol="0" anchor="ctr">
            <a:no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P1</a:t>
            </a:r>
          </a:p>
        </p:txBody>
      </p:sp>
      <p:sp>
        <p:nvSpPr>
          <p:cNvPr id="17" name="Oval 16"/>
          <p:cNvSpPr/>
          <p:nvPr/>
        </p:nvSpPr>
        <p:spPr>
          <a:xfrm>
            <a:off x="381000" y="3524250"/>
            <a:ext cx="666750" cy="476250"/>
          </a:xfrm>
          <a:prstGeom prst="ellipse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-57150" tIns="0" rIns="-57150" bIns="0" rtlCol="0" anchor="ctr">
            <a:no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P2</a:t>
            </a:r>
          </a:p>
        </p:txBody>
      </p:sp>
      <p:sp>
        <p:nvSpPr>
          <p:cNvPr id="18" name="Oval 17"/>
          <p:cNvSpPr/>
          <p:nvPr/>
        </p:nvSpPr>
        <p:spPr>
          <a:xfrm>
            <a:off x="381000" y="4429125"/>
            <a:ext cx="666750" cy="476250"/>
          </a:xfrm>
          <a:prstGeom prst="ellipse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-57150" tIns="0" rIns="-57150" bIns="0" rtlCol="0" anchor="ctr">
            <a:no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P(N-1)</a:t>
            </a:r>
          </a:p>
        </p:txBody>
      </p:sp>
      <p:cxnSp>
        <p:nvCxnSpPr>
          <p:cNvPr id="19" name="Connector 18"/>
          <p:cNvCxnSpPr>
            <a:stCxn id="16" idx="3"/>
            <a:endCxn id="9" idx="1"/>
          </p:cNvCxnSpPr>
          <p:nvPr/>
        </p:nvCxnSpPr>
        <p:spPr>
          <a:xfrm>
            <a:off x="1047750" y="2857500"/>
            <a:ext cx="762000" cy="976312"/>
          </a:xfrm>
          <a:prstGeom prst="bentConnector3">
            <a:avLst/>
          </a:prstGeom>
          <a:ln w="9525">
            <a:solidFill>
              <a:srgbClr val="00000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17" idx="3"/>
            <a:endCxn id="9" idx="1"/>
          </p:cNvCxnSpPr>
          <p:nvPr/>
        </p:nvCxnSpPr>
        <p:spPr>
          <a:xfrm>
            <a:off x="1047750" y="3762375"/>
            <a:ext cx="762000" cy="71437"/>
          </a:xfrm>
          <a:prstGeom prst="bentConnector3">
            <a:avLst/>
          </a:prstGeom>
          <a:ln w="9525">
            <a:solidFill>
              <a:srgbClr val="00000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stCxn id="18" idx="3"/>
            <a:endCxn id="9" idx="1"/>
          </p:cNvCxnSpPr>
          <p:nvPr/>
        </p:nvCxnSpPr>
        <p:spPr>
          <a:xfrm flipV="1">
            <a:off x="1047750" y="3833812"/>
            <a:ext cx="762000" cy="833438"/>
          </a:xfrm>
          <a:prstGeom prst="bentConnector3">
            <a:avLst/>
          </a:prstGeom>
          <a:ln w="9525">
            <a:solidFill>
              <a:srgbClr val="000000"/>
            </a:solidFill>
            <a:headEnd type="triangle" w="med" len="med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38125" y="2171700"/>
            <a:ext cx="1714500" cy="209550"/>
          </a:xfrm>
          <a:prstGeom prst="rect">
            <a:avLst/>
          </a:prstGeom>
          <a:noFill/>
          <a:effectLst/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sz="75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사설 SAO 채널·offer / reply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1000" y="6048375"/>
            <a:ext cx="6477000" cy="714375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19050" rIns="19050" bIns="19050" rtlCol="0" anchor="ctr">
            <a:no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핵심 상태: 라운드 단위로 교체</a:t>
            </a:r>
          </a:p>
          <a:p>
            <a:pPr algn="l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판정 근거: 명시적 수락 신호 O/X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29500" y="1238250"/>
            <a:ext cx="6477000" cy="38100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1125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방안 2 · 누적 공통제안형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58250" y="1952625"/>
            <a:ext cx="3619500" cy="3762375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95250" rIns="19050" bIns="19050" rtlCol="0" anchor="t">
            <a:no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P0 담당자 단말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2476500"/>
            <a:ext cx="1428750" cy="55245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Round / Sweep Controller</a:t>
            </a:r>
          </a:p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라운드 마감·바퀴 제어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763250" y="2476500"/>
            <a:ext cx="1428750" cy="55245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Proposal Receiver</a:t>
            </a:r>
          </a:p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후보 1개 제출 수신</a:t>
            </a:r>
          </a:p>
        </p:txBody>
      </p:sp>
      <p:sp>
        <p:nvSpPr>
          <p:cNvPr id="28" name="Can 27"/>
          <p:cNvSpPr/>
          <p:nvPr/>
        </p:nvSpPr>
        <p:spPr>
          <a:xfrm>
            <a:off x="9144000" y="3257550"/>
            <a:ext cx="3048000" cy="742950"/>
          </a:xfrm>
          <a:prstGeom prst="can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-74295" rIns="19050" bIns="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Blackboard State (P0 내부)</a:t>
            </a:r>
          </a:p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Si(k): 참여자별 누적 제안 + 제출 라운드</a:t>
            </a:r>
          </a:p>
        </p:txBody>
      </p:sp>
      <p:sp>
        <p:nvSpPr>
          <p:cNvPr id="29" name="Diamond 28"/>
          <p:cNvSpPr/>
          <p:nvPr/>
        </p:nvSpPr>
        <p:spPr>
          <a:xfrm>
            <a:off x="9191625" y="4171950"/>
            <a:ext cx="1381125" cy="781050"/>
          </a:xfrm>
          <a:prstGeom prst="diamond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-303848" tIns="-124968" rIns="-303848" bIns="-124968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Intersection Evaluator</a:t>
            </a:r>
          </a:p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S1(k) ∩ … ∩ SN(k) ≠ ∅ 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63250" y="4286250"/>
            <a:ext cx="1428750" cy="55245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TieBreaker plug-in</a:t>
            </a:r>
          </a:p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순위 합 → 표준편차 → 결선투표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53625" y="5048250"/>
            <a:ext cx="1428750" cy="40005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성립 시 종료 통지</a:t>
            </a:r>
          </a:p>
        </p:txBody>
      </p:sp>
      <p:sp>
        <p:nvSpPr>
          <p:cNvPr id="32" name="Oval 31"/>
          <p:cNvSpPr/>
          <p:nvPr/>
        </p:nvSpPr>
        <p:spPr>
          <a:xfrm>
            <a:off x="12858750" y="2619375"/>
            <a:ext cx="666750" cy="476250"/>
          </a:xfrm>
          <a:prstGeom prst="ellipse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-57150" tIns="0" rIns="-57150" bIns="0" rtlCol="0" anchor="ctr">
            <a:no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P1</a:t>
            </a:r>
          </a:p>
        </p:txBody>
      </p:sp>
      <p:sp>
        <p:nvSpPr>
          <p:cNvPr id="33" name="Oval 32"/>
          <p:cNvSpPr/>
          <p:nvPr/>
        </p:nvSpPr>
        <p:spPr>
          <a:xfrm>
            <a:off x="12858750" y="3524250"/>
            <a:ext cx="666750" cy="476250"/>
          </a:xfrm>
          <a:prstGeom prst="ellipse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-57150" tIns="0" rIns="-57150" bIns="0" rtlCol="0" anchor="ctr">
            <a:no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P2</a:t>
            </a:r>
          </a:p>
        </p:txBody>
      </p:sp>
      <p:sp>
        <p:nvSpPr>
          <p:cNvPr id="34" name="Oval 33"/>
          <p:cNvSpPr/>
          <p:nvPr/>
        </p:nvSpPr>
        <p:spPr>
          <a:xfrm>
            <a:off x="12858750" y="4429125"/>
            <a:ext cx="666750" cy="476250"/>
          </a:xfrm>
          <a:prstGeom prst="ellipse">
            <a:avLst/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-57150" tIns="0" rIns="-57150" bIns="0" rtlCol="0" anchor="ctr">
            <a:no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P(N-1)</a:t>
            </a:r>
          </a:p>
        </p:txBody>
      </p:sp>
      <p:cxnSp>
        <p:nvCxnSpPr>
          <p:cNvPr id="35" name="Connector 34"/>
          <p:cNvCxnSpPr>
            <a:stCxn id="32" idx="1"/>
            <a:endCxn id="25" idx="3"/>
          </p:cNvCxnSpPr>
          <p:nvPr/>
        </p:nvCxnSpPr>
        <p:spPr>
          <a:xfrm flipH="1">
            <a:off x="12477750" y="2857500"/>
            <a:ext cx="381000" cy="976312"/>
          </a:xfrm>
          <a:prstGeom prst="bentConnector3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>
            <a:stCxn id="33" idx="1"/>
            <a:endCxn id="25" idx="3"/>
          </p:cNvCxnSpPr>
          <p:nvPr/>
        </p:nvCxnSpPr>
        <p:spPr>
          <a:xfrm flipH="1">
            <a:off x="12477750" y="3762375"/>
            <a:ext cx="381000" cy="71437"/>
          </a:xfrm>
          <a:prstGeom prst="bentConnector3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stCxn id="34" idx="1"/>
            <a:endCxn id="25" idx="3"/>
          </p:cNvCxnSpPr>
          <p:nvPr/>
        </p:nvCxnSpPr>
        <p:spPr>
          <a:xfrm flipH="1" flipV="1">
            <a:off x="12477750" y="3833812"/>
            <a:ext cx="381000" cy="833438"/>
          </a:xfrm>
          <a:prstGeom prst="bentConnector3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2382500" y="2171700"/>
            <a:ext cx="1714500" cy="209550"/>
          </a:xfrm>
          <a:prstGeom prst="rect">
            <a:avLst/>
          </a:prstGeom>
          <a:noFill/>
          <a:effectLst/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sz="75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사설 채널·후보 제출만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29500" y="6048375"/>
            <a:ext cx="6477000" cy="714375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4300" tIns="19050" rIns="19050" bIns="19050" rtlCol="0" anchor="ctr">
            <a:noAutofit/>
          </a:bodyPr>
          <a:lstStyle/>
          <a:p>
            <a:pPr algn="l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핵심 상태: 라운드가 지나도 누적</a:t>
            </a:r>
          </a:p>
          <a:p>
            <a:pPr algn="l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판정 근거: 모든 참여자가 같은 후보를 직접 제안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714500" y="7191375"/>
            <a:ext cx="10858500" cy="57150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75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Architect 포인트  │  외부 배치 모양은 유사하다. 1-A는 현재 후보의 수락 신호를 집계하고, 2는 누적 제안 집합의 교집합을 계산한다.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190500"/>
            <a:ext cx="9525000" cy="323850"/>
          </a:xfrm>
          <a:prstGeom prst="rect">
            <a:avLst/>
          </a:prstGeom>
          <a:noFill/>
          <a:effectLst/>
        </p:spPr>
        <p:txBody>
          <a:bodyPr wrap="square" lIns="19050" tIns="19050" rIns="19050" bIns="19050" anchor="ctr">
            <a:no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방안 1-A vs 방안 2 — 합의 판정·상태 진화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523875"/>
            <a:ext cx="11906250" cy="228600"/>
          </a:xfrm>
          <a:prstGeom prst="rect">
            <a:avLst/>
          </a:prstGeom>
          <a:noFill/>
          <a:effectLst/>
        </p:spPr>
        <p:txBody>
          <a:bodyPr wrap="square" lIns="19050" tIns="19050" rIns="19050" bIns="19050" anchor="ctr">
            <a:no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동일한 선호 사례에서 ‘수락 표명’과 ‘직접 제안’이 성립 시점을 어떻게 바꾸는지를 비교한다.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24000" y="876300"/>
            <a:ext cx="11239500" cy="428625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75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예시 전제  │  X는 P1의 1순위, P2의 3순위, P3의 4순위이며 세 참여자 모두에게 revised threshold 이상이다.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143750" y="1524000"/>
            <a:ext cx="0" cy="6858000"/>
          </a:xfrm>
          <a:prstGeom prst="line">
            <a:avLst/>
          </a:prstGeom>
          <a:ln w="9525">
            <a:solidFill>
              <a:srgbClr val="00000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81000" y="1524000"/>
            <a:ext cx="6477000" cy="38100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방안 1-A · 현재 라운드의 전원 O로 증명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000" y="2143125"/>
            <a:ext cx="5715000" cy="57150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75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Round 1 제안 목록 C1</a:t>
            </a:r>
          </a:p>
          <a:p>
            <a:pPr algn="ctr"/>
            <a:r>
              <a:rPr sz="975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P1 → X   ·   P2 → A   ·   P3 →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2000" y="3000375"/>
            <a:ext cx="3429000" cy="180975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23875" tIns="19050" rIns="19050" bIns="19050" rtlCol="0" anchor="ctr">
            <a:noAutofit/>
          </a:bodyPr>
          <a:lstStyle/>
          <a:p>
            <a:pPr algn="l">
              <a:tabLst>
                <a:tab pos="952500" algn="l"/>
                <a:tab pos="1543050" algn="l"/>
                <a:tab pos="2133600" algn="l"/>
              </a:tabLst>
            </a:pPr>
            <a:r>
              <a:rPr sz="975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O/X 행렬</a:t>
            </a:r>
          </a:p>
          <a:p>
            <a:pPr algn="l">
              <a:tabLst>
                <a:tab pos="952500" algn="l"/>
                <a:tab pos="1543050" algn="l"/>
                <a:tab pos="2133600" algn="l"/>
              </a:tabLst>
            </a:pPr>
            <a:endParaRPr sz="975" b="1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  <a:p>
            <a:pPr algn="l">
              <a:tabLst>
                <a:tab pos="952500" algn="l"/>
                <a:tab pos="1543050" algn="l"/>
                <a:tab pos="2133600" algn="l"/>
              </a:tabLst>
            </a:pPr>
            <a:r>
              <a:rPr sz="97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	X	A	B</a:t>
            </a:r>
          </a:p>
          <a:p>
            <a:pPr algn="l">
              <a:tabLst>
                <a:tab pos="952500" algn="l"/>
                <a:tab pos="1543050" algn="l"/>
                <a:tab pos="2133600" algn="l"/>
              </a:tabLst>
            </a:pPr>
            <a:r>
              <a:rPr sz="97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P1	O	X	O</a:t>
            </a:r>
          </a:p>
          <a:p>
            <a:pPr algn="l">
              <a:tabLst>
                <a:tab pos="952500" algn="l"/>
                <a:tab pos="1543050" algn="l"/>
                <a:tab pos="2133600" algn="l"/>
              </a:tabLst>
            </a:pPr>
            <a:r>
              <a:rPr sz="97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P2	O	O	X</a:t>
            </a:r>
          </a:p>
          <a:p>
            <a:pPr algn="l">
              <a:tabLst>
                <a:tab pos="952500" algn="l"/>
                <a:tab pos="1543050" algn="l"/>
                <a:tab pos="2133600" algn="l"/>
              </a:tabLst>
            </a:pPr>
            <a:r>
              <a:rPr sz="97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P3	O	X	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125" y="3143250"/>
            <a:ext cx="2047875" cy="1000125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75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Accept1(c) = ∧i vote(i,c)</a:t>
            </a:r>
          </a:p>
          <a:p>
            <a:pPr algn="ctr"/>
            <a:endParaRPr sz="975" b="1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  <a:p>
            <a:pPr algn="ctr"/>
            <a:r>
              <a:rPr sz="975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Accept1(X) = O ∧ O ∧ O = true</a:t>
            </a:r>
          </a:p>
        </p:txBody>
      </p:sp>
      <p:sp>
        <p:nvSpPr>
          <p:cNvPr id="10" name="Oval 9"/>
          <p:cNvSpPr/>
          <p:nvPr/>
        </p:nvSpPr>
        <p:spPr>
          <a:xfrm>
            <a:off x="4762500" y="4381500"/>
            <a:ext cx="1381125" cy="666750"/>
          </a:xfrm>
          <a:prstGeom prst="ellipse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-57150" tIns="0" rIns="-57150" bIns="0" rtlCol="0" anchor="ctr">
            <a:noAutofit/>
          </a:bodyPr>
          <a:lstStyle/>
          <a:p>
            <a:pPr algn="ctr"/>
            <a:r>
              <a:rPr sz="1125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X 성립</a:t>
            </a:r>
          </a:p>
        </p:txBody>
      </p:sp>
      <p:cxnSp>
        <p:nvCxnSpPr>
          <p:cNvPr id="11" name="Connector 10"/>
          <p:cNvCxnSpPr>
            <a:stCxn id="7" idx="2"/>
            <a:endCxn id="8" idx="0"/>
          </p:cNvCxnSpPr>
          <p:nvPr/>
        </p:nvCxnSpPr>
        <p:spPr>
          <a:xfrm flipH="1">
            <a:off x="2476500" y="2714625"/>
            <a:ext cx="1143000" cy="285750"/>
          </a:xfrm>
          <a:prstGeom prst="bentConnector3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>
            <a:stCxn id="8" idx="3"/>
            <a:endCxn id="9" idx="1"/>
          </p:cNvCxnSpPr>
          <p:nvPr/>
        </p:nvCxnSpPr>
        <p:spPr>
          <a:xfrm flipV="1">
            <a:off x="4191000" y="3643312"/>
            <a:ext cx="238125" cy="261938"/>
          </a:xfrm>
          <a:prstGeom prst="bentConnector3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9" idx="2"/>
            <a:endCxn id="10" idx="0"/>
          </p:cNvCxnSpPr>
          <p:nvPr/>
        </p:nvCxnSpPr>
        <p:spPr>
          <a:xfrm>
            <a:off x="5453062" y="4143375"/>
            <a:ext cx="0" cy="238125"/>
          </a:xfrm>
          <a:prstGeom prst="bentConnector3">
            <a:avLst/>
          </a:prstGeom>
          <a:ln w="1905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Hexagon 13"/>
          <p:cNvSpPr/>
          <p:nvPr/>
        </p:nvSpPr>
        <p:spPr>
          <a:xfrm>
            <a:off x="2381250" y="5381625"/>
            <a:ext cx="952500" cy="523875"/>
          </a:xfrm>
          <a:prstGeom prst="hexagon">
            <a:avLst>
              <a:gd name="adj" fmla="val 36363"/>
              <a:gd name="vf" fmla="val 11547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7750" y="6191250"/>
            <a:ext cx="5143500" cy="66675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즉시 종료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P2·P3가 X를 직접 제안할 때까지 기다리지 않음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7750" y="7096125"/>
            <a:ext cx="5143500" cy="66675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판정 정보: threshold 통과 여부만 알 수 있음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후보별 전원 순위는 알 수 없음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29500" y="1524000"/>
            <a:ext cx="6477000" cy="38100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방안 2 · 누적 제안 집합의 교집합으로 증명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0000" y="2381250"/>
            <a:ext cx="1190625" cy="1000125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R1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S1={X}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S2={A}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S3={B}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9250" y="2381250"/>
            <a:ext cx="1190625" cy="1000125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R2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S1={X,C}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S2={A,D}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S3={B,E}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858500" y="2381250"/>
            <a:ext cx="1190625" cy="1000125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R3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S1={X,C,F}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S2={A,D,X}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S3={B,E,G}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477750" y="2381250"/>
            <a:ext cx="1238250" cy="1000125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R4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S1={X,C,F,H}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S2={A,D,X,I}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S3={B,E,G,X}</a:t>
            </a:r>
          </a:p>
        </p:txBody>
      </p:sp>
      <p:cxnSp>
        <p:nvCxnSpPr>
          <p:cNvPr id="22" name="Connector 21"/>
          <p:cNvCxnSpPr>
            <a:stCxn id="18" idx="3"/>
            <a:endCxn id="19" idx="1"/>
          </p:cNvCxnSpPr>
          <p:nvPr/>
        </p:nvCxnSpPr>
        <p:spPr>
          <a:xfrm>
            <a:off x="8810625" y="2881312"/>
            <a:ext cx="428625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19" idx="3"/>
            <a:endCxn id="20" idx="1"/>
          </p:cNvCxnSpPr>
          <p:nvPr/>
        </p:nvCxnSpPr>
        <p:spPr>
          <a:xfrm>
            <a:off x="10429875" y="2881312"/>
            <a:ext cx="428625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20" idx="3"/>
            <a:endCxn id="21" idx="1"/>
          </p:cNvCxnSpPr>
          <p:nvPr/>
        </p:nvCxnSpPr>
        <p:spPr>
          <a:xfrm>
            <a:off x="12049125" y="2881312"/>
            <a:ext cx="428625" cy="0"/>
          </a:xfrm>
          <a:prstGeom prst="line">
            <a:avLst/>
          </a:prstGeom>
          <a:ln w="9525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667625" y="3619500"/>
            <a:ext cx="1095375" cy="333375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∩Si = 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286875" y="3619500"/>
            <a:ext cx="1095375" cy="333375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∩Si = 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06125" y="3619500"/>
            <a:ext cx="1095375" cy="333375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825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∩Si = 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525375" y="3619500"/>
            <a:ext cx="1143000" cy="333375"/>
          </a:xfrm>
          <a:prstGeom prst="roundRect">
            <a:avLst>
              <a:gd name="adj" fmla="val 15000"/>
            </a:avLst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∩Si = {X}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72500" y="4333875"/>
            <a:ext cx="2857500" cy="1190625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105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G(k) = S1(k) ∩ S2(k) ∩ S3(k)</a:t>
            </a:r>
          </a:p>
          <a:p>
            <a:pPr algn="ctr"/>
            <a:endParaRPr sz="1050" b="1">
              <a:solidFill>
                <a:srgbClr val="000000"/>
              </a:solidFill>
              <a:latin typeface="Arial"/>
              <a:ea typeface="맑은 고딕"/>
              <a:cs typeface="Arial"/>
            </a:endParaRPr>
          </a:p>
          <a:p>
            <a:pPr algn="ctr"/>
            <a:r>
              <a:rPr sz="105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G(1)=G(2)=G(3)=∅</a:t>
            </a:r>
          </a:p>
          <a:p>
            <a:pPr algn="ctr"/>
            <a:r>
              <a:rPr sz="105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G(4)={X}</a:t>
            </a:r>
          </a:p>
        </p:txBody>
      </p:sp>
      <p:sp>
        <p:nvSpPr>
          <p:cNvPr id="30" name="Oval 29"/>
          <p:cNvSpPr/>
          <p:nvPr/>
        </p:nvSpPr>
        <p:spPr>
          <a:xfrm>
            <a:off x="11906250" y="4572000"/>
            <a:ext cx="1381125" cy="666750"/>
          </a:xfrm>
          <a:prstGeom prst="ellipse">
            <a:avLst/>
          </a:pr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-57150" tIns="0" rIns="-57150" bIns="0" rtlCol="0" anchor="ctr">
            <a:noAutofit/>
          </a:bodyPr>
          <a:lstStyle/>
          <a:p>
            <a:pPr algn="ctr"/>
            <a:r>
              <a:rPr sz="1125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X 성립</a:t>
            </a:r>
          </a:p>
        </p:txBody>
      </p:sp>
      <p:cxnSp>
        <p:nvCxnSpPr>
          <p:cNvPr id="31" name="Connector 30"/>
          <p:cNvCxnSpPr>
            <a:stCxn id="29" idx="3"/>
            <a:endCxn id="30" idx="1"/>
          </p:cNvCxnSpPr>
          <p:nvPr/>
        </p:nvCxnSpPr>
        <p:spPr>
          <a:xfrm flipV="1">
            <a:off x="11430000" y="4905375"/>
            <a:ext cx="476250" cy="23812"/>
          </a:xfrm>
          <a:prstGeom prst="bentConnector3">
            <a:avLst/>
          </a:prstGeom>
          <a:ln w="19050">
            <a:solidFill>
              <a:srgbClr val="00000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Hexagon 31"/>
          <p:cNvSpPr/>
          <p:nvPr/>
        </p:nvSpPr>
        <p:spPr>
          <a:xfrm>
            <a:off x="10191750" y="5810250"/>
            <a:ext cx="952500" cy="523875"/>
          </a:xfrm>
          <a:prstGeom prst="hexagon">
            <a:avLst>
              <a:gd name="adj" fmla="val 36363"/>
              <a:gd name="vf" fmla="val 11547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1200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R4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96250" y="6572250"/>
            <a:ext cx="5143500" cy="66675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P3가 X를 직접 제안할 때 종료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‘수락 가능’만으로는 공통 제안으로 인정하지 않음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6250" y="7477125"/>
            <a:ext cx="5143500" cy="66675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판정 정보: 누가 어느 라운드에 후보를 제출했는지 축적</a:t>
            </a:r>
          </a:p>
          <a:p>
            <a:pPr algn="ctr"/>
            <a:r>
              <a:rPr sz="900" b="0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라운드=순위이므로 순위 합 기반 동률 해소 가능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76500" y="8429625"/>
            <a:ext cx="9334500" cy="457200"/>
          </a:xfrm>
          <a:prstGeom prst="roundRect">
            <a:avLst>
              <a:gd name="adj" fmla="val 15000"/>
            </a:avLst>
          </a:prstGeom>
          <a:noFill/>
          <a:ln w="952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9050" tIns="19050" rIns="19050" bIns="19050" rtlCol="0" anchor="ctr">
            <a:noAutofit/>
          </a:bodyPr>
          <a:lstStyle/>
          <a:p>
            <a:pPr algn="ctr"/>
            <a:r>
              <a:rPr sz="975" b="1">
                <a:solidFill>
                  <a:srgbClr val="000000"/>
                </a:solidFill>
                <a:latin typeface="Arial"/>
                <a:ea typeface="맑은 고딕"/>
                <a:cs typeface="Arial"/>
              </a:rPr>
              <a:t>결정적 차이  │  1-A의 증거는 ‘현재 O’이고, 2의 증거는 ‘과거부터 누적된 직접 제안’이다.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621</Words>
  <Application>Microsoft Macintosh PowerPoint</Application>
  <PresentationFormat>사용자 지정</PresentationFormat>
  <Paragraphs>97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종인 이</cp:lastModifiedBy>
  <cp:revision>3</cp:revision>
  <dcterms:created xsi:type="dcterms:W3CDTF">2013-01-27T09:14:16Z</dcterms:created>
  <dcterms:modified xsi:type="dcterms:W3CDTF">2026-08-12T09:10:11Z</dcterms:modified>
  <cp:category/>
</cp:coreProperties>
</file>