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과대평가 방어: 쉬운 판에서는 무작위도 높은 달성률을 얻으므로, 보조 지표 s = (달성률 − 무작위 평균) ÷ (1 − 무작위 평균)를 병기하고 s ≤ 0(무작위 이하)은 별점과 무관하게 즉시 결함 처리한다. 바닥선 밑 수락 등 FR 위반은 점수와 분리 검사 — 이번 측정 0건. 실측 표본: nparty 정본 functional-ext 480건 (2026-08-13).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한도 유도: 플래그십 단말 전형의 앱 힙 상한 256MB × 75%(GC 성능 여유) − 64MB(협상 외 앱 기본 점유, 잠정 — 실측 대체 예정) = 128MB. 로그 사다리 개정 근거: 선형 15%p 등분은 실측에서 4-16축 전부 ★5 → 20축 절벽으로 포화 (24 §2.8). 실측 표본: composite 정본 FIN 500건 (63번 문서).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★4 이상 = 일반적인 2인 협상 수준으로 지킨다 (같은 판의 1:1 협상 실측 잔여 = 70.8%). 관찰자가 여럿인 방안(브로드캐스트류) 비교를 위해 노출 배수 m(1:1 대비 총 노출량)을 보조 병기: 1-A 1.09 vs 방안 2 1.66. 실측 표본: nparty 정본 functional-ext2 480건.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판정 통계 = P95: 시간 품질은 '평소 빠른가'가 아니라 '최악에 가까운 상황에서도 보장되는가'로 판정 — 서비스 SLO가 평균이 아닌 p95/p99 지연으로 정의되는 업계 관행과 동일. 전형 성능(중앙값)·최악값 병기. ext2 정본에서는 ρ&gt;1 결함 0건. 실측 표본: nparty 정본 functional-ext2 480건 + composite FIN 500건.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 등분의 실제 수열: 4·5.0·6.2·7.7·9.6·12의 반올림 (근거 상세: 24 §5.3-a — 여행급 협의 축 열거, Miller 1956, ANAC 실세계 소재 도메인 규모). 실측 표본: composite 정본 4-10축 스윕.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출처: nparty = 60-functional-ext-측정-결과-보고 (480건, 2026-08-13) · composite = poc/total/results/composite-tracks/ (방안당 12케이스 + 4-10축 스윕). 모든 수치는 raw 데이터에서 재검산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10332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핵심 QA 5종 — 정의·측정·별점 체계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DEEBF7"/>
                </a:solidFill>
                <a:latin typeface="맑은 고딕"/>
              </a:rPr>
              <a:t>온디바이스 에이전트 다자 협상 PoC  ·  임원 브리핑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DEEBF7"/>
                </a:solidFill>
                <a:latin typeface="맑은 고딕"/>
              </a:rPr>
              <a:t>2026-08-14 갱신  ·  정본: 24-QA-측정-핸드북 (본 자료는 요약)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EEBF7"/>
                </a:solidFill>
                <a:latin typeface="맑은 고딕"/>
              </a:rPr>
              <a:t>개요  </a:t>
            </a:r>
            <a:r>
              <a:rPr sz="2200" b="1">
                <a:solidFill>
                  <a:srgbClr val="FFFFFF"/>
                </a:solidFill>
                <a:latin typeface="맑은 고딕"/>
              </a:rPr>
              <a:t>측정 체계 공통 원칙과 분업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8428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74B5"/>
                </a:solidFill>
                <a:latin typeface="맑은 고딕"/>
              </a:rPr>
              <a:t>공통 원칙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</a:rPr>
              <a:t>①  별점 경계는 임의 상수가 아니라 참조점(수학 상한·실측 앵커) 사이의 등분으로 만든다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</a:rPr>
              <a:t>②  존재 이유가 걸린 위반은 등급이 아니라 즉시 결함으로 별도 보고한다</a:t>
            </a:r>
            <a:r>
              <a:rPr sz="1300" b="0">
                <a:solidFill>
                  <a:srgbClr val="595959"/>
                </a:solidFill>
                <a:latin typeface="맑은 고딕"/>
              </a:rPr>
              <a:t>  (한계 초과가 곧 성립 불가인 QA는 최하 칸을 '결함'으로 표기)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맑은 고딕"/>
              </a:rPr>
              <a:t>③  대안 비교는 동일 하니스·동일 시드·동일 표본에서 대안만 교체한다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154680"/>
            <a:ext cx="11384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E74B5"/>
                </a:solidFill>
                <a:latin typeface="맑은 고딕"/>
              </a:rPr>
              <a:t>측정 분업과 비교 대상 — 핵심 QA 5종은 설계 문제(DP) 2개가 나눠 잰다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657600"/>
          <a:ext cx="113842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6263640"/>
              </a:tblGrid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담당 QA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비교하는 설계안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다자 협상</a:t>
                      </a:r>
                    </a:p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(nparty)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정확성(FC) · 기밀성(CF)</a:t>
                      </a:r>
                    </a:p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· 시간(TB)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방안 1-A (투표형 — 만장일치 O가 나온 첫 후보로 즉시 합의)</a:t>
                      </a:r>
                    </a:p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vs 방안 2 (순위 수집형 — 전원의 순위 제출을 기다려 최적 후보로 합의)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복합 의제</a:t>
                      </a:r>
                    </a:p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(composite)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정확성(FC) · 자원(RU)</a:t>
                      </a:r>
                    </a:p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· 시간(TB)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방안 1 seq2 (의제를 한 축씩 순차 확정 — 경로 의존)</a:t>
                      </a:r>
                    </a:p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vs 방안 2 pool (축별 상위값 조합 풀로 한 판에 협상 — 지수 성장)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확장성-의제(SC)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composite 축 수 스윕으로</a:t>
                      </a:r>
                    </a:p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별도 판정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위 composite 2방안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EEBF7"/>
                </a:solidFill>
                <a:latin typeface="맑은 고딕"/>
              </a:rPr>
              <a:t>핵심 1위  </a:t>
            </a:r>
            <a:r>
              <a:rPr sz="2200" b="1">
                <a:solidFill>
                  <a:srgbClr val="FFFFFF"/>
                </a:solidFill>
                <a:latin typeface="맑은 고딕"/>
              </a:rPr>
              <a:t>Functional Correctness (기능 정확성)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24128"/>
            <a:ext cx="11384280" cy="65836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협상이 도달한 결과가, 도달할 수 있었던 최적 합의안 효용의 몇 %인가 — 달성률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557784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협상 시스템의 존재 이유. 빨라도, 덜 새도, 나쁜 합의안이면 무의미 — QA 서열 1위</a:t>
            </a:r>
          </a:p>
          <a:p>
            <a:pPr>
              <a:spcAft>
                <a:spcPts val="0"/>
              </a:spcAft>
            </a:pPr>
            <a:r>
              <a:rPr sz="6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측정 방법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① 참여자 선호를 무작위 생성해 봉인 — 에이전트에게는 협상에 필요한 것만 제공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② 채점기만 전체 선호를 보고 최적 합의안 x*를 산출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③ 달성률 = 도달 결과의 효용 ÷ 최적의 효용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결렬도 항상 후보에 포함 — 결렬이 정답인 판에서 정확히 결렬하면 만점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828800"/>
            <a:ext cx="56235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2176272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★0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≥0.95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≥0.90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≥0.85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≥0.80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≥0.70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&lt;0.70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72200" y="2889504"/>
            <a:ext cx="56235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만점 1.0부터 5%p 계단 (★1만 0.70-0.80) — 잠정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310128"/>
            <a:ext cx="562356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실측 스냅샷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2E74B5"/>
                </a:solidFill>
                <a:latin typeface="맑은 고딕"/>
              </a:rPr>
              <a:t>다자: 방안 2  0.950 ★4</a:t>
            </a:r>
            <a:r>
              <a:rPr sz="1350" b="1">
                <a:solidFill>
                  <a:srgbClr val="262626"/>
                </a:solidFill>
                <a:latin typeface="맑은 고딕"/>
              </a:rPr>
              <a:t>  vs  1-A  0.873 ★3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무작위도 평균 0.86인 판 — 1-A는 무작위와 거의 동급 (s 0.07 vs 0.63)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결렬이 정답인 96개 판: 양 방안 96/96 정확히 결렬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2E74B5"/>
                </a:solidFill>
                <a:latin typeface="맑은 고딕"/>
              </a:rPr>
              <a:t>복합: pool  0.941 ★4</a:t>
            </a:r>
            <a:r>
              <a:rPr sz="1350" b="1">
                <a:solidFill>
                  <a:srgbClr val="262626"/>
                </a:solidFill>
                <a:latin typeface="맑은 고딕"/>
              </a:rPr>
              <a:t>  vs  seq2  0.880 ★3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격차의 출처는 경로 함정 판 (0.955 vs 0.569)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맑은 고딕"/>
              </a:rPr>
              <a:t>시사점 — 두 DP 모두 합의 품질은 방안 2 계열 우세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EEBF7"/>
                </a:solidFill>
                <a:latin typeface="맑은 고딕"/>
              </a:rPr>
              <a:t>핵심 2위  </a:t>
            </a:r>
            <a:r>
              <a:rPr sz="2200" b="1">
                <a:solidFill>
                  <a:srgbClr val="FFFFFF"/>
                </a:solidFill>
                <a:latin typeface="맑은 고딕"/>
              </a:rPr>
              <a:t>Resource Utilization-메모리 (자원 사용량)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24128"/>
            <a:ext cx="11384280" cy="65836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협상 중 가장 무거운 단말의 순간 메모리 피크가, 협상 몫(128MB)의 몇 %인가 — 사용률 r의 P95로 판정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557784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온디바이스가 전제 — 협상이 앱 메모리를 침범하면 앱이 죽거나(OOM) 성능이 무너진다(GC 압박).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클라우드처럼 "더 쓰면 더 사면 된다"가 없다</a:t>
            </a:r>
          </a:p>
          <a:p>
            <a:pPr>
              <a:spcAft>
                <a:spcPts val="0"/>
              </a:spcAft>
            </a:pPr>
            <a:r>
              <a:rPr sz="6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측정 방법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프로토콜 상태 크기를 라운드마다 실측(참조 객체까지 재귀 합산하는 deep-size)해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가장 무거운 순간·가장 무거운 단말의 피크 + 방안 무관 공통 기저 1인분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</a:rPr>
              <a:t>(기저 = 자기 효용표·순위표 — 조합을 전개하지 않는 방안은 축별 선호 표현)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N명의 합이 아니라 최대 부하 단말 1대 기준 — 죽는 것은 합이 아니라 한 대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판정 = P95 (OOM은 꼬리 사건) · 지수 성장 도메인이라 별점은 로그 계단 — 1칸 = 10배 여유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한도 128MB는 안드로이드 앱 힙 상한에서 유도 (상세: 발표 노트)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828800"/>
            <a:ext cx="56235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2176272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결함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≤0.01%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≤0.1%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≤1%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≤10%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≤100%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한도 초과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72200" y="2889504"/>
            <a:ext cx="56235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로그(데케이드) 사다리 — 선형 등분은 지수 도메인에서 포화 (24 §2.8 개정 2026-08-13)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310128"/>
            <a:ext cx="562356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실측 스냅샷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seq2  P95 0.30% ★3</a:t>
            </a:r>
            <a:r>
              <a:rPr sz="1400" b="1">
                <a:solidFill>
                  <a:srgbClr val="262626"/>
                </a:solidFill>
                <a:latin typeface="맑은 고딕"/>
              </a:rPr>
              <a:t>  vs  pool  48.2% ★1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C0392B"/>
                </a:solidFill>
                <a:latin typeface="맑은 고딕"/>
              </a:rPr>
              <a:t>한도 초과: seq2 0건 vs pool 11건 (의제 18축 이상, 최악 4.7GB)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seq2는 전 구간 0.4MB 이하로 평평 · pool은 12축 0.5MB → 20축 110MB로 지수 성장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</a:rPr>
              <a:t>(소규모에선 pool이 더 가볍고, 역전은 11축부터)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맑은 고딕"/>
              </a:rPr>
              <a:t>시사점 — 메모리는 seq2의 구조적 우위, pool은 의제 16축 이하 조건부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EEBF7"/>
                </a:solidFill>
                <a:latin typeface="맑은 고딕"/>
              </a:rPr>
              <a:t>핵심 3위  </a:t>
            </a:r>
            <a:r>
              <a:rPr sz="2200" b="1">
                <a:solidFill>
                  <a:srgbClr val="FFFFFF"/>
                </a:solidFill>
                <a:latin typeface="맑은 고딕"/>
              </a:rPr>
              <a:t>Confidentiality (기밀성)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24128"/>
            <a:ext cx="11384280" cy="65836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협상이 끝난 뒤에도 내 선호(전체 후보에 대한 서열)가 얼마나 비밀로 남는가 — 잔여 비밀률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557784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메시지는 암호화되지만, 제안·수락의 패턴 자체가 선호를 흘린다.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"무엇을 언제 냈는가"를 모으면 내 우선순위가 복원된다 — 일정·취향은 개인정보다</a:t>
            </a:r>
          </a:p>
          <a:p>
            <a:pPr>
              <a:spcAft>
                <a:spcPts val="0"/>
              </a:spcAft>
            </a:pPr>
            <a:r>
              <a:rPr sz="6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측정 방법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관찰당하는 참여자별로, 나를 가장 많이 알게 된 상대가 내 후보 몇 개를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내 것으로 지목·확인(귀속)했는지 센다 — 노출 깊이 = 확인 후보 수 ÷ 전체 후보 수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</a:rPr>
              <a:t>(거부 후보의 서열도 비밀의 일부 — 분모는 전체)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집계 대상은 합의 완료 세션만 — 결렬은 전 목록 소진이 본성이라 변별 정보 없음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대표값은 참여자 평균 · 합의율 병기 의무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828800"/>
            <a:ext cx="56235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2176272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★0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&gt;80%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&gt;60%</a:t>
                      </a:r>
                    </a:p>
                  </a:txBody>
                  <a:tcPr marL="254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&gt;40%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&gt;20%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&gt;0%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72200" y="2889504"/>
            <a:ext cx="56235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무노출 100%와 전량 공개 0% 사이 20%p 등분 · 1:1 협상 실측 잔여 70.8% = ★4 구간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310128"/>
            <a:ext cx="562356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실측 스냅샷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방안 1-A  68.3% ★4</a:t>
            </a:r>
            <a:r>
              <a:rPr sz="1400" b="1">
                <a:solidFill>
                  <a:srgbClr val="262626"/>
                </a:solidFill>
                <a:latin typeface="맑은 고딕"/>
              </a:rPr>
              <a:t>  vs  방안 2  51.7% ★3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</a:rPr>
              <a:t>(480건 중 합의 384건 — 합의율 80%, 양 방안 동일)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1-A는 1:1 협상 수준(70.8%)에 근접 · 방안 2는 합의 후보가 깊은 판에서 30%까지 하락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맑은 고딕"/>
              </a:rPr>
              <a:t>시사점 — 정확성을 취한 방안 2가 기밀성을 대가로 치른다 (트레이드오프의 핵심 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EEBF7"/>
                </a:solidFill>
                <a:latin typeface="맑은 고딕"/>
              </a:rPr>
              <a:t>핵심 4위  </a:t>
            </a:r>
            <a:r>
              <a:rPr sz="2200" b="1">
                <a:solidFill>
                  <a:srgbClr val="FFFFFF"/>
                </a:solidFill>
                <a:latin typeface="맑은 고딕"/>
              </a:rPr>
              <a:t>Time Behaviour (시간 성능)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24128"/>
            <a:ext cx="11384280" cy="65836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가장 단순한 기본 방식(naive) 대비 협상 시간을 얼마나 줄이는가 — 시간 비율의 상위 5% 경계(P95)로 판정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557784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사용자가 "약속 잡아줘"라고 말한 뒤 기다리는 시간.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다자 협상은 참여자 수에 비례해 느려질 수 있어, 설계가 그 증가를 눌러야 한다</a:t>
            </a:r>
          </a:p>
          <a:p>
            <a:pPr>
              <a:spcAft>
                <a:spcPts val="0"/>
              </a:spcAft>
            </a:pPr>
            <a:r>
              <a:rPr sz="6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측정 방법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합성 모델로 재현 가능하게 계산 (벽시계 아님):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62626"/>
                </a:solidFill>
                <a:latin typeface="맑은 고딕"/>
              </a:rPr>
              <a:t>T = 통신 단계 수 × 75ms + (효용 평가 횟수 ÷ 참여자 수) × 1.4µs + 전송량 ÷ 20Mbps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(75ms: LTE 릴레이 편도, 구간 분해·앵커 검산 · 1.4µs: 실측 · 병렬 수행 보정 포함)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같은 케이스를 naive(표준 교대 제안 프로토콜의 최단순 다자 확장 — 1명씩 제안·전원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회신)로도 돌려 ρ = T_설계 ÷ T_naive · 판정은 P95 — SLO가 p95/p99 지연인 관행과 동일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828800"/>
            <a:ext cx="56235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2176272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결함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≤0.2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≤0.4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≤0.6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≤0.8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≤1.0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&gt;1.0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72200" y="2889504"/>
            <a:ext cx="56235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naive 등가 1.0과 순간 완료 0 사이 0.2 등분 · &gt;1.0 = naive만도 못함 (즉시 결함)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310128"/>
            <a:ext cx="562356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실측 스냅샷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다자: 50인 협상도 약 3초 — naive는 64.0초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판정(P95): 1-A 0.543 ★3 vs 방안 2 0.660 ★2 (전형 중앙값은 0.15 vs 0.17로 동급)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방안 2는 3인 소규모 최악 구간에서 naive 근접(P95 0.867)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복합: pool P95 0.633 ★2 (T 중앙 2.0s)</a:t>
            </a:r>
            <a:r>
              <a:rPr sz="1300" b="1">
                <a:solidFill>
                  <a:srgbClr val="262626"/>
                </a:solidFill>
                <a:latin typeface="맑은 고딕"/>
              </a:rPr>
              <a:t>  vs  seq2 4.24 ★0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C0392B"/>
                </a:solidFill>
                <a:latin typeface="맑은 고딕"/>
              </a:rPr>
              <a:t>seq2는 결함 152건 — 백트랙 반복으로 naive보다 느린 꼬리 (T 중앙 9.0s)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맑은 고딕"/>
              </a:rPr>
              <a:t>시사점 — 다자 판은 1-A, 복합 판은 pool이 응답성 우위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EEBF7"/>
                </a:solidFill>
                <a:latin typeface="맑은 고딕"/>
              </a:rPr>
              <a:t>핵심 5위  </a:t>
            </a:r>
            <a:r>
              <a:rPr sz="2200" b="1">
                <a:solidFill>
                  <a:srgbClr val="FFFFFF"/>
                </a:solidFill>
                <a:latin typeface="맑은 고딕"/>
              </a:rPr>
              <a:t>Scalability-의제 수 (확장성)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24128"/>
            <a:ext cx="11384280" cy="65836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메모리 한도 안에서 협상을 정상 완결할 수 있는 최대 의제(협상 축) 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557784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실사용 협의는 날짜×시간×장소×활동…으로 축이 늘고,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후보 조합은 축 수에 지수적으로 폭발한다 (10축이면 977만 조합).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조합 폭발을 견디는 한계 = 제품이 다룰 수 있는 협상의 복잡도</a:t>
            </a:r>
          </a:p>
          <a:p>
            <a:pPr>
              <a:spcAft>
                <a:spcPts val="0"/>
              </a:spcAft>
            </a:pPr>
            <a:r>
              <a:rPr sz="6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측정 방법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의제 수를 4축부터 단계적으로 늘려가며(스윕) 각 단계에서 협상 실행,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RU와 같은 128MB 한도 안에서 정상 완결(합의 또는 정당한 결렬)하는지 확인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판정값 = 통과한 최대 축 수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근거 — 하한 4축: 기준 시나리오 요구(날짜·시간·영화관·영화) / 상한 12축: 실사용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최대 (여행급 협의 12개 내외 포화 · 인지 한계 7±2 · ANAC 실세계 도메인 10이슈 내외)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828800"/>
            <a:ext cx="56235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2176272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결함</a:t>
                      </a:r>
                    </a:p>
                  </a:txBody>
                  <a:tcPr marL="25400" marR="25400" marT="12700" marB="12700" anchor="ctr"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≥12축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9-11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7-8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5-6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&lt;4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72200" y="2889504"/>
            <a:ext cx="56235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하한 4축(요구)과 상한 12축(실사용 최대) 사이 로그 등분 — 조합이 지수적이라 로그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310128"/>
            <a:ext cx="562356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실측 스냅샷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구 스윕(4-10축): 두 방안 모두 10축 통과 ★4</a:t>
            </a:r>
            <a:r>
              <a:rPr sz="1300" b="0">
                <a:solidFill>
                  <a:srgbClr val="595959"/>
                </a:solidFill>
                <a:latin typeface="맑은 고딕"/>
              </a:rPr>
              <a:t> (관측 상한, censored)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FIN 500건 참고 관측 — seq2는 20축에서도 한도 내(≤0.4MB) 완결,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pool은 18축 이상 한도 초과 → 실질 한계 약 16축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시사점 — seq2는 만점권, pool은 실사용 상한(12축)은 넘기나 그 위가 막힘 · 정식 SC 스윕 재판정 예정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EEBF7"/>
                </a:solidFill>
                <a:latin typeface="맑은 고딕"/>
              </a:rPr>
              <a:t>종합  </a:t>
            </a:r>
            <a:r>
              <a:rPr sz="2200" b="1">
                <a:solidFill>
                  <a:srgbClr val="FFFFFF"/>
                </a:solidFill>
                <a:latin typeface="맑은 고딕"/>
              </a:rPr>
              <a:t>핵심 QA 5종 스코어카드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88720"/>
            <a:ext cx="5394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E74B5"/>
                </a:solidFill>
                <a:latin typeface="맑은 고딕"/>
              </a:rPr>
              <a:t>다자 협상 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9164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방안 1-A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방안 2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1. 기능 정확성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3. 기밀성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4. 시간 (P95)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0" y="1188720"/>
            <a:ext cx="5394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E74B5"/>
                </a:solidFill>
                <a:latin typeface="맑은 고딕"/>
              </a:rPr>
              <a:t>복합 의제 DP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91640"/>
          <a:ext cx="5394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seq2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pool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1. 기능 정확성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2. 자원 (P95)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</a:rPr>
                        <a:t>★1 (결함 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4. 시간 (P95)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</a:rPr>
                        <a:t>★0 (결함 152)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5. 확장성 (구 스윕)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846320"/>
            <a:ext cx="11384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읽는 법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다자 협상 DP: 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"정확한 방안 2 vs 빠르고 은밀한 1-A" — 서열 1위(FC) 기준 종합 우위는 방안 2 (택틱 적용판 방안 2+는 FC 0.987★5·CF 92.1%★5·TB 0.383★4 전 축 우위, 62번)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복합 의제 DP: 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"품질·시간의 pool vs 메모리의 seq2" — 서열 1·4위가 pool 우세라 종합 우위는 pool, 단 의제 18축 이상 한도 초과로 16축 이하 조건부 (63번)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